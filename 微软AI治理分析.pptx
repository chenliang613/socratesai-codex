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47b3cfbce14df0" /><Relationship Type="http://schemas.openxmlformats.org/officeDocument/2006/relationships/extended-properties" Target="/docProps/app.xml" Id="R76eef4fbf23b4498" /><Relationship Type="http://schemas.openxmlformats.org/officeDocument/2006/relationships/officeDocument" Target="/ppt/presentation.xml" Id="Rbd7ac3802c05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19e9b1faa4cd8"/>
  </p:sldMasterIdLst>
  <p:notesMasterIdLst>
    <p:notesMasterId xmlns:r="http://schemas.openxmlformats.org/officeDocument/2006/relationships" r:id="Rcb8f8d2cbe764d15"/>
  </p:notesMasterIdLst>
  <p:sldIdLst>
    <p:sldId xmlns:r="http://schemas.openxmlformats.org/officeDocument/2006/relationships" id="256" r:id="R370fb6bdcafd49fa"/>
    <p:sldId xmlns:r="http://schemas.openxmlformats.org/officeDocument/2006/relationships" id="257" r:id="Rbe8c73a6f20d4c9a"/>
    <p:sldId xmlns:r="http://schemas.openxmlformats.org/officeDocument/2006/relationships" id="258" r:id="R3b14e2e7315241dc"/>
    <p:sldId xmlns:r="http://schemas.openxmlformats.org/officeDocument/2006/relationships" id="259" r:id="R9efd5b8688684a1a"/>
    <p:sldId xmlns:r="http://schemas.openxmlformats.org/officeDocument/2006/relationships" id="260" r:id="Rcd6789c72b0e4be6"/>
    <p:sldId xmlns:r="http://schemas.openxmlformats.org/officeDocument/2006/relationships" id="261" r:id="R243dda2b1bb3484b"/>
    <p:sldId xmlns:r="http://schemas.openxmlformats.org/officeDocument/2006/relationships" id="262" r:id="Rd8faf096524c414f"/>
    <p:sldId xmlns:r="http://schemas.openxmlformats.org/officeDocument/2006/relationships" id="263" r:id="R763648099f944421"/>
    <p:sldId xmlns:r="http://schemas.openxmlformats.org/officeDocument/2006/relationships" id="264" r:id="R301395a07b8342ed"/>
    <p:sldId xmlns:r="http://schemas.openxmlformats.org/officeDocument/2006/relationships" id="265" r:id="R5d34edecd01e4a2b"/>
    <p:sldId xmlns:r="http://schemas.openxmlformats.org/officeDocument/2006/relationships" id="266" r:id="R157832f6eb904f44"/>
    <p:sldId xmlns:r="http://schemas.openxmlformats.org/officeDocument/2006/relationships" id="267" r:id="Rdc28a65bd78e488c"/>
    <p:sldId xmlns:r="http://schemas.openxmlformats.org/officeDocument/2006/relationships" id="268" r:id="R333988888e324450"/>
    <p:sldId xmlns:r="http://schemas.openxmlformats.org/officeDocument/2006/relationships" id="269" r:id="R475e7e70005f4c78"/>
    <p:sldId xmlns:r="http://schemas.openxmlformats.org/officeDocument/2006/relationships" id="270" r:id="Rbd592b4d44c243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5930daccd4bf1" /><Relationship Type="http://schemas.openxmlformats.org/officeDocument/2006/relationships/slideMaster" Target="/ppt/slideMasters/slideMaster1.xml" Id="Rddd19e9b1faa4cd8" /><Relationship Type="http://schemas.openxmlformats.org/officeDocument/2006/relationships/notesMaster" Target="/ppt/notesMasters/notesMaster1.xml" Id="Rcb8f8d2cbe764d15" /><Relationship Type="http://schemas.openxmlformats.org/officeDocument/2006/relationships/presProps" Target="/ppt/presProps.xml" Id="Rb463c3c63b4f4074" /><Relationship Type="http://schemas.openxmlformats.org/officeDocument/2006/relationships/tableStyles" Target="/ppt/tableStyles.xml" Id="Rf3f96037c0264d59" /><Relationship Type="http://schemas.openxmlformats.org/officeDocument/2006/relationships/slide" Target="/ppt/slides/slide1.xml" Id="R370fb6bdcafd49fa" /><Relationship Type="http://schemas.openxmlformats.org/officeDocument/2006/relationships/slide" Target="/ppt/slides/slide2.xml" Id="Rbe8c73a6f20d4c9a" /><Relationship Type="http://schemas.openxmlformats.org/officeDocument/2006/relationships/slide" Target="/ppt/slides/slide3.xml" Id="R3b14e2e7315241dc" /><Relationship Type="http://schemas.openxmlformats.org/officeDocument/2006/relationships/slide" Target="/ppt/slides/slide4.xml" Id="R9efd5b8688684a1a" /><Relationship Type="http://schemas.openxmlformats.org/officeDocument/2006/relationships/slide" Target="/ppt/slides/slide5.xml" Id="Rcd6789c72b0e4be6" /><Relationship Type="http://schemas.openxmlformats.org/officeDocument/2006/relationships/slide" Target="/ppt/slides/slide6.xml" Id="R243dda2b1bb3484b" /><Relationship Type="http://schemas.openxmlformats.org/officeDocument/2006/relationships/slide" Target="/ppt/slides/slide7.xml" Id="Rd8faf096524c414f" /><Relationship Type="http://schemas.openxmlformats.org/officeDocument/2006/relationships/slide" Target="/ppt/slides/slide8.xml" Id="R763648099f944421" /><Relationship Type="http://schemas.openxmlformats.org/officeDocument/2006/relationships/slide" Target="/ppt/slides/slide9.xml" Id="R301395a07b8342ed" /><Relationship Type="http://schemas.openxmlformats.org/officeDocument/2006/relationships/slide" Target="/ppt/slides/slide10.xml" Id="R5d34edecd01e4a2b" /><Relationship Type="http://schemas.openxmlformats.org/officeDocument/2006/relationships/slide" Target="/ppt/slides/slide11.xml" Id="R157832f6eb904f44" /><Relationship Type="http://schemas.openxmlformats.org/officeDocument/2006/relationships/slide" Target="/ppt/slides/slide12.xml" Id="Rdc28a65bd78e488c" /><Relationship Type="http://schemas.openxmlformats.org/officeDocument/2006/relationships/slide" Target="/ppt/slides/slide13.xml" Id="R333988888e324450" /><Relationship Type="http://schemas.openxmlformats.org/officeDocument/2006/relationships/slide" Target="/ppt/slides/slide14.xml" Id="R475e7e70005f4c78" /><Relationship Type="http://schemas.openxmlformats.org/officeDocument/2006/relationships/slide" Target="/ppt/slides/slide15.xml" Id="Rbd592b4d44c243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d14a0026c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c51815c7b4a23" /><Relationship Type="http://schemas.openxmlformats.org/officeDocument/2006/relationships/notesMaster" Target="/ppt/notesMasters/notesMaster1.xml" Id="Rdc7d35bba07143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19fbdf341b4d7b" /><Relationship Type="http://schemas.openxmlformats.org/officeDocument/2006/relationships/notesMaster" Target="/ppt/notesMasters/notesMaster1.xml" Id="Ra81f8cbfe15549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2f064c58d04b5f" /><Relationship Type="http://schemas.openxmlformats.org/officeDocument/2006/relationships/notesMaster" Target="/ppt/notesMasters/notesMaster1.xml" Id="R394f693deade44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295ae9da324114" /><Relationship Type="http://schemas.openxmlformats.org/officeDocument/2006/relationships/notesMaster" Target="/ppt/notesMasters/notesMaster1.xml" Id="R8e17fcc95e4a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87ff621bd419d" /><Relationship Type="http://schemas.openxmlformats.org/officeDocument/2006/relationships/notesMaster" Target="/ppt/notesMasters/notesMaster1.xml" Id="R38a4cc54d054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26eae2bf344812" /><Relationship Type="http://schemas.openxmlformats.org/officeDocument/2006/relationships/notesMaster" Target="/ppt/notesMasters/notesMaster1.xml" Id="R8286ea9f72b7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42ee3546d84799" /><Relationship Type="http://schemas.openxmlformats.org/officeDocument/2006/relationships/notesMaster" Target="/ppt/notesMasters/notesMaster1.xml" Id="Radfd9640d8cf49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6838486c2497e" /><Relationship Type="http://schemas.openxmlformats.org/officeDocument/2006/relationships/notesMaster" Target="/ppt/notesMasters/notesMaster1.xml" Id="R5510c7f4b57047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c3b3848324627" /><Relationship Type="http://schemas.openxmlformats.org/officeDocument/2006/relationships/notesMaster" Target="/ppt/notesMasters/notesMaster1.xml" Id="Rdec4235ae0f0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0894a5a88b47df" /><Relationship Type="http://schemas.openxmlformats.org/officeDocument/2006/relationships/notesMaster" Target="/ppt/notesMasters/notesMaster1.xml" Id="R631808e00f9b4e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83de0979e4527" /><Relationship Type="http://schemas.openxmlformats.org/officeDocument/2006/relationships/notesMaster" Target="/ppt/notesMasters/notesMaster1.xml" Id="R2f19716f62e54d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97ffb21d084410" /><Relationship Type="http://schemas.openxmlformats.org/officeDocument/2006/relationships/notesMaster" Target="/ppt/notesMasters/notesMaster1.xml" Id="R24c707599a5940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3e5e5d60c84415" /><Relationship Type="http://schemas.openxmlformats.org/officeDocument/2006/relationships/notesMaster" Target="/ppt/notesMasters/notesMaster1.xml" Id="Rbdf50571768642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1057e6d39743a9" /><Relationship Type="http://schemas.openxmlformats.org/officeDocument/2006/relationships/notesMaster" Target="/ppt/notesMasters/notesMaster1.xml" Id="Rfee3ecb1e13c40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6f67627f004e88" /><Relationship Type="http://schemas.openxmlformats.org/officeDocument/2006/relationships/notesMaster" Target="/ppt/notesMasters/notesMaster1.xml" Id="R7838c3a65872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AI Act regulatory framework: https://digital-strategy.ec.europa.eu/en/policies/regulatory-framework-ai</a:t>
            </a:r>
          </a:p>
          <a:p xmlns:a="http://schemas.openxmlformats.org/drawingml/2006/main">
            <a:r>
              <a:t>- Microsoft — 2025 Responsible AI Transparency Report: https://www.microsoft.com/en-us/corporate-responsibility/responsible-ai-transparency-report/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— Responsible AI Transparency Report (govern/map/measure/manage; tools and Transparency Notes): https://www.microsoft.com/en-us/corporate-responsibility/responsible-ai-transparency-report/</a:t>
            </a:r>
          </a:p>
          <a:p xmlns:a="http://schemas.openxmlformats.org/drawingml/2006/main">
            <a:r>
              <a:t>- Microsoft — Artificial Intelligence assurance overview (governance roles): https://learn.microsoft.com/en-us/compliance/assurance/assurance-artificial-intelligence</a:t>
            </a:r>
          </a:p>
          <a:p xmlns:a="http://schemas.openxmlformats.org/drawingml/2006/main">
            <a:r>
              <a:t>- Microsoft Trust Center — EU AI Act compliance approach: https://www.microsoft.com/en-us/trust-center/compliance/eu-ai-act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readiness characterization and gap conclusions are analytical judgments based on public evidence, not audit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Navigating the AI Act (Omnibus dates and enforcement): https://digital-strategy.ec.europa.eu/en/faqs/navigating-ai-act</a:t>
            </a:r>
          </a:p>
          <a:p xmlns:a="http://schemas.openxmlformats.org/drawingml/2006/main">
            <a:r>
              <a:t>- European Commission — Transparency rules quick guidance: https://digital-strategy.ec.europa.eu/en/policies/guidelines-transparency-ai-generated-content</a:t>
            </a:r>
          </a:p>
          <a:p xmlns:a="http://schemas.openxmlformats.org/drawingml/2006/main">
            <a:r>
              <a:t>- EUR-Lex — Regulation (EU) 2024/1689: https://eur-lex.europa.eu/eli/reg/2024/1689/oj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AI Act regulatory framework and risk levels: https://digital-strategy.ec.europa.eu/en/policies/regulatory-framework-ai</a:t>
            </a:r>
          </a:p>
          <a:p xmlns:a="http://schemas.openxmlformats.org/drawingml/2006/main">
            <a:r>
              <a:t>- European Commission — Navigating the AI Act (high-risk requirements): https://digital-strategy.ec.europa.eu/en/faqs/navigating-ai-act</a:t>
            </a:r>
          </a:p>
          <a:p xmlns:a="http://schemas.openxmlformats.org/drawingml/2006/main">
            <a:r>
              <a:t>- European Commission — GPAI provider guidelines: https://digital-strategy.ec.europa.eu/en/policies/guidelines-gpai-providers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Artificial Intelligence assurance overview (Board, Council, ORA, Aether, engineering roles): https://learn.microsoft.com/en-us/compliance/assurance/assurance-artificial-intelligence</a:t>
            </a:r>
          </a:p>
          <a:p xmlns:a="http://schemas.openxmlformats.org/drawingml/2006/main">
            <a:r>
              <a:t>- Microsoft — Responsible AI governance and transparency: https://www.microsoft.com/en-us/corporate-responsibility/responsible-ai-transparency-report/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— 2025 Responsible AI Transparency Report (NIST AI RMF functions; pre-deployment and ongoing monitoring): https://www.microsoft.com/en-us/corporate-responsibility/responsible-ai-transparency-report/</a:t>
            </a:r>
          </a:p>
          <a:p xmlns:a="http://schemas.openxmlformats.org/drawingml/2006/main">
            <a:r>
              <a:t>- Microsoft Responsible AI Standard v2 Reference Guide: https://cdn-dynmedia-1.microsoft.com/is/content/microsoftcorp/microsoft/bade/documents/products-and-services/en-us/ai/RAIS-Reference-Guide-v2.pdf</a:t>
            </a:r>
          </a:p>
          <a:p xmlns:a="http://schemas.openxmlformats.org/drawingml/2006/main">
            <a:r>
              <a:t>- European Commission — High-risk system obligations: 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Trust Center — Prohibited practices and Restricted Use Policy: https://www.microsoft.com/en-us/trust-center/compliance/eu-ai-act</a:t>
            </a:r>
          </a:p>
          <a:p xmlns:a="http://schemas.openxmlformats.org/drawingml/2006/main">
            <a:r>
              <a:t>- Microsoft — Innovating in line with the EU AI Act (screening, contracts, central workflow): https://blogs.microsoft.com/on-the-issues/2025/01/15/innovating-in-line-with-the-european-unions-ai-act/</a:t>
            </a:r>
          </a:p>
          <a:p xmlns:a="http://schemas.openxmlformats.org/drawingml/2006/main">
            <a:r>
              <a:t>- European Commission — AI Act timeline and AI literacy: https://digital-strategy.ec.europa.eu/en/faqs/navigating-ai-act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High-risk provider and deployer obligations: https://digital-strategy.ec.europa.eu/en/faqs/navigating-ai-act</a:t>
            </a:r>
          </a:p>
          <a:p xmlns:a="http://schemas.openxmlformats.org/drawingml/2006/main">
            <a:r>
              <a:t>- Microsoft — Artificial Intelligence assurance overview: https://learn.microsoft.com/en-us/compliance/assurance/assurance-artificial-intelligence</a:t>
            </a:r>
          </a:p>
          <a:p xmlns:a="http://schemas.openxmlformats.org/drawingml/2006/main">
            <a:r>
              <a:t>- Microsoft — Responsible AI Transparency Report: https://www.microsoft.com/en-us/corporate-responsibility/responsible-ai-transparency-report/</a:t>
            </a:r>
          </a:p>
          <a:p xmlns:a="http://schemas.openxmlformats.org/drawingml/2006/main">
            <a:r>
              <a:t>- Microsoft — EU AI Act implementation approach and tools: https://blogs.microsoft.com/on-the-issues/2025/01/15/innovating-in-line-with-the-european-unions-ai-act/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Assessment labels are analytical judgments based on publicly available evidence; they are not certifications.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GPAI provider obligations and enforcement timing: https://digital-strategy.ec.europa.eu/en/policies/guidelines-gpai-providers</a:t>
            </a:r>
          </a:p>
          <a:p xmlns:a="http://schemas.openxmlformats.org/drawingml/2006/main">
            <a:r>
              <a:t>- European Commission — GPAI Code of Practice signatories (includes Microsoft): https://digital-strategy.ec.europa.eu/en/policies/contents-code-gpai</a:t>
            </a:r>
          </a:p>
          <a:p xmlns:a="http://schemas.openxmlformats.org/drawingml/2006/main">
            <a:r>
              <a:t>- Microsoft — 2025 Responsible AI Transparency Report (Phi reviews and downstream governance): https://www.microsoft.com/en-us/corporate-responsibility/responsible-ai-transparency-report/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Guidelines on transparency of AI-generated content: https://digital-strategy.ec.europa.eu/en/policies/guidelines-transparency-ai-generated-content</a:t>
            </a:r>
          </a:p>
          <a:p xmlns:a="http://schemas.openxmlformats.org/drawingml/2006/main">
            <a:r>
              <a:t>- European Commission — Transparency Code Q&amp;A and legacy grace period: https://digital-strategy.ec.europa.eu/en/faqs/code-practice-transparency-ai-generated-content</a:t>
            </a:r>
          </a:p>
          <a:p xmlns:a="http://schemas.openxmlformats.org/drawingml/2006/main">
            <a:r>
              <a:t>- Microsoft — Responsible AI Transparency Report (Transparency Notes and content credentials example): https://www.microsoft.com/en-us/corporate-responsibility/responsible-ai-transparency-report/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— EU AI Act implementation tools (Purview, Content Safety, Foundry, PyRIT): https://blogs.microsoft.com/on-the-issues/2025/01/15/innovating-in-line-with-the-european-unions-ai-act/</a:t>
            </a:r>
          </a:p>
          <a:p xmlns:a="http://schemas.openxmlformats.org/drawingml/2006/main">
            <a:r>
              <a:t>- Microsoft Learn — Azure AI Content Safety capabilities and limitations: https://learn.microsoft.com/en-us/azure/ai-services/content-safety/overview</a:t>
            </a:r>
          </a:p>
          <a:p xmlns:a="http://schemas.openxmlformats.org/drawingml/2006/main">
            <a:r>
              <a:t>- Microsoft Learn — Purview Compliance Manager AI regulation assessments: https://learn.microsoft.com/en-sg/purview/compliance-manager-assessments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 — AI shared responsibility model: https://learn.microsoft.com/en-us/azure/security/fundamentals/shared-responsibility-ai</a:t>
            </a:r>
          </a:p>
          <a:p xmlns:a="http://schemas.openxmlformats.org/drawingml/2006/main">
            <a:r>
              <a:t>- Microsoft Learn — Artificial Intelligence assurance overview, customer responsibilities: https://learn.microsoft.com/en-us/compliance/assurance/assurance-artificial-intelligence</a:t>
            </a:r>
          </a:p>
          <a:p xmlns:a="http://schemas.openxmlformats.org/drawingml/2006/main">
            <a:r>
              <a:t>- European Commission — High-risk deployer obligations and FRIA: https://digital-strategy.ec.europa.eu/en/faqs/navigating-ai-act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Responsibility allocation is a generalized analytical mapping and must be validated against product terms and each deployment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— 2025 Responsible AI Transparency Report: https://www.microsoft.com/en-us/corporate-responsibility/responsible-ai-transparency-report/</a:t>
            </a:r>
          </a:p>
          <a:p xmlns:a="http://schemas.openxmlformats.org/drawingml/2006/main">
            <a:r>
              <a:t>- Microsoft Trust Center — EU AI Act approach: https://www.microsoft.com/en-us/trust-center/compliance/eu-ai-act</a:t>
            </a:r>
          </a:p>
          <a:p xmlns:a="http://schemas.openxmlformats.org/drawingml/2006/main">
            <a:r>
              <a:t>- European Commission — AI Act implementation timeline and obligations: https://digital-strategy.ec.europa.eu/en/faqs/navigating-ai-act</a:t>
            </a:r>
          </a:p>
          <a:p xmlns:a="http://schemas.openxmlformats.org/drawingml/2006/main">
            <a:r>
              <a:t>- European Commission — Article 50 transparency guidelines: https://digital-strategy.ec.europa.eu/en/policies/guidelines-transparency-ai-generated-content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Traffic-light ratings are analytical judgments derived from public evidence, not audit or certification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— AI Act dates and high-risk preparation window: https://digital-strategy.ec.europa.eu/en/faqs/navigating-ai-act</a:t>
            </a:r>
          </a:p>
          <a:p xmlns:a="http://schemas.openxmlformats.org/drawingml/2006/main">
            <a:r>
              <a:t>- Microsoft — EU AI Act implementation approach: https://blogs.microsoft.com/on-the-issues/2025/01/15/innovating-in-line-with-the-european-unions-ai-act/</a:t>
            </a:r>
          </a:p>
          <a:p xmlns:a="http://schemas.openxmlformats.org/drawingml/2006/main">
            <a:r>
              <a:t>- Microsoft — Responsible AI Transparency Report (central workflow and lifecycle controls): https://www.microsoft.com/en-us/corporate-responsibility/responsible-ai-transparency-report/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Roadmap and management gate are recommendations developed for this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— Responsible AI governance architecture and practices: https://learn.microsoft.com/en-us/compliance/assurance/assurance-artificial-intelligence</a:t>
            </a:r>
          </a:p>
          <a:p xmlns:a="http://schemas.openxmlformats.org/drawingml/2006/main">
            <a:r>
              <a:t>- European Commission — AI Act roles, enforcement and obligations: https://digital-strategy.ec.europa.eu/en/faqs/navigating-ai-act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decisions are recommendations developed for this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024374f7e42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18f474381420f" /><Relationship Type="http://schemas.openxmlformats.org/officeDocument/2006/relationships/slideLayout" Target="/ppt/slideLayouts/slideLayout1.xml" Id="Rcd56b2b69bdf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6b2b69bdf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2928ad884e1e" /><Relationship Type="http://schemas.openxmlformats.org/officeDocument/2006/relationships/notesSlide" Target="/ppt/notesSlides/notesSlide1.xml" Id="R0d680789feba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de4e23d54bf0" /><Relationship Type="http://schemas.openxmlformats.org/officeDocument/2006/relationships/notesSlide" Target="/ppt/notesSlides/notesSlide2.xml" Id="R9449b454b7b1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555a35444c48" /><Relationship Type="http://schemas.openxmlformats.org/officeDocument/2006/relationships/notesSlide" Target="/ppt/notesSlides/notesSlide3.xml" Id="R0de2f43901b547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cf240de74c5c" /><Relationship Type="http://schemas.openxmlformats.org/officeDocument/2006/relationships/notesSlide" Target="/ppt/notesSlides/notesSlide4.xml" Id="R2acf46b6482748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9e158bcb54d2a" /><Relationship Type="http://schemas.openxmlformats.org/officeDocument/2006/relationships/notesSlide" Target="/ppt/notesSlides/notesSlide5.xml" Id="Rdbd5d2b3a75f4c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47984b544c68" /><Relationship Type="http://schemas.openxmlformats.org/officeDocument/2006/relationships/notesSlide" Target="/ppt/notesSlides/notesSlide6.xml" Id="R7b6c882159f446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aa28304b0442f" /><Relationship Type="http://schemas.openxmlformats.org/officeDocument/2006/relationships/notesSlide" Target="/ppt/notesSlides/notesSlide7.xml" Id="R02d09c80c74a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d2e004f614a83" /><Relationship Type="http://schemas.openxmlformats.org/officeDocument/2006/relationships/notesSlide" Target="/ppt/notesSlides/notesSlide8.xml" Id="Rafb147ded6a944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cce54455f4a07" /><Relationship Type="http://schemas.openxmlformats.org/officeDocument/2006/relationships/notesSlide" Target="/ppt/notesSlides/notesSlide9.xml" Id="R6934023d686d4e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520de9f4349d8" /><Relationship Type="http://schemas.openxmlformats.org/officeDocument/2006/relationships/notesSlide" Target="/ppt/notesSlides/notesSlide10.xml" Id="R429f466d2a6748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a525d08e349ce" /><Relationship Type="http://schemas.openxmlformats.org/officeDocument/2006/relationships/notesSlide" Target="/ppt/notesSlides/notesSlide11.xml" Id="R58c21d53d6a944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2017dfc5e4fc0" /><Relationship Type="http://schemas.openxmlformats.org/officeDocument/2006/relationships/notesSlide" Target="/ppt/notesSlides/notesSlide12.xml" Id="Raf5cc15a7691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24d3b867245c9" /><Relationship Type="http://schemas.openxmlformats.org/officeDocument/2006/relationships/notesSlide" Target="/ppt/notesSlides/notesSlide13.xml" Id="R78bec169ce3e48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ac1b999fb429c" /><Relationship Type="http://schemas.openxmlformats.org/officeDocument/2006/relationships/notesSlide" Target="/ppt/notesSlides/notesSlide14.xml" Id="R27e10aa65eaf4d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1ced4c22405c" /><Relationship Type="http://schemas.openxmlformats.org/officeDocument/2006/relationships/notesSlide" Target="/ppt/notesSlides/notesSlide15.xml" Id="R9777e9f5231741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E3AB3A9-CFE0-48C8-8543-80134831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714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4691D94-C5B2-4ACD-A4D7-EB71C4F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MANAGEMENT BRIEF · 2026.08.04</a:t>
            </a:r>
          </a:p>
        </p:txBody>
      </p:sp>
      <p:sp>
        <p:nvSpPr>
          <p:cNvPr id="3" name="cover-date">
            <a:extLst xmlns:a="http://schemas.openxmlformats.org/drawingml/2006/main">
              <a:ext uri="{FF2B5EF4-FFF2-40B4-BE49-F238E27FC236}">
                <a16:creationId xmlns:a16="http://schemas.microsoft.com/office/drawing/2014/main" id="{408EFBC3-9500-4EAF-AEF0-9E5061EA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欧盟 AI 法案执行期分析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24EE03B-0AFD-4EF0-A7B4-8387A91F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 AI 治理战略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1F9E7E-E844-4F69-A13E-0E54CE1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如何满足欧盟《AI 法案》</a:t>
            </a:r>
          </a:p>
        </p:txBody>
      </p:sp>
      <p:sp>
        <p:nvSpPr>
          <p:cNvPr id="6" name="cover-desc">
            <a:extLst xmlns:a="http://schemas.openxmlformats.org/drawingml/2006/main">
              <a:ext uri="{FF2B5EF4-FFF2-40B4-BE49-F238E27FC236}">
                <a16:creationId xmlns:a16="http://schemas.microsoft.com/office/drawing/2014/main" id="{DF2DA404-0378-4A25-B25A-899C6E27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治理架构 · 义务映射 · 共享责任 · 执行路线图</a:t>
            </a:r>
          </a:p>
        </p:txBody>
      </p:sp>
      <p:sp>
        <p:nvSpPr>
          <p:cNvPr id="7" name="cover-scope">
            <a:extLst xmlns:a="http://schemas.openxmlformats.org/drawingml/2006/main">
              <a:ext uri="{FF2B5EF4-FFF2-40B4-BE49-F238E27FC236}">
                <a16:creationId xmlns:a16="http://schemas.microsoft.com/office/drawing/2014/main" id="{7A4B2FCE-6186-49BE-BE82-57E3E27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基于公开材料的战略与控制分析，不构成法律意见或独立审计结论。</a:t>
            </a:r>
          </a:p>
        </p:txBody>
      </p:sp>
    </p:spTree>
    <p:extLst>
      <p:ext uri="{BB962C8B-B14F-4D97-AF65-F5344CB8AC3E}">
        <p14:creationId xmlns:p14="http://schemas.microsoft.com/office/powerpoint/2010/main" val="1100075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2">
            <a:extLst xmlns:a="http://schemas.openxmlformats.org/drawingml/2006/main">
              <a:ext uri="{FF2B5EF4-FFF2-40B4-BE49-F238E27FC236}">
                <a16:creationId xmlns:a16="http://schemas.microsoft.com/office/drawing/2014/main" id="{AA66BEF4-FC8F-46F9-ACA3-740DBA7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EXECUTIVE CONCLUSION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9580622-C00F-4D9C-BC2C-29122F7F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结论：治理底座成熟，胜负在证据链与责任边界</a:t>
            </a:r>
          </a:p>
        </p:txBody>
      </p:sp>
      <p:cxnSp>
        <p:nvCxnSpPr>
          <p:cNvPr id="18" name="title-rule-2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0460CFD4-D852-4290-A087-AAAD1E5A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s2-lead">
            <a:extLst xmlns:a="http://schemas.openxmlformats.org/drawingml/2006/main">
              <a:ext uri="{FF2B5EF4-FFF2-40B4-BE49-F238E27FC236}">
                <a16:creationId xmlns:a16="http://schemas.microsoft.com/office/drawing/2014/main" id="{B9979E6C-9078-4397-9936-FBE5DA90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微软已把原则转化为公司级政策、工程门禁与风险工具；但“使用微软产品”不等于自动满足《AI 法案》。</a:t>
            </a:r>
          </a:p>
        </p:txBody>
      </p:sp>
      <p:sp>
        <p:nvSpPr>
          <p:cNvPr id="6" name="s2-a-panel">
            <a:extLst xmlns:a="http://schemas.openxmlformats.org/drawingml/2006/main">
              <a:ext uri="{FF2B5EF4-FFF2-40B4-BE49-F238E27FC236}">
                <a16:creationId xmlns:a16="http://schemas.microsoft.com/office/drawing/2014/main" id="{24C01EBD-4EAA-4F77-A958-AC880F8A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2-a-header">
            <a:extLst xmlns:a="http://schemas.openxmlformats.org/drawingml/2006/main">
              <a:ext uri="{FF2B5EF4-FFF2-40B4-BE49-F238E27FC236}">
                <a16:creationId xmlns:a16="http://schemas.microsoft.com/office/drawing/2014/main" id="{79C132CC-DF61-48DB-BEFE-8DCDDE2A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已具备</a:t>
            </a:r>
          </a:p>
        </p:txBody>
      </p:sp>
      <p:sp>
        <p:nvSpPr>
          <p:cNvPr id="8" name="s2-a-body">
            <a:extLst xmlns:a="http://schemas.openxmlformats.org/drawingml/2006/main">
              <a:ext uri="{FF2B5EF4-FFF2-40B4-BE49-F238E27FC236}">
                <a16:creationId xmlns:a16="http://schemas.microsoft.com/office/drawing/2014/main" id="{FF95A0B0-9D20-412B-B56A-1C8B9FF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3105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董事会与高管监督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Responsible AI Council / ORA / Aether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Responsible AI Standard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发布前安全审查与敏感用途复核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持续监测与纵深防御</a:t>
            </a:r>
          </a:p>
        </p:txBody>
      </p:sp>
      <p:sp>
        <p:nvSpPr>
          <p:cNvPr id="9" name="s2-b-panel">
            <a:extLst xmlns:a="http://schemas.openxmlformats.org/drawingml/2006/main">
              <a:ext uri="{FF2B5EF4-FFF2-40B4-BE49-F238E27FC236}">
                <a16:creationId xmlns:a16="http://schemas.microsoft.com/office/drawing/2014/main" id="{6D5D60BE-6EB4-482C-A75B-766A01D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384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-b-header">
            <a:extLst xmlns:a="http://schemas.openxmlformats.org/drawingml/2006/main">
              <a:ext uri="{FF2B5EF4-FFF2-40B4-BE49-F238E27FC236}">
                <a16:creationId xmlns:a16="http://schemas.microsoft.com/office/drawing/2014/main" id="{8F488E8F-DE3C-49CE-9F7C-C7A065C2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正在兑现</a:t>
            </a:r>
          </a:p>
        </p:txBody>
      </p:sp>
      <p:sp>
        <p:nvSpPr>
          <p:cNvPr id="11" name="s2-b-body">
            <a:extLst xmlns:a="http://schemas.openxmlformats.org/drawingml/2006/main">
              <a:ext uri="{FF2B5EF4-FFF2-40B4-BE49-F238E27FC236}">
                <a16:creationId xmlns:a16="http://schemas.microsoft.com/office/drawing/2014/main" id="{BE7A5758-AB0D-4F18-A97E-71B14CC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81350"/>
            <a:ext cx="3105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禁止用途纳入 Restricted Use Policy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中央筛查与文档工作流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签署 GPAI 行为准则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30 项工具、155+ 功能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40 份 Transparency Notes</a:t>
            </a:r>
          </a:p>
        </p:txBody>
      </p:sp>
      <p:sp>
        <p:nvSpPr>
          <p:cNvPr id="12" name="s2-c-panel">
            <a:extLst xmlns:a="http://schemas.openxmlformats.org/drawingml/2006/main">
              <a:ext uri="{FF2B5EF4-FFF2-40B4-BE49-F238E27FC236}">
                <a16:creationId xmlns:a16="http://schemas.microsoft.com/office/drawing/2014/main" id="{A514D3C3-8E2E-49E7-92A7-6344A479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5623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c-header">
            <a:extLst xmlns:a="http://schemas.openxmlformats.org/drawingml/2006/main">
              <a:ext uri="{FF2B5EF4-FFF2-40B4-BE49-F238E27FC236}">
                <a16:creationId xmlns:a16="http://schemas.microsoft.com/office/drawing/2014/main" id="{32C8CABE-C4F6-4515-9EBC-6AC7D40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仍需闭环</a:t>
            </a:r>
          </a:p>
        </p:txBody>
      </p:sp>
      <p:sp>
        <p:nvSpPr>
          <p:cNvPr id="14" name="s2-c-body">
            <a:extLst xmlns:a="http://schemas.openxmlformats.org/drawingml/2006/main">
              <a:ext uri="{FF2B5EF4-FFF2-40B4-BE49-F238E27FC236}">
                <a16:creationId xmlns:a16="http://schemas.microsoft.com/office/drawing/2014/main" id="{E688BB48-5F37-4051-9874-4BA3F15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105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第 50 条内容标记的端到端继承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高风险 QMS / 合格评定证据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微软—模型伙伴—客户的角色认定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客户场景中的 FRIA 与人工监督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跨主体严重事件响应</a:t>
            </a:r>
          </a:p>
        </p:txBody>
      </p:sp>
      <p:sp>
        <p:nvSpPr>
          <p:cNvPr id="15" name="s2-foot">
            <a:extLst xmlns:a="http://schemas.openxmlformats.org/drawingml/2006/main">
              <a:ext uri="{FF2B5EF4-FFF2-40B4-BE49-F238E27FC236}">
                <a16:creationId xmlns:a16="http://schemas.microsoft.com/office/drawing/2014/main" id="{18AD0BB7-006B-48DD-A017-585303E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判断：战略方向与法案高度同构；合规成熟度取决于每个版本、场景和责任主体能否形成可验证记录。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1052002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3">
            <a:extLst xmlns:a="http://schemas.openxmlformats.org/drawingml/2006/main">
              <a:ext uri="{FF2B5EF4-FFF2-40B4-BE49-F238E27FC236}">
                <a16:creationId xmlns:a16="http://schemas.microsoft.com/office/drawing/2014/main" id="{F5A6918A-2AF5-468C-B006-167DAB9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EU AI ACT · CURRENT STATE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8522F61-A9C0-4398-B4AA-DA2405D9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法律已进入执行期，高风险义务窗口被延长</a:t>
            </a:r>
          </a:p>
        </p:txBody>
      </p:sp>
      <p:cxnSp>
        <p:nvCxnSpPr>
          <p:cNvPr id="35" name="title-rule-3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82865C33-1054-4398-8068-38396FB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s3-current-tag">
            <a:extLst xmlns:a="http://schemas.openxmlformats.org/drawingml/2006/main">
              <a:ext uri="{FF2B5EF4-FFF2-40B4-BE49-F238E27FC236}">
                <a16:creationId xmlns:a16="http://schemas.microsoft.com/office/drawing/2014/main" id="{3232E39A-F570-448A-AB08-386B3E90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5621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current-text">
            <a:extLst xmlns:a="http://schemas.openxmlformats.org/drawingml/2006/main">
              <a:ext uri="{FF2B5EF4-FFF2-40B4-BE49-F238E27FC236}">
                <a16:creationId xmlns:a16="http://schemas.microsoft.com/office/drawing/2014/main" id="{99F93B86-3628-40F3-A221-E47D36E3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47825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当前：执法已经开始</a:t>
            </a:r>
          </a:p>
        </p:txBody>
      </p:sp>
      <p:cxnSp>
        <p:nvCxnSpPr>
          <p:cNvPr id="39" name="s3-axis"/>
          <p:cNvCxnSpPr/>
          <p:nvPr/>
        </p:nvCxnSpPr>
        <p:spPr>
          <a:xfrm xmlns:a="http://schemas.openxmlformats.org/drawingml/2006/main">
            <a:off x="762000" y="35052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s3-node-0">
            <a:extLst xmlns:a="http://schemas.openxmlformats.org/drawingml/2006/main">
              <a:ext uri="{FF2B5EF4-FFF2-40B4-BE49-F238E27FC236}">
                <a16:creationId xmlns:a16="http://schemas.microsoft.com/office/drawing/2014/main" id="{5E6B0A91-DA44-43B9-B0E7-C64D421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9" name="s3-date-0">
            <a:extLst xmlns:a="http://schemas.openxmlformats.org/drawingml/2006/main">
              <a:ext uri="{FF2B5EF4-FFF2-40B4-BE49-F238E27FC236}">
                <a16:creationId xmlns:a16="http://schemas.microsoft.com/office/drawing/2014/main" id="{73B50EC6-3EF8-416D-B9BD-4ED60FC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2025.02.02</a:t>
            </a:r>
          </a:p>
        </p:txBody>
      </p:sp>
      <p:sp>
        <p:nvSpPr>
          <p:cNvPr id="10" name="s3-title-0">
            <a:extLst xmlns:a="http://schemas.openxmlformats.org/drawingml/2006/main">
              <a:ext uri="{FF2B5EF4-FFF2-40B4-BE49-F238E27FC236}">
                <a16:creationId xmlns:a16="http://schemas.microsoft.com/office/drawing/2014/main" id="{854C1A6F-5637-46FA-B4A2-884E7B5B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禁止实践 / AI 素养</a:t>
            </a:r>
          </a:p>
        </p:txBody>
      </p:sp>
      <p:sp>
        <p:nvSpPr>
          <p:cNvPr id="11" name="s3-body-0">
            <a:extLst xmlns:a="http://schemas.openxmlformats.org/drawingml/2006/main">
              <a:ext uri="{FF2B5EF4-FFF2-40B4-BE49-F238E27FC236}">
                <a16:creationId xmlns:a16="http://schemas.microsoft.com/office/drawing/2014/main" id="{68E29FC5-DA28-4510-80FA-4C7186C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定义、禁止性规则与第 4 条开始适用</a:t>
            </a:r>
          </a:p>
        </p:txBody>
      </p:sp>
      <p:sp>
        <p:nvSpPr>
          <p:cNvPr id="12" name="s3-node-1">
            <a:extLst xmlns:a="http://schemas.openxmlformats.org/drawingml/2006/main">
              <a:ext uri="{FF2B5EF4-FFF2-40B4-BE49-F238E27FC236}">
                <a16:creationId xmlns:a16="http://schemas.microsoft.com/office/drawing/2014/main" id="{BEC708DF-68A5-496E-B5D4-577339A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3" name="s3-date-1">
            <a:extLst xmlns:a="http://schemas.openxmlformats.org/drawingml/2006/main">
              <a:ext uri="{FF2B5EF4-FFF2-40B4-BE49-F238E27FC236}">
                <a16:creationId xmlns:a16="http://schemas.microsoft.com/office/drawing/2014/main" id="{1CE817D3-30D2-482D-A59D-34E32BEF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2025.08.02</a:t>
            </a:r>
          </a:p>
        </p:txBody>
      </p:sp>
      <p:sp>
        <p:nvSpPr>
          <p:cNvPr id="14" name="s3-title-1">
            <a:extLst xmlns:a="http://schemas.openxmlformats.org/drawingml/2006/main">
              <a:ext uri="{FF2B5EF4-FFF2-40B4-BE49-F238E27FC236}">
                <a16:creationId xmlns:a16="http://schemas.microsoft.com/office/drawing/2014/main" id="{581CD8C4-597A-4A64-8F9A-A2558DAB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GPAI 义务</a:t>
            </a:r>
          </a:p>
        </p:txBody>
      </p:sp>
      <p:sp>
        <p:nvSpPr>
          <p:cNvPr id="15" name="s3-body-1">
            <a:extLst xmlns:a="http://schemas.openxmlformats.org/drawingml/2006/main">
              <a:ext uri="{FF2B5EF4-FFF2-40B4-BE49-F238E27FC236}">
                <a16:creationId xmlns:a16="http://schemas.microsoft.com/office/drawing/2014/main" id="{13F80451-37DD-46F7-B209-60F3BC2F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治理、通用模型义务与处罚框架</a:t>
            </a:r>
          </a:p>
        </p:txBody>
      </p:sp>
      <p:sp>
        <p:nvSpPr>
          <p:cNvPr id="16" name="s3-node-2">
            <a:extLst xmlns:a="http://schemas.openxmlformats.org/drawingml/2006/main">
              <a:ext uri="{FF2B5EF4-FFF2-40B4-BE49-F238E27FC236}">
                <a16:creationId xmlns:a16="http://schemas.microsoft.com/office/drawing/2014/main" id="{C7F1CE2A-A10A-4A28-82CD-A62749A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81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7" name="s3-date-2">
            <a:extLst xmlns:a="http://schemas.openxmlformats.org/drawingml/2006/main">
              <a:ext uri="{FF2B5EF4-FFF2-40B4-BE49-F238E27FC236}">
                <a16:creationId xmlns:a16="http://schemas.microsoft.com/office/drawing/2014/main" id="{BF9668FA-1D7F-44B2-BA9F-0DB12D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2026.08.02</a:t>
            </a:r>
          </a:p>
        </p:txBody>
      </p:sp>
      <p:sp>
        <p:nvSpPr>
          <p:cNvPr id="18" name="s3-title-2">
            <a:extLst xmlns:a="http://schemas.openxmlformats.org/drawingml/2006/main">
              <a:ext uri="{FF2B5EF4-FFF2-40B4-BE49-F238E27FC236}">
                <a16:creationId xmlns:a16="http://schemas.microsoft.com/office/drawing/2014/main" id="{3A2E911F-2333-45B7-AF38-21CCE9FC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透明度与执法</a:t>
            </a:r>
          </a:p>
        </p:txBody>
      </p:sp>
      <p:sp>
        <p:nvSpPr>
          <p:cNvPr id="19" name="s3-body-2">
            <a:extLst xmlns:a="http://schemas.openxmlformats.org/drawingml/2006/main">
              <a:ext uri="{FF2B5EF4-FFF2-40B4-BE49-F238E27FC236}">
                <a16:creationId xmlns:a16="http://schemas.microsoft.com/office/drawing/2014/main" id="{5C819AA2-C5FA-46C3-B40B-75118F4C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0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第 50 条适用；AI Office 执法权生效</a:t>
            </a:r>
          </a:p>
        </p:txBody>
      </p:sp>
      <p:sp>
        <p:nvSpPr>
          <p:cNvPr id="20" name="s3-node-3">
            <a:extLst xmlns:a="http://schemas.openxmlformats.org/drawingml/2006/main">
              <a:ext uri="{FF2B5EF4-FFF2-40B4-BE49-F238E27FC236}">
                <a16:creationId xmlns:a16="http://schemas.microsoft.com/office/drawing/2014/main" id="{CEDD4EB3-77A7-42DD-8BF5-EFB1AF61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21" name="s3-date-3">
            <a:extLst xmlns:a="http://schemas.openxmlformats.org/drawingml/2006/main">
              <a:ext uri="{FF2B5EF4-FFF2-40B4-BE49-F238E27FC236}">
                <a16:creationId xmlns:a16="http://schemas.microsoft.com/office/drawing/2014/main" id="{6C981E24-B5C2-4FB0-A6D1-E6FD57DB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2026.12.02</a:t>
            </a:r>
          </a:p>
        </p:txBody>
      </p:sp>
      <p:sp>
        <p:nvSpPr>
          <p:cNvPr id="22" name="s3-title-3">
            <a:extLst xmlns:a="http://schemas.openxmlformats.org/drawingml/2006/main">
              <a:ext uri="{FF2B5EF4-FFF2-40B4-BE49-F238E27FC236}">
                <a16:creationId xmlns:a16="http://schemas.microsoft.com/office/drawing/2014/main" id="{3A727A42-ED31-4B3B-8D8C-B5C5E35A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旧系统标记宽限</a:t>
            </a:r>
          </a:p>
        </p:txBody>
      </p:sp>
      <p:sp>
        <p:nvSpPr>
          <p:cNvPr id="23" name="s3-body-3">
            <a:extLst xmlns:a="http://schemas.openxmlformats.org/drawingml/2006/main">
              <a:ext uri="{FF2B5EF4-FFF2-40B4-BE49-F238E27FC236}">
                <a16:creationId xmlns:a16="http://schemas.microsoft.com/office/drawing/2014/main" id="{0CBD7840-B184-4813-ABE6-C43EA34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此前上市的生成式 AI 完成机器可读标记</a:t>
            </a:r>
          </a:p>
        </p:txBody>
      </p:sp>
      <p:sp>
        <p:nvSpPr>
          <p:cNvPr id="24" name="s3-node-4">
            <a:extLst xmlns:a="http://schemas.openxmlformats.org/drawingml/2006/main">
              <a:ext uri="{FF2B5EF4-FFF2-40B4-BE49-F238E27FC236}">
                <a16:creationId xmlns:a16="http://schemas.microsoft.com/office/drawing/2014/main" id="{4407AEB1-54B6-4941-9076-A20A12F2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25" name="s3-date-4">
            <a:extLst xmlns:a="http://schemas.openxmlformats.org/drawingml/2006/main">
              <a:ext uri="{FF2B5EF4-FFF2-40B4-BE49-F238E27FC236}">
                <a16:creationId xmlns:a16="http://schemas.microsoft.com/office/drawing/2014/main" id="{2168A6AB-F1DC-42BA-AC51-C4C689A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2027.12.02</a:t>
            </a:r>
          </a:p>
        </p:txBody>
      </p:sp>
      <p:sp>
        <p:nvSpPr>
          <p:cNvPr id="26" name="s3-title-4">
            <a:extLst xmlns:a="http://schemas.openxmlformats.org/drawingml/2006/main">
              <a:ext uri="{FF2B5EF4-FFF2-40B4-BE49-F238E27FC236}">
                <a16:creationId xmlns:a16="http://schemas.microsoft.com/office/drawing/2014/main" id="{CB484B19-44E2-4B34-BAD8-A0A4E3CF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57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附录 III 高风险</a:t>
            </a:r>
          </a:p>
        </p:txBody>
      </p:sp>
      <p:sp>
        <p:nvSpPr>
          <p:cNvPr id="27" name="s3-body-4">
            <a:extLst xmlns:a="http://schemas.openxmlformats.org/drawingml/2006/main">
              <a:ext uri="{FF2B5EF4-FFF2-40B4-BE49-F238E27FC236}">
                <a16:creationId xmlns:a16="http://schemas.microsoft.com/office/drawing/2014/main" id="{1C189790-DEAF-402D-976B-072C9CAF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003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就业、教育、关键设施等敏感用途</a:t>
            </a:r>
          </a:p>
        </p:txBody>
      </p:sp>
      <p:sp>
        <p:nvSpPr>
          <p:cNvPr id="28" name="s3-node-5">
            <a:extLst xmlns:a="http://schemas.openxmlformats.org/drawingml/2006/main">
              <a:ext uri="{FF2B5EF4-FFF2-40B4-BE49-F238E27FC236}">
                <a16:creationId xmlns:a16="http://schemas.microsoft.com/office/drawing/2014/main" id="{1C04F092-1042-49C7-86E9-3A97FC8C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419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29" name="s3-date-5">
            <a:extLst xmlns:a="http://schemas.openxmlformats.org/drawingml/2006/main">
              <a:ext uri="{FF2B5EF4-FFF2-40B4-BE49-F238E27FC236}">
                <a16:creationId xmlns:a16="http://schemas.microsoft.com/office/drawing/2014/main" id="{A6F56FCC-B934-4512-96A6-BA8C1BA2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2028.08.02</a:t>
            </a:r>
          </a:p>
        </p:txBody>
      </p:sp>
      <p:sp>
        <p:nvSpPr>
          <p:cNvPr id="30" name="s3-title-5">
            <a:extLst xmlns:a="http://schemas.openxmlformats.org/drawingml/2006/main">
              <a:ext uri="{FF2B5EF4-FFF2-40B4-BE49-F238E27FC236}">
                <a16:creationId xmlns:a16="http://schemas.microsoft.com/office/drawing/2014/main" id="{93FB2B8A-12B3-4C9A-AE4A-B4B09006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10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附录 I 产品高风险</a:t>
            </a:r>
          </a:p>
        </p:txBody>
      </p:sp>
      <p:sp>
        <p:nvSpPr>
          <p:cNvPr id="31" name="s3-body-5">
            <a:extLst xmlns:a="http://schemas.openxmlformats.org/drawingml/2006/main">
              <a:ext uri="{FF2B5EF4-FFF2-40B4-BE49-F238E27FC236}">
                <a16:creationId xmlns:a16="http://schemas.microsoft.com/office/drawing/2014/main" id="{87254020-9530-44FC-95BA-439D87B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529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嵌入医疗器械、玩具、电梯等产品</a:t>
            </a:r>
          </a:p>
        </p:txBody>
      </p:sp>
      <p:sp>
        <p:nvSpPr>
          <p:cNvPr id="32" name="s3-omnibus">
            <a:extLst xmlns:a="http://schemas.openxmlformats.org/drawingml/2006/main">
              <a:ext uri="{FF2B5EF4-FFF2-40B4-BE49-F238E27FC236}">
                <a16:creationId xmlns:a16="http://schemas.microsoft.com/office/drawing/2014/main" id="{D2F80C7F-1828-48E7-A44F-E231BD32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AI Omnibus 于 2026.07.27 生效：高风险日期后移，但透明度、GPAI 和执法节点不后移。</a:t>
            </a:r>
          </a:p>
        </p:txBody>
      </p:sp>
    </p:spTree>
    <p:extLst>
      <p:ext uri="{BB962C8B-B14F-4D97-AF65-F5344CB8AC3E}">
        <p14:creationId xmlns:p14="http://schemas.microsoft.com/office/powerpoint/2010/main" val="1138399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941AC8D5-6D68-4C42-983D-E46BE95E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REGULATORY LOGIC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57624E1-0679-4F74-BCEA-AAE99CD9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合规不是单一清单，而是“风险层级 + 供应链角色”</a:t>
            </a:r>
          </a:p>
        </p:txBody>
      </p:sp>
      <p:cxnSp>
        <p:nvCxnSpPr>
          <p:cNvPr id="25" name="title-rule-4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054A0D8E-C67E-47A9-811B-8098AA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s4-band-0">
            <a:extLst xmlns:a="http://schemas.openxmlformats.org/drawingml/2006/main">
              <a:ext uri="{FF2B5EF4-FFF2-40B4-BE49-F238E27FC236}">
                <a16:creationId xmlns:a16="http://schemas.microsoft.com/office/drawing/2014/main" id="{DE53DFB1-9F6F-41B2-BDCD-485541A4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-color-0">
            <a:extLst xmlns:a="http://schemas.openxmlformats.org/drawingml/2006/main">
              <a:ext uri="{FF2B5EF4-FFF2-40B4-BE49-F238E27FC236}">
                <a16:creationId xmlns:a16="http://schemas.microsoft.com/office/drawing/2014/main" id="{DB5CEF4F-99A6-4332-B199-57F96317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label-0">
            <a:extLst xmlns:a="http://schemas.openxmlformats.org/drawingml/2006/main">
              <a:ext uri="{FF2B5EF4-FFF2-40B4-BE49-F238E27FC236}">
                <a16:creationId xmlns:a16="http://schemas.microsoft.com/office/drawing/2014/main" id="{137FFBA4-80F1-48BD-91BA-A703FB7B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6282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不可接受风险</a:t>
            </a:r>
          </a:p>
        </p:txBody>
      </p:sp>
      <p:sp>
        <p:nvSpPr>
          <p:cNvPr id="8" name="s4-text-0">
            <a:extLst xmlns:a="http://schemas.openxmlformats.org/drawingml/2006/main">
              <a:ext uri="{FF2B5EF4-FFF2-40B4-BE49-F238E27FC236}">
                <a16:creationId xmlns:a16="http://schemas.microsoft.com/office/drawing/2014/main" id="{C8FAE45B-AEDE-45C7-8A59-5B0501F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0225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禁止设计、投放或使用；必须以用途筛查、合同限制和升级机制阻断。</a:t>
            </a:r>
          </a:p>
        </p:txBody>
      </p:sp>
      <p:sp>
        <p:nvSpPr>
          <p:cNvPr id="9" name="s4-band-1">
            <a:extLst xmlns:a="http://schemas.openxmlformats.org/drawingml/2006/main">
              <a:ext uri="{FF2B5EF4-FFF2-40B4-BE49-F238E27FC236}">
                <a16:creationId xmlns:a16="http://schemas.microsoft.com/office/drawing/2014/main" id="{11470772-2660-4706-A3A4-F2CA7B2C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-color-1">
            <a:extLst xmlns:a="http://schemas.openxmlformats.org/drawingml/2006/main">
              <a:ext uri="{FF2B5EF4-FFF2-40B4-BE49-F238E27FC236}">
                <a16:creationId xmlns:a16="http://schemas.microsoft.com/office/drawing/2014/main" id="{70DA2377-C7E8-46DA-8F86-B8942392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label-1">
            <a:extLst xmlns:a="http://schemas.openxmlformats.org/drawingml/2006/main">
              <a:ext uri="{FF2B5EF4-FFF2-40B4-BE49-F238E27FC236}">
                <a16:creationId xmlns:a16="http://schemas.microsoft.com/office/drawing/2014/main" id="{5BB686FB-157C-49DC-A4AE-C4657CC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高风险系统</a:t>
            </a:r>
          </a:p>
        </p:txBody>
      </p:sp>
      <p:sp>
        <p:nvSpPr>
          <p:cNvPr id="12" name="s4-text-1">
            <a:extLst xmlns:a="http://schemas.openxmlformats.org/drawingml/2006/main">
              <a:ext uri="{FF2B5EF4-FFF2-40B4-BE49-F238E27FC236}">
                <a16:creationId xmlns:a16="http://schemas.microsoft.com/office/drawing/2014/main" id="{AADCE2B2-0B03-48EF-BD45-D33B334C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95575"/>
            <a:ext cx="828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风险管理、数据治理、技术文档、日志、透明度、人工监督、准确性/稳健性/网络安全、QMS、合格评定、登记、上市后监测。</a:t>
            </a:r>
          </a:p>
        </p:txBody>
      </p:sp>
      <p:sp>
        <p:nvSpPr>
          <p:cNvPr id="13" name="s4-band-2">
            <a:extLst xmlns:a="http://schemas.openxmlformats.org/drawingml/2006/main">
              <a:ext uri="{FF2B5EF4-FFF2-40B4-BE49-F238E27FC236}">
                <a16:creationId xmlns:a16="http://schemas.microsoft.com/office/drawing/2014/main" id="{0A9DF6EC-5D76-4E29-B286-20B463F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olor-2">
            <a:extLst xmlns:a="http://schemas.openxmlformats.org/drawingml/2006/main">
              <a:ext uri="{FF2B5EF4-FFF2-40B4-BE49-F238E27FC236}">
                <a16:creationId xmlns:a16="http://schemas.microsoft.com/office/drawing/2014/main" id="{9B43F0CE-5688-4E7E-98D6-6976A308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4-label-2">
            <a:extLst xmlns:a="http://schemas.openxmlformats.org/drawingml/2006/main">
              <a:ext uri="{FF2B5EF4-FFF2-40B4-BE49-F238E27FC236}">
                <a16:creationId xmlns:a16="http://schemas.microsoft.com/office/drawing/2014/main" id="{1D97B984-9C95-4CB2-B5B4-FF6B6C1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透明度风险</a:t>
            </a:r>
          </a:p>
        </p:txBody>
      </p:sp>
      <p:sp>
        <p:nvSpPr>
          <p:cNvPr id="16" name="s4-text-2">
            <a:extLst xmlns:a="http://schemas.openxmlformats.org/drawingml/2006/main">
              <a:ext uri="{FF2B5EF4-FFF2-40B4-BE49-F238E27FC236}">
                <a16:creationId xmlns:a16="http://schemas.microsoft.com/office/drawing/2014/main" id="{6618CF30-A7BF-4807-AE70-F1158148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33825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告知人与 AI 交互；机器可读标记；深度伪造、情绪识别与公共利益文本披露。</a:t>
            </a:r>
          </a:p>
        </p:txBody>
      </p:sp>
      <p:sp>
        <p:nvSpPr>
          <p:cNvPr id="17" name="s4-band-3">
            <a:extLst xmlns:a="http://schemas.openxmlformats.org/drawingml/2006/main">
              <a:ext uri="{FF2B5EF4-FFF2-40B4-BE49-F238E27FC236}">
                <a16:creationId xmlns:a16="http://schemas.microsoft.com/office/drawing/2014/main" id="{A558890C-AAA5-4960-B3AA-80F8028C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-color-3">
            <a:extLst xmlns:a="http://schemas.openxmlformats.org/drawingml/2006/main">
              <a:ext uri="{FF2B5EF4-FFF2-40B4-BE49-F238E27FC236}">
                <a16:creationId xmlns:a16="http://schemas.microsoft.com/office/drawing/2014/main" id="{C0F66028-A8CB-497F-A1B9-F054EB7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label-3">
            <a:extLst xmlns:a="http://schemas.openxmlformats.org/drawingml/2006/main">
              <a:ext uri="{FF2B5EF4-FFF2-40B4-BE49-F238E27FC236}">
                <a16:creationId xmlns:a16="http://schemas.microsoft.com/office/drawing/2014/main" id="{F14CF4B1-A978-4E50-A085-4FCB1AD2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最小风险</a:t>
            </a:r>
          </a:p>
        </p:txBody>
      </p:sp>
      <p:sp>
        <p:nvSpPr>
          <p:cNvPr id="20" name="s4-text-3">
            <a:extLst xmlns:a="http://schemas.openxmlformats.org/drawingml/2006/main">
              <a:ext uri="{FF2B5EF4-FFF2-40B4-BE49-F238E27FC236}">
                <a16:creationId xmlns:a16="http://schemas.microsoft.com/office/drawing/2014/main" id="{875329F7-A82F-4C12-AED0-E112766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原则上可自愿采用行为准则；仍受 GDPR、消费者保护、知识产权等横向法律约束。</a:t>
            </a:r>
          </a:p>
        </p:txBody>
      </p:sp>
      <p:sp>
        <p:nvSpPr>
          <p:cNvPr id="21" name="s4-gpai">
            <a:extLst xmlns:a="http://schemas.openxmlformats.org/drawingml/2006/main">
              <a:ext uri="{FF2B5EF4-FFF2-40B4-BE49-F238E27FC236}">
                <a16:creationId xmlns:a16="http://schemas.microsoft.com/office/drawing/2014/main" id="{818766B2-0109-4321-8350-0615498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gpai-text">
            <a:extLst xmlns:a="http://schemas.openxmlformats.org/drawingml/2006/main">
              <a:ext uri="{FF2B5EF4-FFF2-40B4-BE49-F238E27FC236}">
                <a16:creationId xmlns:a16="http://schemas.microsoft.com/office/drawing/2014/main" id="{EED6AEED-235A-4334-A22F-B9EBAFE4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97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独立的 GPAI 层：所有通用模型承担透明度 / 版权义务；系统性风险模型另承担评估、缓解、事件与网络安全义务。</a:t>
            </a:r>
          </a:p>
        </p:txBody>
      </p:sp>
    </p:spTree>
    <p:extLst>
      <p:ext uri="{BB962C8B-B14F-4D97-AF65-F5344CB8AC3E}">
        <p14:creationId xmlns:p14="http://schemas.microsoft.com/office/powerpoint/2010/main" val="1870702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5">
            <a:extLst xmlns:a="http://schemas.openxmlformats.org/drawingml/2006/main">
              <a:ext uri="{FF2B5EF4-FFF2-40B4-BE49-F238E27FC236}">
                <a16:creationId xmlns:a16="http://schemas.microsoft.com/office/drawing/2014/main" id="{5601243B-2362-42DD-B9EB-6ADEDC4D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MICROSOFT GOVERNANCE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F47322C-4BB9-4950-8753-F6B5516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微软用“中央定标 + 分布式问责”把原则嵌入工程</a:t>
            </a:r>
          </a:p>
        </p:txBody>
      </p:sp>
      <p:cxnSp>
        <p:nvCxnSpPr>
          <p:cNvPr id="36" name="title-rule-5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397E5549-7F38-48AC-A1BF-F53DF5DE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cxnSp>
        <p:nvCxnSpPr>
          <p:cNvPr id="38" name="s5-v1"/>
          <p:cNvCxnSpPr/>
          <p:nvPr/>
        </p:nvCxnSpPr>
        <p:spPr>
          <a:xfrm xmlns:a="http://schemas.openxmlformats.org/drawingml/2006/main">
            <a:off x="6096000" y="22098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s5-v2"/>
          <p:cNvCxnSpPr/>
          <p:nvPr/>
        </p:nvCxnSpPr>
        <p:spPr>
          <a:xfrm xmlns:a="http://schemas.openxmlformats.org/drawingml/2006/main">
            <a:off x="6096000" y="32575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s5-hubline"/>
          <p:cNvCxnSpPr/>
          <p:nvPr/>
        </p:nvCxnSpPr>
        <p:spPr>
          <a:xfrm xmlns:a="http://schemas.openxmlformats.org/drawingml/2006/main">
            <a:off x="2381250" y="3657600"/>
            <a:ext cx="742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s5-down-250"/>
          <p:cNvCxnSpPr/>
          <p:nvPr/>
        </p:nvCxnSpPr>
        <p:spPr>
          <a:xfrm xmlns:a="http://schemas.openxmlformats.org/drawingml/2006/main">
            <a:off x="2381250" y="36576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s5-down-640"/>
          <p:cNvCxnSpPr/>
          <p:nvPr/>
        </p:nvCxnSpPr>
        <p:spPr>
          <a:xfrm xmlns:a="http://schemas.openxmlformats.org/drawingml/2006/main">
            <a:off x="6096000" y="36576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s5-down-1030"/>
          <p:cNvCxnSpPr/>
          <p:nvPr/>
        </p:nvCxnSpPr>
        <p:spPr>
          <a:xfrm xmlns:a="http://schemas.openxmlformats.org/drawingml/2006/main">
            <a:off x="9810750" y="36576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s5-spoke-line"/>
          <p:cNvCxnSpPr/>
          <p:nvPr/>
        </p:nvCxnSpPr>
        <p:spPr>
          <a:xfrm xmlns:a="http://schemas.openxmlformats.org/drawingml/2006/main">
            <a:off x="2381250" y="4876800"/>
            <a:ext cx="742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s5-up-250"/>
          <p:cNvCxnSpPr/>
          <p:nvPr/>
        </p:nvCxnSpPr>
        <p:spPr>
          <a:xfrm xmlns:a="http://schemas.openxmlformats.org/drawingml/2006/main">
            <a:off x="2381250" y="46672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s5-up-640"/>
          <p:cNvCxnSpPr/>
          <p:nvPr/>
        </p:nvCxnSpPr>
        <p:spPr>
          <a:xfrm xmlns:a="http://schemas.openxmlformats.org/drawingml/2006/main">
            <a:off x="6096000" y="46672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7" name="s5-up-1030"/>
          <p:cNvCxnSpPr/>
          <p:nvPr/>
        </p:nvCxnSpPr>
        <p:spPr>
          <a:xfrm xmlns:a="http://schemas.openxmlformats.org/drawingml/2006/main">
            <a:off x="9810750" y="46672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8" name="s5-bottom"/>
          <p:cNvCxnSpPr/>
          <p:nvPr/>
        </p:nvCxnSpPr>
        <p:spPr>
          <a:xfrm xmlns:a="http://schemas.openxmlformats.org/drawingml/2006/main">
            <a:off x="6096000" y="48768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6" name="s5-board">
            <a:extLst xmlns:a="http://schemas.openxmlformats.org/drawingml/2006/main">
              <a:ext uri="{FF2B5EF4-FFF2-40B4-BE49-F238E27FC236}">
                <a16:creationId xmlns:a16="http://schemas.microsoft.com/office/drawing/2014/main" id="{F65DD388-F740-424A-A2E1-41261438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811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5-board-t">
            <a:extLst xmlns:a="http://schemas.openxmlformats.org/drawingml/2006/main">
              <a:ext uri="{FF2B5EF4-FFF2-40B4-BE49-F238E27FC236}">
                <a16:creationId xmlns:a16="http://schemas.microsoft.com/office/drawing/2014/main" id="{AC9E9541-286D-4F93-B030-DC3792E3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954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79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董事会 / CEO / 高管团队</a:t>
            </a:r>
          </a:p>
        </p:txBody>
      </p:sp>
      <p:sp>
        <p:nvSpPr>
          <p:cNvPr id="18" name="s5-board-b">
            <a:extLst xmlns:a="http://schemas.openxmlformats.org/drawingml/2006/main">
              <a:ext uri="{FF2B5EF4-FFF2-40B4-BE49-F238E27FC236}">
                <a16:creationId xmlns:a16="http://schemas.microsoft.com/office/drawing/2014/main" id="{B26CE693-D021-4EEC-A092-BB8607FF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1675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董事会环境、社会与公共政策委员会监督</a:t>
            </a:r>
          </a:p>
        </p:txBody>
      </p:sp>
      <p:sp>
        <p:nvSpPr>
          <p:cNvPr id="19" name="s5-council">
            <a:extLst xmlns:a="http://schemas.openxmlformats.org/drawingml/2006/main">
              <a:ext uri="{FF2B5EF4-FFF2-40B4-BE49-F238E27FC236}">
                <a16:creationId xmlns:a16="http://schemas.microsoft.com/office/drawing/2014/main" id="{FA38A574-FC8B-40EE-9EAE-846C44B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552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5-council-t">
            <a:extLst xmlns:a="http://schemas.openxmlformats.org/drawingml/2006/main">
              <a:ext uri="{FF2B5EF4-FFF2-40B4-BE49-F238E27FC236}">
                <a16:creationId xmlns:a16="http://schemas.microsoft.com/office/drawing/2014/main" id="{F81947AE-C8DD-40FE-A9CA-647DC6D8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Responsible AI Council</a:t>
            </a:r>
          </a:p>
        </p:txBody>
      </p:sp>
      <p:sp>
        <p:nvSpPr>
          <p:cNvPr id="21" name="s5-council-b">
            <a:extLst xmlns:a="http://schemas.openxmlformats.org/drawingml/2006/main">
              <a:ext uri="{FF2B5EF4-FFF2-40B4-BE49-F238E27FC236}">
                <a16:creationId xmlns:a16="http://schemas.microsoft.com/office/drawing/2014/main" id="{892D61E7-21E6-4018-B370-53615ADB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499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跨研究、政策、工程的重大问题决策与一致性执行</a:t>
            </a:r>
          </a:p>
        </p:txBody>
      </p:sp>
      <p:sp>
        <p:nvSpPr>
          <p:cNvPr id="22" name="s5-ora">
            <a:extLst xmlns:a="http://schemas.openxmlformats.org/drawingml/2006/main">
              <a:ext uri="{FF2B5EF4-FFF2-40B4-BE49-F238E27FC236}">
                <a16:creationId xmlns:a16="http://schemas.microsoft.com/office/drawing/2014/main" id="{EFE83774-BD4C-4FD0-8441-CB49959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5-ora-t">
            <a:extLst xmlns:a="http://schemas.openxmlformats.org/drawingml/2006/main">
              <a:ext uri="{FF2B5EF4-FFF2-40B4-BE49-F238E27FC236}">
                <a16:creationId xmlns:a16="http://schemas.microsoft.com/office/drawing/2014/main" id="{6F933190-A3B5-447E-8330-DF7ADE8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79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ORA</a:t>
            </a:r>
          </a:p>
        </p:txBody>
      </p:sp>
      <p:sp>
        <p:nvSpPr>
          <p:cNvPr id="24" name="s5-ora-b">
            <a:extLst xmlns:a="http://schemas.openxmlformats.org/drawingml/2006/main">
              <a:ext uri="{FF2B5EF4-FFF2-40B4-BE49-F238E27FC236}">
                <a16:creationId xmlns:a16="http://schemas.microsoft.com/office/drawing/2014/main" id="{B3DD6114-CE0E-40B7-9CB9-B73BF2E4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公司政策 · 治理流程 · 敏感用途复核</a:t>
            </a:r>
          </a:p>
        </p:txBody>
      </p:sp>
      <p:sp>
        <p:nvSpPr>
          <p:cNvPr id="25" name="s5-aether">
            <a:extLst xmlns:a="http://schemas.openxmlformats.org/drawingml/2006/main">
              <a:ext uri="{FF2B5EF4-FFF2-40B4-BE49-F238E27FC236}">
                <a16:creationId xmlns:a16="http://schemas.microsoft.com/office/drawing/2014/main" id="{AE43B31C-0E24-43EC-BE3C-84125837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5-aether-t">
            <a:extLst xmlns:a="http://schemas.openxmlformats.org/drawingml/2006/main">
              <a:ext uri="{FF2B5EF4-FFF2-40B4-BE49-F238E27FC236}">
                <a16:creationId xmlns:a16="http://schemas.microsoft.com/office/drawing/2014/main" id="{6E0C36EE-B33F-4F61-834A-A49896F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481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79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Aether / Research</a:t>
            </a:r>
          </a:p>
        </p:txBody>
      </p:sp>
      <p:sp>
        <p:nvSpPr>
          <p:cNvPr id="27" name="s5-aether-b">
            <a:extLst xmlns:a="http://schemas.openxmlformats.org/drawingml/2006/main">
              <a:ext uri="{FF2B5EF4-FFF2-40B4-BE49-F238E27FC236}">
                <a16:creationId xmlns:a16="http://schemas.microsoft.com/office/drawing/2014/main" id="{E20F207A-B85F-44B0-B8CE-4874884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624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前沿风险 · 社会技术研究 · 技术建议</a:t>
            </a:r>
          </a:p>
        </p:txBody>
      </p:sp>
      <p:sp>
        <p:nvSpPr>
          <p:cNvPr id="28" name="s5-control">
            <a:extLst xmlns:a="http://schemas.openxmlformats.org/drawingml/2006/main">
              <a:ext uri="{FF2B5EF4-FFF2-40B4-BE49-F238E27FC236}">
                <a16:creationId xmlns:a16="http://schemas.microsoft.com/office/drawing/2014/main" id="{B74304DF-681E-47D2-ABD1-F3659F7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5-control-t">
            <a:extLst xmlns:a="http://schemas.openxmlformats.org/drawingml/2006/main">
              <a:ext uri="{FF2B5EF4-FFF2-40B4-BE49-F238E27FC236}">
                <a16:creationId xmlns:a16="http://schemas.microsoft.com/office/drawing/2014/main" id="{CDBFA5F6-E99F-4715-B674-2F2B41E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48125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Legal / Security / Policy</a:t>
            </a:r>
          </a:p>
        </p:txBody>
      </p:sp>
      <p:sp>
        <p:nvSpPr>
          <p:cNvPr id="30" name="s5-control-b">
            <a:extLst xmlns:a="http://schemas.openxmlformats.org/drawingml/2006/main">
              <a:ext uri="{FF2B5EF4-FFF2-40B4-BE49-F238E27FC236}">
                <a16:creationId xmlns:a16="http://schemas.microsoft.com/office/drawing/2014/main" id="{C1ACD691-CC69-43E6-9AFF-FC07766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法规解释 · 安全门禁 · 合同与公共政策</a:t>
            </a:r>
          </a:p>
        </p:txBody>
      </p:sp>
      <p:sp>
        <p:nvSpPr>
          <p:cNvPr id="31" name="s5-engineering">
            <a:extLst xmlns:a="http://schemas.openxmlformats.org/drawingml/2006/main">
              <a:ext uri="{FF2B5EF4-FFF2-40B4-BE49-F238E27FC236}">
                <a16:creationId xmlns:a16="http://schemas.microsoft.com/office/drawing/2014/main" id="{E178F0BE-60C2-4E4A-882B-9CA35B13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5-engineering-t">
            <a:extLst xmlns:a="http://schemas.openxmlformats.org/drawingml/2006/main">
              <a:ext uri="{FF2B5EF4-FFF2-40B4-BE49-F238E27FC236}">
                <a16:creationId xmlns:a16="http://schemas.microsoft.com/office/drawing/2014/main" id="{6BF575AF-7940-487B-A091-FB9CDEE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1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产品工程团队 + Division Leads + Responsible AI Champs</a:t>
            </a:r>
          </a:p>
        </p:txBody>
      </p:sp>
      <p:sp>
        <p:nvSpPr>
          <p:cNvPr id="33" name="s5-engineering-b">
            <a:extLst xmlns:a="http://schemas.openxmlformats.org/drawingml/2006/main">
              <a:ext uri="{FF2B5EF4-FFF2-40B4-BE49-F238E27FC236}">
                <a16:creationId xmlns:a16="http://schemas.microsoft.com/office/drawing/2014/main" id="{E3906531-05BB-4804-9AB3-4E737EB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34050"/>
            <a:ext cx="880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在模型、平台、应用各层承担落地责任，并把问题与例外向中央治理升级</a:t>
            </a:r>
          </a:p>
        </p:txBody>
      </p:sp>
    </p:spTree>
    <p:extLst>
      <p:ext uri="{BB962C8B-B14F-4D97-AF65-F5344CB8AC3E}">
        <p14:creationId xmlns:p14="http://schemas.microsoft.com/office/powerpoint/2010/main" val="1728066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ection-6">
            <a:extLst xmlns:a="http://schemas.openxmlformats.org/drawingml/2006/main">
              <a:ext uri="{FF2B5EF4-FFF2-40B4-BE49-F238E27FC236}">
                <a16:creationId xmlns:a16="http://schemas.microsoft.com/office/drawing/2014/main" id="{DEB1DF40-131C-4FA3-B732-36D262C9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CONTROL LIFECYCLE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EC48279-C4DF-4F44-BA6E-0522519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Govern—Map—Measure—Manage 与法案生命周期高度同构</a:t>
            </a:r>
          </a:p>
        </p:txBody>
      </p:sp>
      <p:cxnSp>
        <p:nvCxnSpPr>
          <p:cNvPr id="36" name="title-rule-6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D4B6EA80-2681-4700-BBBF-46B58104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cxnSp>
        <p:nvCxnSpPr>
          <p:cNvPr id="38" name="s6-arrow-0"/>
          <p:cNvCxnSpPr/>
          <p:nvPr/>
        </p:nvCxnSpPr>
        <p:spPr>
          <a:xfrm xmlns:a="http://schemas.openxmlformats.org/drawingml/2006/main">
            <a:off x="2857500" y="33147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cxnSp>
        <p:nvCxnSpPr>
          <p:cNvPr id="39" name="s6-arrow-1"/>
          <p:cNvCxnSpPr/>
          <p:nvPr/>
        </p:nvCxnSpPr>
        <p:spPr>
          <a:xfrm xmlns:a="http://schemas.openxmlformats.org/drawingml/2006/main">
            <a:off x="5762625" y="33147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cxnSp>
        <p:nvCxnSpPr>
          <p:cNvPr id="40" name="s6-arrow-2"/>
          <p:cNvCxnSpPr/>
          <p:nvPr/>
        </p:nvCxnSpPr>
        <p:spPr>
          <a:xfrm xmlns:a="http://schemas.openxmlformats.org/drawingml/2006/main">
            <a:off x="8667750" y="33147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sp>
        <p:nvSpPr>
          <p:cNvPr id="8" name="s6-box-0">
            <a:extLst xmlns:a="http://schemas.openxmlformats.org/drawingml/2006/main">
              <a:ext uri="{FF2B5EF4-FFF2-40B4-BE49-F238E27FC236}">
                <a16:creationId xmlns:a16="http://schemas.microsoft.com/office/drawing/2014/main" id="{6E60DBA9-CE8A-4E77-9806-C242D649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57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6-k-0">
            <a:extLst xmlns:a="http://schemas.openxmlformats.org/drawingml/2006/main">
              <a:ext uri="{FF2B5EF4-FFF2-40B4-BE49-F238E27FC236}">
                <a16:creationId xmlns:a16="http://schemas.microsoft.com/office/drawing/2014/main" id="{C8A4A7D8-E634-4CE8-8AAD-81DF45BB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GOVERN</a:t>
            </a:r>
          </a:p>
        </p:txBody>
      </p:sp>
      <p:sp>
        <p:nvSpPr>
          <p:cNvPr id="10" name="s6-zh-0">
            <a:extLst xmlns:a="http://schemas.openxmlformats.org/drawingml/2006/main">
              <a:ext uri="{FF2B5EF4-FFF2-40B4-BE49-F238E27FC236}">
                <a16:creationId xmlns:a16="http://schemas.microsoft.com/office/drawing/2014/main" id="{7C45F8EB-18F9-4488-9EAC-0B84D41D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治理</a:t>
            </a:r>
          </a:p>
        </p:txBody>
      </p:sp>
      <p:sp>
        <p:nvSpPr>
          <p:cNvPr id="11" name="s6-body-0">
            <a:extLst xmlns:a="http://schemas.openxmlformats.org/drawingml/2006/main">
              <a:ext uri="{FF2B5EF4-FFF2-40B4-BE49-F238E27FC236}">
                <a16:creationId xmlns:a16="http://schemas.microsoft.com/office/drawing/2014/main" id="{C99D486F-037F-496F-9DB2-AA9AC141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政策、角色、培训、文档工作流</a:t>
            </a:r>
          </a:p>
        </p:txBody>
      </p:sp>
      <p:cxnSp>
        <p:nvCxnSpPr>
          <p:cNvPr id="45" name="s6-rule-0"/>
          <p:cNvCxnSpPr/>
          <p:nvPr/>
        </p:nvCxnSpPr>
        <p:spPr>
          <a:xfrm xmlns:a="http://schemas.openxmlformats.org/drawingml/2006/main">
            <a:off x="609600" y="422910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s6-law-0">
            <a:extLst xmlns:a="http://schemas.openxmlformats.org/drawingml/2006/main">
              <a:ext uri="{FF2B5EF4-FFF2-40B4-BE49-F238E27FC236}">
                <a16:creationId xmlns:a16="http://schemas.microsoft.com/office/drawing/2014/main" id="{EED7BDF8-85AE-49E2-A296-93627EA3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QMS · 问责 · AI 素养</a:t>
            </a:r>
          </a:p>
        </p:txBody>
      </p:sp>
      <p:sp>
        <p:nvSpPr>
          <p:cNvPr id="14" name="s6-box-1">
            <a:extLst xmlns:a="http://schemas.openxmlformats.org/drawingml/2006/main">
              <a:ext uri="{FF2B5EF4-FFF2-40B4-BE49-F238E27FC236}">
                <a16:creationId xmlns:a16="http://schemas.microsoft.com/office/drawing/2014/main" id="{D6AF1A19-A3B3-408A-9498-D76E14C4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457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6-k-1">
            <a:extLst xmlns:a="http://schemas.openxmlformats.org/drawingml/2006/main">
              <a:ext uri="{FF2B5EF4-FFF2-40B4-BE49-F238E27FC236}">
                <a16:creationId xmlns:a16="http://schemas.microsoft.com/office/drawing/2014/main" id="{D572EC44-7B30-45CB-9403-0B650265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05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MAP</a:t>
            </a:r>
          </a:p>
        </p:txBody>
      </p:sp>
      <p:sp>
        <p:nvSpPr>
          <p:cNvPr id="16" name="s6-zh-1">
            <a:extLst xmlns:a="http://schemas.openxmlformats.org/drawingml/2006/main">
              <a:ext uri="{FF2B5EF4-FFF2-40B4-BE49-F238E27FC236}">
                <a16:creationId xmlns:a16="http://schemas.microsoft.com/office/drawing/2014/main" id="{5C413B42-B0B3-432C-89DE-2EE96C6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955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识别</a:t>
            </a:r>
          </a:p>
        </p:txBody>
      </p:sp>
      <p:sp>
        <p:nvSpPr>
          <p:cNvPr id="17" name="s6-body-1">
            <a:extLst xmlns:a="http://schemas.openxmlformats.org/drawingml/2006/main">
              <a:ext uri="{FF2B5EF4-FFF2-40B4-BE49-F238E27FC236}">
                <a16:creationId xmlns:a16="http://schemas.microsoft.com/office/drawing/2014/main" id="{6D8347D8-DF6F-49A2-87CC-D047E05D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718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用途、利益相关方、风险分类与影响</a:t>
            </a:r>
          </a:p>
        </p:txBody>
      </p:sp>
      <p:cxnSp>
        <p:nvCxnSpPr>
          <p:cNvPr id="51" name="s6-rule-1"/>
          <p:cNvCxnSpPr/>
          <p:nvPr/>
        </p:nvCxnSpPr>
        <p:spPr>
          <a:xfrm xmlns:a="http://schemas.openxmlformats.org/drawingml/2006/main">
            <a:off x="3514725" y="422910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s6-law-1">
            <a:extLst xmlns:a="http://schemas.openxmlformats.org/drawingml/2006/main">
              <a:ext uri="{FF2B5EF4-FFF2-40B4-BE49-F238E27FC236}">
                <a16:creationId xmlns:a16="http://schemas.microsoft.com/office/drawing/2014/main" id="{E8A45BA7-00B6-4085-A317-E9A20767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910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禁止实践 · 高风险分类 · FRIA</a:t>
            </a:r>
          </a:p>
        </p:txBody>
      </p:sp>
      <p:sp>
        <p:nvSpPr>
          <p:cNvPr id="20" name="s6-box-2">
            <a:extLst xmlns:a="http://schemas.openxmlformats.org/drawingml/2006/main">
              <a:ext uri="{FF2B5EF4-FFF2-40B4-BE49-F238E27FC236}">
                <a16:creationId xmlns:a16="http://schemas.microsoft.com/office/drawing/2014/main" id="{AF04E66E-5B95-432D-9A9A-D433E307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457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6-k-2">
            <a:extLst xmlns:a="http://schemas.openxmlformats.org/drawingml/2006/main">
              <a:ext uri="{FF2B5EF4-FFF2-40B4-BE49-F238E27FC236}">
                <a16:creationId xmlns:a16="http://schemas.microsoft.com/office/drawing/2014/main" id="{9E7AE196-30F4-4C62-BF3D-D4D2C927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MEASURE</a:t>
            </a:r>
          </a:p>
        </p:txBody>
      </p:sp>
      <p:sp>
        <p:nvSpPr>
          <p:cNvPr id="22" name="s6-zh-2">
            <a:extLst xmlns:a="http://schemas.openxmlformats.org/drawingml/2006/main">
              <a:ext uri="{FF2B5EF4-FFF2-40B4-BE49-F238E27FC236}">
                <a16:creationId xmlns:a16="http://schemas.microsoft.com/office/drawing/2014/main" id="{37D30518-DB9B-49AD-9502-E178A843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度量</a:t>
            </a:r>
          </a:p>
        </p:txBody>
      </p:sp>
      <p:sp>
        <p:nvSpPr>
          <p:cNvPr id="23" name="s6-body-2">
            <a:extLst xmlns:a="http://schemas.openxmlformats.org/drawingml/2006/main">
              <a:ext uri="{FF2B5EF4-FFF2-40B4-BE49-F238E27FC236}">
                <a16:creationId xmlns:a16="http://schemas.microsoft.com/office/drawing/2014/main" id="{2D7C698A-9CAD-4278-A1EC-17EF415C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安全、公平、稳健性、红队与评估</a:t>
            </a:r>
          </a:p>
        </p:txBody>
      </p:sp>
      <p:cxnSp>
        <p:nvCxnSpPr>
          <p:cNvPr id="57" name="s6-rule-2"/>
          <p:cNvCxnSpPr/>
          <p:nvPr/>
        </p:nvCxnSpPr>
        <p:spPr>
          <a:xfrm xmlns:a="http://schemas.openxmlformats.org/drawingml/2006/main">
            <a:off x="6419850" y="422910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s6-law-2">
            <a:extLst xmlns:a="http://schemas.openxmlformats.org/drawingml/2006/main">
              <a:ext uri="{FF2B5EF4-FFF2-40B4-BE49-F238E27FC236}">
                <a16:creationId xmlns:a16="http://schemas.microsoft.com/office/drawing/2014/main" id="{ABE12649-12B6-41FE-AA08-00DFCEAE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准确性 · 稳健性 · 网络安全</a:t>
            </a:r>
          </a:p>
        </p:txBody>
      </p:sp>
      <p:sp>
        <p:nvSpPr>
          <p:cNvPr id="26" name="s6-box-3">
            <a:extLst xmlns:a="http://schemas.openxmlformats.org/drawingml/2006/main">
              <a:ext uri="{FF2B5EF4-FFF2-40B4-BE49-F238E27FC236}">
                <a16:creationId xmlns:a16="http://schemas.microsoft.com/office/drawing/2014/main" id="{7742A942-D08A-476B-96C2-7C835725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95500"/>
            <a:ext cx="2457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6-k-3">
            <a:extLst xmlns:a="http://schemas.openxmlformats.org/drawingml/2006/main">
              <a:ext uri="{FF2B5EF4-FFF2-40B4-BE49-F238E27FC236}">
                <a16:creationId xmlns:a16="http://schemas.microsoft.com/office/drawing/2014/main" id="{B1FE1AF6-D776-4237-B882-E6991D0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05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MANAGE</a:t>
            </a:r>
          </a:p>
        </p:txBody>
      </p:sp>
      <p:sp>
        <p:nvSpPr>
          <p:cNvPr id="28" name="s6-zh-3">
            <a:extLst xmlns:a="http://schemas.openxmlformats.org/drawingml/2006/main">
              <a:ext uri="{FF2B5EF4-FFF2-40B4-BE49-F238E27FC236}">
                <a16:creationId xmlns:a16="http://schemas.microsoft.com/office/drawing/2014/main" id="{7150328F-6B76-4997-8D49-FE09D85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95575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处置</a:t>
            </a:r>
          </a:p>
        </p:txBody>
      </p:sp>
      <p:sp>
        <p:nvSpPr>
          <p:cNvPr id="29" name="s6-body-3">
            <a:extLst xmlns:a="http://schemas.openxmlformats.org/drawingml/2006/main">
              <a:ext uri="{FF2B5EF4-FFF2-40B4-BE49-F238E27FC236}">
                <a16:creationId xmlns:a16="http://schemas.microsoft.com/office/drawing/2014/main" id="{B71FBFB7-2234-4EB2-821A-32D09278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71850"/>
            <a:ext cx="2038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缓解、人工监督、监控、反馈与事件</a:t>
            </a:r>
          </a:p>
        </p:txBody>
      </p:sp>
      <p:cxnSp>
        <p:nvCxnSpPr>
          <p:cNvPr id="63" name="s6-rule-3"/>
          <p:cNvCxnSpPr/>
          <p:nvPr/>
        </p:nvCxnSpPr>
        <p:spPr>
          <a:xfrm xmlns:a="http://schemas.openxmlformats.org/drawingml/2006/main">
            <a:off x="9324975" y="422910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s6-law-3">
            <a:extLst xmlns:a="http://schemas.openxmlformats.org/drawingml/2006/main">
              <a:ext uri="{FF2B5EF4-FFF2-40B4-BE49-F238E27FC236}">
                <a16:creationId xmlns:a16="http://schemas.microsoft.com/office/drawing/2014/main" id="{F37CF3D6-718F-4C5D-A4BA-AE4030DD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910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上市后监测 · 纠正 · 严重事件</a:t>
            </a:r>
          </a:p>
        </p:txBody>
      </p:sp>
      <p:sp>
        <p:nvSpPr>
          <p:cNvPr id="32" name="s6-bottom">
            <a:extLst xmlns:a="http://schemas.openxmlformats.org/drawingml/2006/main">
              <a:ext uri="{FF2B5EF4-FFF2-40B4-BE49-F238E27FC236}">
                <a16:creationId xmlns:a16="http://schemas.microsoft.com/office/drawing/2014/main" id="{8D1A0F1B-E8AB-4B86-90B1-69C9B53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6-bottom-text">
            <a:extLst xmlns:a="http://schemas.openxmlformats.org/drawingml/2006/main">
              <a:ext uri="{FF2B5EF4-FFF2-40B4-BE49-F238E27FC236}">
                <a16:creationId xmlns:a16="http://schemas.microsoft.com/office/drawing/2014/main" id="{2FCCA137-BC4E-4075-AE1F-A1734D9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89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微软优势：发布前审查已制度化；关键要求：把同一证据链延伸到版本变更、客户配置与上线后事件。</a:t>
            </a:r>
          </a:p>
        </p:txBody>
      </p:sp>
    </p:spTree>
    <p:extLst>
      <p:ext uri="{BB962C8B-B14F-4D97-AF65-F5344CB8AC3E}">
        <p14:creationId xmlns:p14="http://schemas.microsoft.com/office/powerpoint/2010/main" val="1111085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7">
            <a:extLst xmlns:a="http://schemas.openxmlformats.org/drawingml/2006/main">
              <a:ext uri="{FF2B5EF4-FFF2-40B4-BE49-F238E27FC236}">
                <a16:creationId xmlns:a16="http://schemas.microsoft.com/office/drawing/2014/main" id="{57B77F24-41C3-49FC-97F6-ACD995DE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NEAR-TERM OBLIGATIONS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1D7656C-DCB4-40E0-BE82-E9877D8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禁止实践与 AI 素养：最强适配项仍需可审计证明</a:t>
            </a:r>
          </a:p>
        </p:txBody>
      </p:sp>
      <p:cxnSp>
        <p:nvCxnSpPr>
          <p:cNvPr id="15" name="title-rule-7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AB216D8A-2A57-4917-8866-7930D407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s7-callout">
            <a:extLst xmlns:a="http://schemas.openxmlformats.org/drawingml/2006/main">
              <a:ext uri="{FF2B5EF4-FFF2-40B4-BE49-F238E27FC236}">
                <a16:creationId xmlns:a16="http://schemas.microsoft.com/office/drawing/2014/main" id="{580133FB-C234-4955-8B86-20A0A28F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callout-text">
            <a:extLst xmlns:a="http://schemas.openxmlformats.org/drawingml/2006/main">
              <a:ext uri="{FF2B5EF4-FFF2-40B4-BE49-F238E27FC236}">
                <a16:creationId xmlns:a16="http://schemas.microsoft.com/office/drawing/2014/main" id="{1A39C830-6158-495A-B624-D86F2ACE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7D32"/>
                </a:solidFill>
                <a:latin typeface="PingFang SC"/>
                <a:ea typeface="PingFang SC"/>
                <a:cs typeface="PingFang SC"/>
              </a:rPr>
              <a:t>适配度：高　|　法案已适用　|　客户改变预期用途时，风险分类必须重做</a:t>
            </a:r>
          </a:p>
        </p:txBody>
      </p:sp>
      <p:sp>
        <p:nvSpPr>
          <p:cNvPr id="7" name="s7-left-title">
            <a:extLst xmlns:a="http://schemas.openxmlformats.org/drawingml/2006/main">
              <a:ext uri="{FF2B5EF4-FFF2-40B4-BE49-F238E27FC236}">
                <a16:creationId xmlns:a16="http://schemas.microsoft.com/office/drawing/2014/main" id="{778ED70F-0B6F-4C9B-B075-A8D49137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微软公开控制</a:t>
            </a:r>
          </a:p>
        </p:txBody>
      </p:sp>
      <p:sp>
        <p:nvSpPr>
          <p:cNvPr id="8" name="s7-left-body">
            <a:extLst xmlns:a="http://schemas.openxmlformats.org/drawingml/2006/main">
              <a:ext uri="{FF2B5EF4-FFF2-40B4-BE49-F238E27FC236}">
                <a16:creationId xmlns:a16="http://schemas.microsoft.com/office/drawing/2014/main" id="{5F31FCD4-D24D-4188-B7F3-1310A2CB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1435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　Restricted Use Policy 纳入法案禁止实践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　对已上市系统进行集中盘点与筛查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　中央工作流保留问题、复核与升级记录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　更新合同，限制客户不当使用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　员工在开发 / 部署前查阅政策并接受培训</a:t>
            </a:r>
          </a:p>
        </p:txBody>
      </p:sp>
      <p:cxnSp>
        <p:nvCxnSpPr>
          <p:cNvPr id="21" name="s7-divider"/>
          <p:cNvCxnSpPr/>
          <p:nvPr/>
        </p:nvCxnSpPr>
        <p:spPr>
          <a:xfrm xmlns:a="http://schemas.openxmlformats.org/drawingml/2006/main">
            <a:off x="5905500" y="2381250"/>
            <a:ext cx="0" cy="3600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s7-right-title">
            <a:extLst xmlns:a="http://schemas.openxmlformats.org/drawingml/2006/main">
              <a:ext uri="{FF2B5EF4-FFF2-40B4-BE49-F238E27FC236}">
                <a16:creationId xmlns:a16="http://schemas.microsoft.com/office/drawing/2014/main" id="{929C5E34-09AE-4CF8-A0E4-7BCC9E51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审计需要看到的证据</a:t>
            </a:r>
          </a:p>
        </p:txBody>
      </p:sp>
      <p:sp>
        <p:nvSpPr>
          <p:cNvPr id="11" name="s7-right-body">
            <a:extLst xmlns:a="http://schemas.openxmlformats.org/drawingml/2006/main">
              <a:ext uri="{FF2B5EF4-FFF2-40B4-BE49-F238E27FC236}">
                <a16:creationId xmlns:a16="http://schemas.microsoft.com/office/drawing/2014/main" id="{FDC2BC9F-D057-4A6D-89D0-AE6E515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52197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系统清册是否覆盖模型、平台、应用与定制代理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禁止用途筛查是否随版本与用途变化触发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角色化 AI 素养课程、完成率与能力评估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例外申请、拒绝记录与高层升级轨迹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合同限制能否被技术策略和监控共同执行</a:t>
            </a:r>
          </a:p>
        </p:txBody>
      </p:sp>
      <p:sp>
        <p:nvSpPr>
          <p:cNvPr id="12" name="s7-foot">
            <a:extLst xmlns:a="http://schemas.openxmlformats.org/drawingml/2006/main">
              <a:ext uri="{FF2B5EF4-FFF2-40B4-BE49-F238E27FC236}">
                <a16:creationId xmlns:a16="http://schemas.microsoft.com/office/drawing/2014/main" id="{470B13E8-1EA2-458B-8C1E-1277CF47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判断：微软公司级政策设计足以支撑第 5 条与第 4 条；合规风险主要转向覆盖范围和持续执行。</a:t>
            </a:r>
          </a:p>
        </p:txBody>
      </p:sp>
    </p:spTree>
    <p:extLst>
      <p:ext uri="{BB962C8B-B14F-4D97-AF65-F5344CB8AC3E}">
        <p14:creationId xmlns:p14="http://schemas.microsoft.com/office/powerpoint/2010/main" val="1549669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47DA1D7F-3D3D-4DB5-8FE7-1CB4BFA7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HIGH-RISK MAPPING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4D602DA-2B49-4D9F-8226-C64EC41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高风险系统：控制组件齐全，合格评定证据尚需产品化</a:t>
            </a:r>
          </a:p>
        </p:txBody>
      </p:sp>
      <p:cxnSp>
        <p:nvCxnSpPr>
          <p:cNvPr id="10" name="title-rule-8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31F93748-893E-4307-913E-62A50364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s8-sub">
            <a:extLst xmlns:a="http://schemas.openxmlformats.org/drawingml/2006/main">
              <a:ext uri="{FF2B5EF4-FFF2-40B4-BE49-F238E27FC236}">
                <a16:creationId xmlns:a16="http://schemas.microsoft.com/office/drawing/2014/main" id="{2F56B45D-728A-41B4-8443-4012F2D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高风险规则已延至 2027/2028，但现在应按目标状态做干运行；下表为公开证据评估。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048000"/>
                <a:gridCol w="5010150"/>
                <a:gridCol w="1714500"/>
              </a:tblGrid>
              <a:tr h="500063"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义务域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欧盟要求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微软公开控制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风险管理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全生命周期风险管理体系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RAI Standard；Map/Measure/Manage；发布前审查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2E7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较强</a:t>
                      </a:r>
                    </a:p>
                  </a:txBody>
                  <a:tcPr marL="91440" marR="91440" marT="45720" marB="45720">
                    <a:solidFill>
                      <a:srgbClr val="EAF5EA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数据治理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训练/验证/测试数据质量与代表性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隐私、安全、Purview 与工程实践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需场景证据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文档与透明度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技术文档、使用说明、下游信息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Transparency Notes；集中式文档工作流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2E7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较强</a:t>
                      </a:r>
                    </a:p>
                  </a:txBody>
                  <a:tcPr marL="91440" marR="91440" marT="45720" marB="45720">
                    <a:solidFill>
                      <a:srgbClr val="EAF5EA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日志与可追溯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自动日志、记录保存、版本追踪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Azure 日志与监控能力；客户需配置留存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078D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共享责任</a:t>
                      </a:r>
                    </a:p>
                  </a:txBody>
                  <a:tcPr marL="91440" marR="91440" marT="45720" marB="45720">
                    <a:solidFill>
                      <a:srgbClr val="E7F3FB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人工监督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可理解、可干预、具备授权与能力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RAI Standard；产品级人工控制；客户流程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0078D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共享责任</a:t>
                      </a:r>
                    </a:p>
                  </a:txBody>
                  <a:tcPr marL="91440" marR="91440" marT="45720" marB="45720">
                    <a:solidFill>
                      <a:srgbClr val="E7F3FB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稳健与安全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准确性、鲁棒性、网络安全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红队、PyRIT、Content Safety、Secure Future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2E7D3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较强</a:t>
                      </a:r>
                    </a:p>
                  </a:txBody>
                  <a:tcPr marL="91440" marR="91440" marT="45720" marB="45720">
                    <a:solidFill>
                      <a:srgbClr val="EAF5EA"/>
                    </a:solidFill>
                  </a:tcPr>
                </a:tc>
              </a:tr>
              <a:tr h="500063">
                <a:tc>
                  <a:txBody>
                    <a:bodyPr anchor="ctr"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QMS / 合格评定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质量体系、评估、登记、上市后监测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跨职能合规工作组；标准仍在演进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C6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关键缺口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7" name="s8-foot">
            <a:extLst xmlns:a="http://schemas.openxmlformats.org/drawingml/2006/main">
              <a:ext uri="{FF2B5EF4-FFF2-40B4-BE49-F238E27FC236}">
                <a16:creationId xmlns:a16="http://schemas.microsoft.com/office/drawing/2014/main" id="{3B77146A-8E96-4F1D-9395-9F85F83E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“较强”表示存在公开控制证据，不代表特定产品已完成欧盟合格评定。</a:t>
            </a:r>
          </a:p>
        </p:txBody>
      </p:sp>
    </p:spTree>
    <p:extLst>
      <p:ext uri="{BB962C8B-B14F-4D97-AF65-F5344CB8AC3E}">
        <p14:creationId xmlns:p14="http://schemas.microsoft.com/office/powerpoint/2010/main" val="2014819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9">
            <a:extLst xmlns:a="http://schemas.openxmlformats.org/drawingml/2006/main">
              <a:ext uri="{FF2B5EF4-FFF2-40B4-BE49-F238E27FC236}">
                <a16:creationId xmlns:a16="http://schemas.microsoft.com/office/drawing/2014/main" id="{24511AC8-E8A8-4192-9757-576C800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GENERAL-PURPOSE AI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7BA4B02-A375-40A9-8160-BE71A8E0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GPAI：签署行为准则是优势，模型供应链仍是核心考题</a:t>
            </a:r>
          </a:p>
        </p:txBody>
      </p:sp>
      <p:cxnSp>
        <p:nvCxnSpPr>
          <p:cNvPr id="15" name="title-rule-9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15F8CC68-AAE6-4485-8AA0-14BFBE96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s9-lead">
            <a:extLst xmlns:a="http://schemas.openxmlformats.org/drawingml/2006/main">
              <a:ext uri="{FF2B5EF4-FFF2-40B4-BE49-F238E27FC236}">
                <a16:creationId xmlns:a16="http://schemas.microsoft.com/office/drawing/2014/main" id="{48D903D7-7272-40BC-B455-41B4541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0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微软既可能是 Phi 等模型的提供者，也可能是模型平台、集成商或应用部署者；角色必须按每项服务认定。</a:t>
            </a:r>
          </a:p>
        </p:txBody>
      </p:sp>
      <p:sp>
        <p:nvSpPr>
          <p:cNvPr id="6" name="s9-left-panel">
            <a:extLst xmlns:a="http://schemas.openxmlformats.org/drawingml/2006/main">
              <a:ext uri="{FF2B5EF4-FFF2-40B4-BE49-F238E27FC236}">
                <a16:creationId xmlns:a16="http://schemas.microsoft.com/office/drawing/2014/main" id="{F3DCDB50-759D-488B-84F3-51133682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429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9-left-header">
            <a:extLst xmlns:a="http://schemas.openxmlformats.org/drawingml/2006/main">
              <a:ext uri="{FF2B5EF4-FFF2-40B4-BE49-F238E27FC236}">
                <a16:creationId xmlns:a16="http://schemas.microsoft.com/office/drawing/2014/main" id="{7203D322-674F-4951-A6A3-8F9F161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所有 GPAI 提供者</a:t>
            </a:r>
          </a:p>
        </p:txBody>
      </p:sp>
      <p:sp>
        <p:nvSpPr>
          <p:cNvPr id="8" name="s9-left-body">
            <a:extLst xmlns:a="http://schemas.openxmlformats.org/drawingml/2006/main">
              <a:ext uri="{FF2B5EF4-FFF2-40B4-BE49-F238E27FC236}">
                <a16:creationId xmlns:a16="http://schemas.microsoft.com/office/drawing/2014/main" id="{36C5E346-11C2-4F21-8726-80104BAC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972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向 AI Office 维护技术文档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向下游系统提供者交付能力 / 限制信息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实施欧盟版权合规政策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发布训练内容摘要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非欧盟提供者指定授权代表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微软证据：Transparency Notes、Phi 发布审查、集中文档流程；已列为 GPAI 行为准则签署方。</a:t>
            </a:r>
          </a:p>
        </p:txBody>
      </p:sp>
      <p:sp>
        <p:nvSpPr>
          <p:cNvPr id="9" name="s9-right-panel">
            <a:extLst xmlns:a="http://schemas.openxmlformats.org/drawingml/2006/main">
              <a:ext uri="{FF2B5EF4-FFF2-40B4-BE49-F238E27FC236}">
                <a16:creationId xmlns:a16="http://schemas.microsoft.com/office/drawing/2014/main" id="{3E2F3CEF-313F-4BAC-8D0F-8961B0F4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429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9-right-header">
            <a:extLst xmlns:a="http://schemas.openxmlformats.org/drawingml/2006/main">
              <a:ext uri="{FF2B5EF4-FFF2-40B4-BE49-F238E27FC236}">
                <a16:creationId xmlns:a16="http://schemas.microsoft.com/office/drawing/2014/main" id="{294E7B91-6C38-4C99-89D6-2634D350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系统性风险模型追加义务</a:t>
            </a:r>
          </a:p>
        </p:txBody>
      </p:sp>
      <p:sp>
        <p:nvSpPr>
          <p:cNvPr id="11" name="s9-right-body">
            <a:extLst xmlns:a="http://schemas.openxmlformats.org/drawingml/2006/main">
              <a:ext uri="{FF2B5EF4-FFF2-40B4-BE49-F238E27FC236}">
                <a16:creationId xmlns:a16="http://schemas.microsoft.com/office/drawing/2014/main" id="{474FBE3F-D878-4CF6-828E-6A9170AD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48000"/>
            <a:ext cx="49720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通知欧委会并持续模型评估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识别与缓解系统性风险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报告严重事件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确保模型网络安全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提供安全与安全框架 / 模型报告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关键挑战：OpenAI 与其他模型伙伴的信息传递、角色边界、模型版本变化及合同承诺必须一致。</a:t>
            </a:r>
          </a:p>
        </p:txBody>
      </p:sp>
      <p:sp>
        <p:nvSpPr>
          <p:cNvPr id="12" name="s9-foot">
            <a:extLst xmlns:a="http://schemas.openxmlformats.org/drawingml/2006/main">
              <a:ext uri="{FF2B5EF4-FFF2-40B4-BE49-F238E27FC236}">
                <a16:creationId xmlns:a16="http://schemas.microsoft.com/office/drawing/2014/main" id="{62CA10CB-1275-404B-8E81-BA0BA9AF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2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执法权自 2026.08.02 生效；2025.08.02 前上市的 GPAI 模型可在 2027.08.02 前完成相关过渡义务。</a:t>
            </a:r>
          </a:p>
        </p:txBody>
      </p:sp>
    </p:spTree>
    <p:extLst>
      <p:ext uri="{BB962C8B-B14F-4D97-AF65-F5344CB8AC3E}">
        <p14:creationId xmlns:p14="http://schemas.microsoft.com/office/powerpoint/2010/main" val="18442548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10">
            <a:extLst xmlns:a="http://schemas.openxmlformats.org/drawingml/2006/main">
              <a:ext uri="{FF2B5EF4-FFF2-40B4-BE49-F238E27FC236}">
                <a16:creationId xmlns:a16="http://schemas.microsoft.com/office/drawing/2014/main" id="{B17D03F7-BF18-404B-97A6-05E431EC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ARTICLE 50 TRANSPARENCY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E738935A-02D3-4D17-AD8A-91162FE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50 条已生效：透明度必须穿透生成、界面与分发</a:t>
            </a:r>
          </a:p>
        </p:txBody>
      </p:sp>
      <p:cxnSp>
        <p:nvCxnSpPr>
          <p:cNvPr id="38" name="title-rule-10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4ECA6A2A-3BCF-4B02-B8D0-6ADD151E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cxnSp>
        <p:nvCxnSpPr>
          <p:cNvPr id="40" name="s10-arrow-0"/>
          <p:cNvCxnSpPr/>
          <p:nvPr/>
        </p:nvCxnSpPr>
        <p:spPr>
          <a:xfrm xmlns:a="http://schemas.openxmlformats.org/drawingml/2006/main">
            <a:off x="2152650" y="30670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cxnSp>
        <p:nvCxnSpPr>
          <p:cNvPr id="41" name="s10-arrow-1"/>
          <p:cNvCxnSpPr/>
          <p:nvPr/>
        </p:nvCxnSpPr>
        <p:spPr>
          <a:xfrm xmlns:a="http://schemas.openxmlformats.org/drawingml/2006/main">
            <a:off x="4486275" y="30670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cxnSp>
        <p:nvCxnSpPr>
          <p:cNvPr id="42" name="s10-arrow-2"/>
          <p:cNvCxnSpPr/>
          <p:nvPr/>
        </p:nvCxnSpPr>
        <p:spPr>
          <a:xfrm xmlns:a="http://schemas.openxmlformats.org/drawingml/2006/main">
            <a:off x="6819900" y="30670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cxnSp>
        <p:nvCxnSpPr>
          <p:cNvPr id="43" name="s10-arrow-3"/>
          <p:cNvCxnSpPr/>
          <p:nvPr/>
        </p:nvCxnSpPr>
        <p:spPr>
          <a:xfrm xmlns:a="http://schemas.openxmlformats.org/drawingml/2006/main">
            <a:off x="9153525" y="30670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8D4"/>
            </a:solidFill>
            <a:prstDash val="solid"/>
          </a:ln>
        </p:spPr>
      </p:cxnSp>
      <p:sp>
        <p:nvSpPr>
          <p:cNvPr id="9" name="s10-box-0">
            <a:extLst xmlns:a="http://schemas.openxmlformats.org/drawingml/2006/main">
              <a:ext uri="{FF2B5EF4-FFF2-40B4-BE49-F238E27FC236}">
                <a16:creationId xmlns:a16="http://schemas.microsoft.com/office/drawing/2014/main" id="{F3F268F3-09CE-467F-B11B-4271162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695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0-num-0">
            <a:extLst xmlns:a="http://schemas.openxmlformats.org/drawingml/2006/main">
              <a:ext uri="{FF2B5EF4-FFF2-40B4-BE49-F238E27FC236}">
                <a16:creationId xmlns:a16="http://schemas.microsoft.com/office/drawing/2014/main" id="{7096AF59-E2B0-4EBA-940C-4674AB26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s10-title-0">
            <a:extLst xmlns:a="http://schemas.openxmlformats.org/drawingml/2006/main">
              <a:ext uri="{FF2B5EF4-FFF2-40B4-BE49-F238E27FC236}">
                <a16:creationId xmlns:a16="http://schemas.microsoft.com/office/drawing/2014/main" id="{318A5009-886E-4B1E-BD60-DE9CEEE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模型输出</a:t>
            </a:r>
          </a:p>
        </p:txBody>
      </p:sp>
      <p:sp>
        <p:nvSpPr>
          <p:cNvPr id="12" name="s10-body-0">
            <a:extLst xmlns:a="http://schemas.openxmlformats.org/drawingml/2006/main">
              <a:ext uri="{FF2B5EF4-FFF2-40B4-BE49-F238E27FC236}">
                <a16:creationId xmlns:a16="http://schemas.microsoft.com/office/drawing/2014/main" id="{C54666A0-D57E-414B-8443-2E7BDA1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识别生成 / 操纵内容</a:t>
            </a:r>
          </a:p>
        </p:txBody>
      </p:sp>
      <p:sp>
        <p:nvSpPr>
          <p:cNvPr id="13" name="s10-box-1">
            <a:extLst xmlns:a="http://schemas.openxmlformats.org/drawingml/2006/main">
              <a:ext uri="{FF2B5EF4-FFF2-40B4-BE49-F238E27FC236}">
                <a16:creationId xmlns:a16="http://schemas.microsoft.com/office/drawing/2014/main" id="{F8E0C066-09CC-4155-95FD-74F3B79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695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0-num-1">
            <a:extLst xmlns:a="http://schemas.openxmlformats.org/drawingml/2006/main">
              <a:ext uri="{FF2B5EF4-FFF2-40B4-BE49-F238E27FC236}">
                <a16:creationId xmlns:a16="http://schemas.microsoft.com/office/drawing/2014/main" id="{5E40AC1B-C065-4F89-B7BA-EEFEEE7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s10-title-1">
            <a:extLst xmlns:a="http://schemas.openxmlformats.org/drawingml/2006/main">
              <a:ext uri="{FF2B5EF4-FFF2-40B4-BE49-F238E27FC236}">
                <a16:creationId xmlns:a16="http://schemas.microsoft.com/office/drawing/2014/main" id="{0527BC99-E551-49CF-BD16-DB85CA4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机器可读标记</a:t>
            </a:r>
          </a:p>
        </p:txBody>
      </p:sp>
      <p:sp>
        <p:nvSpPr>
          <p:cNvPr id="16" name="s10-body-1">
            <a:extLst xmlns:a="http://schemas.openxmlformats.org/drawingml/2006/main">
              <a:ext uri="{FF2B5EF4-FFF2-40B4-BE49-F238E27FC236}">
                <a16:creationId xmlns:a16="http://schemas.microsoft.com/office/drawing/2014/main" id="{909D5675-026A-47C2-962B-F19C6E53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33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92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元数据、来源与可检测性</a:t>
            </a:r>
          </a:p>
        </p:txBody>
      </p:sp>
      <p:sp>
        <p:nvSpPr>
          <p:cNvPr id="17" name="s10-box-2">
            <a:extLst xmlns:a="http://schemas.openxmlformats.org/drawingml/2006/main">
              <a:ext uri="{FF2B5EF4-FFF2-40B4-BE49-F238E27FC236}">
                <a16:creationId xmlns:a16="http://schemas.microsoft.com/office/drawing/2014/main" id="{28E3A743-EB65-4AC3-8140-041532FC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695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0-num-2">
            <a:extLst xmlns:a="http://schemas.openxmlformats.org/drawingml/2006/main">
              <a:ext uri="{FF2B5EF4-FFF2-40B4-BE49-F238E27FC236}">
                <a16:creationId xmlns:a16="http://schemas.microsoft.com/office/drawing/2014/main" id="{53A240B3-F24E-4C23-BC26-3E657F6D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s10-title-2">
            <a:extLst xmlns:a="http://schemas.openxmlformats.org/drawingml/2006/main">
              <a:ext uri="{FF2B5EF4-FFF2-40B4-BE49-F238E27FC236}">
                <a16:creationId xmlns:a16="http://schemas.microsoft.com/office/drawing/2014/main" id="{F2E9AD5F-20DF-4103-93F7-EE988A72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界面告知</a:t>
            </a:r>
          </a:p>
        </p:txBody>
      </p:sp>
      <p:sp>
        <p:nvSpPr>
          <p:cNvPr id="20" name="s10-body-2">
            <a:extLst xmlns:a="http://schemas.openxmlformats.org/drawingml/2006/main">
              <a:ext uri="{FF2B5EF4-FFF2-40B4-BE49-F238E27FC236}">
                <a16:creationId xmlns:a16="http://schemas.microsoft.com/office/drawing/2014/main" id="{FA55AD4A-C0AA-4A9E-8752-897186C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明确说明用户正在与 AI 交互</a:t>
            </a:r>
          </a:p>
        </p:txBody>
      </p:sp>
      <p:sp>
        <p:nvSpPr>
          <p:cNvPr id="21" name="s10-box-3">
            <a:extLst xmlns:a="http://schemas.openxmlformats.org/drawingml/2006/main">
              <a:ext uri="{FF2B5EF4-FFF2-40B4-BE49-F238E27FC236}">
                <a16:creationId xmlns:a16="http://schemas.microsoft.com/office/drawing/2014/main" id="{1BA1AAFD-6BA1-4AC5-B924-7037CE6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81250"/>
            <a:ext cx="1695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0-num-3">
            <a:extLst xmlns:a="http://schemas.openxmlformats.org/drawingml/2006/main">
              <a:ext uri="{FF2B5EF4-FFF2-40B4-BE49-F238E27FC236}">
                <a16:creationId xmlns:a16="http://schemas.microsoft.com/office/drawing/2014/main" id="{1F6AABCE-7849-44BF-86FA-0971D83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s10-title-3">
            <a:extLst xmlns:a="http://schemas.openxmlformats.org/drawingml/2006/main">
              <a:ext uri="{FF2B5EF4-FFF2-40B4-BE49-F238E27FC236}">
                <a16:creationId xmlns:a16="http://schemas.microsoft.com/office/drawing/2014/main" id="{9353DA1A-147E-444E-9D07-45D7A779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场景披露</a:t>
            </a:r>
          </a:p>
        </p:txBody>
      </p:sp>
      <p:sp>
        <p:nvSpPr>
          <p:cNvPr id="24" name="s10-body-3">
            <a:extLst xmlns:a="http://schemas.openxmlformats.org/drawingml/2006/main">
              <a:ext uri="{FF2B5EF4-FFF2-40B4-BE49-F238E27FC236}">
                <a16:creationId xmlns:a16="http://schemas.microsoft.com/office/drawing/2014/main" id="{09F1749E-79B5-422C-BF99-B987750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333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深伪、情绪/生物特征、公共利益文本</a:t>
            </a:r>
          </a:p>
        </p:txBody>
      </p:sp>
      <p:sp>
        <p:nvSpPr>
          <p:cNvPr id="25" name="s10-box-4">
            <a:extLst xmlns:a="http://schemas.openxmlformats.org/drawingml/2006/main">
              <a:ext uri="{FF2B5EF4-FFF2-40B4-BE49-F238E27FC236}">
                <a16:creationId xmlns:a16="http://schemas.microsoft.com/office/drawing/2014/main" id="{9AC73130-3055-47C6-B1F0-CD57902F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16954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0-num-4">
            <a:extLst xmlns:a="http://schemas.openxmlformats.org/drawingml/2006/main">
              <a:ext uri="{FF2B5EF4-FFF2-40B4-BE49-F238E27FC236}">
                <a16:creationId xmlns:a16="http://schemas.microsoft.com/office/drawing/2014/main" id="{1F26A935-5996-4FA4-AAFB-814502E7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5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s10-title-4">
            <a:extLst xmlns:a="http://schemas.openxmlformats.org/drawingml/2006/main">
              <a:ext uri="{FF2B5EF4-FFF2-40B4-BE49-F238E27FC236}">
                <a16:creationId xmlns:a16="http://schemas.microsoft.com/office/drawing/2014/main" id="{C3FA987A-F3A1-4164-940F-2D70280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分发与审计</a:t>
            </a:r>
          </a:p>
        </p:txBody>
      </p:sp>
      <p:sp>
        <p:nvSpPr>
          <p:cNvPr id="28" name="s10-body-4">
            <a:extLst xmlns:a="http://schemas.openxmlformats.org/drawingml/2006/main">
              <a:ext uri="{FF2B5EF4-FFF2-40B4-BE49-F238E27FC236}">
                <a16:creationId xmlns:a16="http://schemas.microsoft.com/office/drawing/2014/main" id="{CB5A043F-E264-4D2E-AFA5-C2749F1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33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92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导出后保留标记并可回溯</a:t>
            </a:r>
          </a:p>
        </p:txBody>
      </p:sp>
      <p:sp>
        <p:nvSpPr>
          <p:cNvPr id="29" name="s10-left-h">
            <a:extLst xmlns:a="http://schemas.openxmlformats.org/drawingml/2006/main">
              <a:ext uri="{FF2B5EF4-FFF2-40B4-BE49-F238E27FC236}">
                <a16:creationId xmlns:a16="http://schemas.microsoft.com/office/drawing/2014/main" id="{8F23CC9D-A524-4F10-98C7-A837A2BF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微软可复用的能力</a:t>
            </a:r>
          </a:p>
        </p:txBody>
      </p:sp>
      <p:sp>
        <p:nvSpPr>
          <p:cNvPr id="30" name="s10-left-b">
            <a:extLst xmlns:a="http://schemas.openxmlformats.org/drawingml/2006/main">
              <a:ext uri="{FF2B5EF4-FFF2-40B4-BE49-F238E27FC236}">
                <a16:creationId xmlns:a16="http://schemas.microsoft.com/office/drawing/2014/main" id="{3E40C6CF-843E-4119-9B3B-093BFD7B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1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Transparency Notes、产品内告知、内容凭证实践、平台级安全与元数据能力。</a:t>
            </a:r>
          </a:p>
        </p:txBody>
      </p:sp>
      <p:cxnSp>
        <p:nvCxnSpPr>
          <p:cNvPr id="66" name="s10-divider"/>
          <p:cNvCxnSpPr/>
          <p:nvPr/>
        </p:nvCxnSpPr>
        <p:spPr>
          <a:xfrm xmlns:a="http://schemas.openxmlformats.org/drawingml/2006/main">
            <a:off x="5905500" y="4171950"/>
            <a:ext cx="0" cy="1581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2" name="s10-right-h">
            <a:extLst xmlns:a="http://schemas.openxmlformats.org/drawingml/2006/main">
              <a:ext uri="{FF2B5EF4-FFF2-40B4-BE49-F238E27FC236}">
                <a16:creationId xmlns:a16="http://schemas.microsoft.com/office/drawing/2014/main" id="{2859B566-B89C-4709-AB9A-625BAD2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6282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最容易失效的环节</a:t>
            </a:r>
          </a:p>
        </p:txBody>
      </p:sp>
      <p:sp>
        <p:nvSpPr>
          <p:cNvPr id="33" name="s10-right-b">
            <a:extLst xmlns:a="http://schemas.openxmlformats.org/drawingml/2006/main">
              <a:ext uri="{FF2B5EF4-FFF2-40B4-BE49-F238E27FC236}">
                <a16:creationId xmlns:a16="http://schemas.microsoft.com/office/drawing/2014/main" id="{E6C6D831-1A17-46B7-8BEA-B90B282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05350"/>
            <a:ext cx="5219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1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下游改写、截图/转码、第三方模型、旧系统、多语种和多模态会让标签丢失；必须做端到端验证。</a:t>
            </a:r>
          </a:p>
        </p:txBody>
      </p:sp>
      <p:sp>
        <p:nvSpPr>
          <p:cNvPr id="34" name="s10-legacy">
            <a:extLst xmlns:a="http://schemas.openxmlformats.org/drawingml/2006/main">
              <a:ext uri="{FF2B5EF4-FFF2-40B4-BE49-F238E27FC236}">
                <a16:creationId xmlns:a16="http://schemas.microsoft.com/office/drawing/2014/main" id="{39517E89-5C6C-4C5C-9398-E16BDFC3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10-legacy-t">
            <a:extLst xmlns:a="http://schemas.openxmlformats.org/drawingml/2006/main">
              <a:ext uri="{FF2B5EF4-FFF2-40B4-BE49-F238E27FC236}">
                <a16:creationId xmlns:a16="http://schemas.microsoft.com/office/drawing/2014/main" id="{4123AFDE-150B-499C-AA8D-72E429E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过渡：2026.08.02 前上市的生成式 AI 系统，其机器可读标记义务宽限至 2026.12.02。</a:t>
            </a:r>
          </a:p>
        </p:txBody>
      </p:sp>
    </p:spTree>
    <p:extLst>
      <p:ext uri="{BB962C8B-B14F-4D97-AF65-F5344CB8AC3E}">
        <p14:creationId xmlns:p14="http://schemas.microsoft.com/office/powerpoint/2010/main" val="2085779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11">
            <a:extLst xmlns:a="http://schemas.openxmlformats.org/drawingml/2006/main">
              <a:ext uri="{FF2B5EF4-FFF2-40B4-BE49-F238E27FC236}">
                <a16:creationId xmlns:a16="http://schemas.microsoft.com/office/drawing/2014/main" id="{46B4D18E-3292-4002-BAF2-2F2DD522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CUSTOMER ENABLEMENT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A30FF30E-B379-450C-B54F-A5EDEB68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微软工具栈可以加速合规，但不能替代客户的法律判断</a:t>
            </a:r>
          </a:p>
        </p:txBody>
      </p:sp>
      <p:cxnSp>
        <p:nvCxnSpPr>
          <p:cNvPr id="30" name="title-rule-11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2C47F5CD-ED43-405D-A4F0-2292C8C8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s11-lead">
            <a:extLst xmlns:a="http://schemas.openxmlformats.org/drawingml/2006/main">
              <a:ext uri="{FF2B5EF4-FFF2-40B4-BE49-F238E27FC236}">
                <a16:creationId xmlns:a16="http://schemas.microsoft.com/office/drawing/2014/main" id="{DBC58F16-29A1-4590-BB31-50D64FC2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最有效的组合是“分类—预防—测试—监测”形成同一证据流水线，而不是单点采购工具。</a:t>
            </a:r>
          </a:p>
        </p:txBody>
      </p:sp>
      <p:sp>
        <p:nvSpPr>
          <p:cNvPr id="6" name="s11-lane-0">
            <a:extLst xmlns:a="http://schemas.openxmlformats.org/drawingml/2006/main">
              <a:ext uri="{FF2B5EF4-FFF2-40B4-BE49-F238E27FC236}">
                <a16:creationId xmlns:a16="http://schemas.microsoft.com/office/drawing/2014/main" id="{C598B43D-3A52-4D65-B883-638DEBF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574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1-h-0">
            <a:extLst xmlns:a="http://schemas.openxmlformats.org/drawingml/2006/main">
              <a:ext uri="{FF2B5EF4-FFF2-40B4-BE49-F238E27FC236}">
                <a16:creationId xmlns:a16="http://schemas.microsoft.com/office/drawing/2014/main" id="{6EB55A27-9B63-4BDB-B797-BD166DB5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分类与评估</a:t>
            </a:r>
          </a:p>
        </p:txBody>
      </p:sp>
      <p:cxnSp>
        <p:nvCxnSpPr>
          <p:cNvPr id="35" name="s11-r-0"/>
          <p:cNvCxnSpPr/>
          <p:nvPr/>
        </p:nvCxnSpPr>
        <p:spPr>
          <a:xfrm xmlns:a="http://schemas.openxmlformats.org/drawingml/2006/main">
            <a:off x="609600" y="310515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s11-tools-0">
            <a:extLst xmlns:a="http://schemas.openxmlformats.org/drawingml/2006/main">
              <a:ext uri="{FF2B5EF4-FFF2-40B4-BE49-F238E27FC236}">
                <a16:creationId xmlns:a16="http://schemas.microsoft.com/office/drawing/2014/main" id="{6325D438-B52B-48B7-A88F-412AAE67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038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2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Purview Compliance Manager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EU AI Act 模板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Foundry evaluations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影响评估模板</a:t>
            </a:r>
          </a:p>
        </p:txBody>
      </p:sp>
      <p:sp>
        <p:nvSpPr>
          <p:cNvPr id="10" name="s11-use-0">
            <a:extLst xmlns:a="http://schemas.openxmlformats.org/drawingml/2006/main">
              <a:ext uri="{FF2B5EF4-FFF2-40B4-BE49-F238E27FC236}">
                <a16:creationId xmlns:a16="http://schemas.microsoft.com/office/drawing/2014/main" id="{0B523BBA-5BB2-4F14-8F9A-2892DF4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把义务转成控制与改进项</a:t>
            </a:r>
          </a:p>
        </p:txBody>
      </p:sp>
      <p:sp>
        <p:nvSpPr>
          <p:cNvPr id="11" name="s11-lane-1">
            <a:extLst xmlns:a="http://schemas.openxmlformats.org/drawingml/2006/main">
              <a:ext uri="{FF2B5EF4-FFF2-40B4-BE49-F238E27FC236}">
                <a16:creationId xmlns:a16="http://schemas.microsoft.com/office/drawing/2014/main" id="{CABECBDF-8EDE-4329-A26D-F47CC83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66950"/>
            <a:ext cx="24574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1-h-1">
            <a:extLst xmlns:a="http://schemas.openxmlformats.org/drawingml/2006/main">
              <a:ext uri="{FF2B5EF4-FFF2-40B4-BE49-F238E27FC236}">
                <a16:creationId xmlns:a16="http://schemas.microsoft.com/office/drawing/2014/main" id="{FD67CC19-2E69-4E3D-9CB6-2C420733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预防与约束</a:t>
            </a:r>
          </a:p>
        </p:txBody>
      </p:sp>
      <p:cxnSp>
        <p:nvCxnSpPr>
          <p:cNvPr id="40" name="s11-r-1"/>
          <p:cNvCxnSpPr/>
          <p:nvPr/>
        </p:nvCxnSpPr>
        <p:spPr>
          <a:xfrm xmlns:a="http://schemas.openxmlformats.org/drawingml/2006/main">
            <a:off x="3514725" y="310515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s11-tools-1">
            <a:extLst xmlns:a="http://schemas.openxmlformats.org/drawingml/2006/main">
              <a:ext uri="{FF2B5EF4-FFF2-40B4-BE49-F238E27FC236}">
                <a16:creationId xmlns:a16="http://schemas.microsoft.com/office/drawing/2014/main" id="{469CF803-5313-4A04-BE9C-09F0E9E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95650"/>
            <a:ext cx="2038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4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Azure AI Content Safety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Shields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Protected Material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Entra / Purview DLP</a:t>
            </a:r>
          </a:p>
        </p:txBody>
      </p:sp>
      <p:sp>
        <p:nvSpPr>
          <p:cNvPr id="15" name="s11-use-1">
            <a:extLst xmlns:a="http://schemas.openxmlformats.org/drawingml/2006/main">
              <a:ext uri="{FF2B5EF4-FFF2-40B4-BE49-F238E27FC236}">
                <a16:creationId xmlns:a16="http://schemas.microsoft.com/office/drawing/2014/main" id="{A3E81A54-452D-4191-B0D1-B868B2FC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577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过滤伤害、攻击与敏感数据</a:t>
            </a:r>
          </a:p>
        </p:txBody>
      </p:sp>
      <p:sp>
        <p:nvSpPr>
          <p:cNvPr id="16" name="s11-lane-2">
            <a:extLst xmlns:a="http://schemas.openxmlformats.org/drawingml/2006/main">
              <a:ext uri="{FF2B5EF4-FFF2-40B4-BE49-F238E27FC236}">
                <a16:creationId xmlns:a16="http://schemas.microsoft.com/office/drawing/2014/main" id="{8AB278FC-FF4B-4E9C-9FC5-CD310311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4574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1-h-2">
            <a:extLst xmlns:a="http://schemas.openxmlformats.org/drawingml/2006/main">
              <a:ext uri="{FF2B5EF4-FFF2-40B4-BE49-F238E27FC236}">
                <a16:creationId xmlns:a16="http://schemas.microsoft.com/office/drawing/2014/main" id="{C179E303-50E6-456F-95D2-94CF131F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测试与挑战</a:t>
            </a:r>
          </a:p>
        </p:txBody>
      </p:sp>
      <p:cxnSp>
        <p:nvCxnSpPr>
          <p:cNvPr id="45" name="s11-r-2"/>
          <p:cNvCxnSpPr/>
          <p:nvPr/>
        </p:nvCxnSpPr>
        <p:spPr>
          <a:xfrm xmlns:a="http://schemas.openxmlformats.org/drawingml/2006/main">
            <a:off x="6419850" y="310515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s11-tools-2">
            <a:extLst xmlns:a="http://schemas.openxmlformats.org/drawingml/2006/main">
              <a:ext uri="{FF2B5EF4-FFF2-40B4-BE49-F238E27FC236}">
                <a16:creationId xmlns:a16="http://schemas.microsoft.com/office/drawing/2014/main" id="{8F032584-7DD0-4A88-83F8-67ACE1C7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2038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PyRIT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Red Team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Groundedness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Adherence</a:t>
            </a:r>
          </a:p>
        </p:txBody>
      </p:sp>
      <p:sp>
        <p:nvSpPr>
          <p:cNvPr id="20" name="s11-use-2">
            <a:extLst xmlns:a="http://schemas.openxmlformats.org/drawingml/2006/main">
              <a:ext uri="{FF2B5EF4-FFF2-40B4-BE49-F238E27FC236}">
                <a16:creationId xmlns:a16="http://schemas.microsoft.com/office/drawing/2014/main" id="{EC7A8B53-73AA-4952-A6A2-56D3320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577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验证失效模式与代理行为</a:t>
            </a:r>
          </a:p>
        </p:txBody>
      </p:sp>
      <p:sp>
        <p:nvSpPr>
          <p:cNvPr id="21" name="s11-lane-3">
            <a:extLst xmlns:a="http://schemas.openxmlformats.org/drawingml/2006/main">
              <a:ext uri="{FF2B5EF4-FFF2-40B4-BE49-F238E27FC236}">
                <a16:creationId xmlns:a16="http://schemas.microsoft.com/office/drawing/2014/main" id="{DF7FEF7D-3EBC-4B11-8948-60A7A96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66950"/>
            <a:ext cx="24574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h-3">
            <a:extLst xmlns:a="http://schemas.openxmlformats.org/drawingml/2006/main">
              <a:ext uri="{FF2B5EF4-FFF2-40B4-BE49-F238E27FC236}">
                <a16:creationId xmlns:a16="http://schemas.microsoft.com/office/drawing/2014/main" id="{7143A463-E0A2-4151-8E82-CAAD5844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监测与证据</a:t>
            </a:r>
          </a:p>
        </p:txBody>
      </p:sp>
      <p:cxnSp>
        <p:nvCxnSpPr>
          <p:cNvPr id="50" name="s11-r-3"/>
          <p:cNvCxnSpPr/>
          <p:nvPr/>
        </p:nvCxnSpPr>
        <p:spPr>
          <a:xfrm xmlns:a="http://schemas.openxmlformats.org/drawingml/2006/main">
            <a:off x="9324975" y="3105150"/>
            <a:ext cx="2038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4" name="s11-tools-3">
            <a:extLst xmlns:a="http://schemas.openxmlformats.org/drawingml/2006/main">
              <a:ext uri="{FF2B5EF4-FFF2-40B4-BE49-F238E27FC236}">
                <a16:creationId xmlns:a16="http://schemas.microsoft.com/office/drawing/2014/main" id="{0F915EEE-A5EB-45EC-8222-CE0018D5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95650"/>
            <a:ext cx="20383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日志 / 监控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模型与代理评估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Transparency Notes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Compliance Manager</a:t>
            </a:r>
          </a:p>
        </p:txBody>
      </p:sp>
      <p:sp>
        <p:nvSpPr>
          <p:cNvPr id="25" name="s11-use-3">
            <a:extLst xmlns:a="http://schemas.openxmlformats.org/drawingml/2006/main">
              <a:ext uri="{FF2B5EF4-FFF2-40B4-BE49-F238E27FC236}">
                <a16:creationId xmlns:a16="http://schemas.microsoft.com/office/drawing/2014/main" id="{F2113B9A-B0FC-4485-9287-3916D83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577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保留版本、结果与改进记录</a:t>
            </a:r>
          </a:p>
        </p:txBody>
      </p:sp>
      <p:sp>
        <p:nvSpPr>
          <p:cNvPr id="26" name="s11-caveat">
            <a:extLst xmlns:a="http://schemas.openxmlformats.org/drawingml/2006/main">
              <a:ext uri="{FF2B5EF4-FFF2-40B4-BE49-F238E27FC236}">
                <a16:creationId xmlns:a16="http://schemas.microsoft.com/office/drawing/2014/main" id="{667EDD56-646F-4441-8105-BBFBC5D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11-caveat-t">
            <a:extLst xmlns:a="http://schemas.openxmlformats.org/drawingml/2006/main">
              <a:ext uri="{FF2B5EF4-FFF2-40B4-BE49-F238E27FC236}">
                <a16:creationId xmlns:a16="http://schemas.microsoft.com/office/drawing/2014/main" id="{FC7ECEA7-6442-4ED3-B2ED-3A91CEF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1101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282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限制：部分功能仍处于预览、语言/区域覆盖不同；客户必须在自己的数据、用户和预期用途上验证。</a:t>
            </a:r>
          </a:p>
        </p:txBody>
      </p:sp>
    </p:spTree>
    <p:extLst>
      <p:ext uri="{BB962C8B-B14F-4D97-AF65-F5344CB8AC3E}">
        <p14:creationId xmlns:p14="http://schemas.microsoft.com/office/powerpoint/2010/main" val="8958661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12">
            <a:extLst xmlns:a="http://schemas.openxmlformats.org/drawingml/2006/main">
              <a:ext uri="{FF2B5EF4-FFF2-40B4-BE49-F238E27FC236}">
                <a16:creationId xmlns:a16="http://schemas.microsoft.com/office/drawing/2014/main" id="{61424BBB-D4AA-46F5-AD43-BB77BB51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SHARED RESPONSIBILITY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A993DA9-D6D7-408A-8599-0E10F70D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部署模式越开放，客户承担的合规责任越多</a:t>
            </a:r>
          </a:p>
        </p:txBody>
      </p:sp>
      <p:cxnSp>
        <p:nvCxnSpPr>
          <p:cNvPr id="10" name="title-rule-12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3E64AF6F-F18C-4C6D-8E39-22BEE05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s12-sub">
            <a:extLst xmlns:a="http://schemas.openxmlformats.org/drawingml/2006/main">
              <a:ext uri="{FF2B5EF4-FFF2-40B4-BE49-F238E27FC236}">
                <a16:creationId xmlns:a16="http://schemas.microsoft.com/office/drawing/2014/main" id="{BF08BDA1-631A-4ED0-8181-0CCDD55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下表是典型责任分配：最终角色仍取决于谁决定预期用途、重大修改、数据与上线方式。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113919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714625"/>
                <a:gridCol w="2714625"/>
                <a:gridCol w="2724150"/>
              </a:tblGrid>
              <a:tr h="438150"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控制任务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SaaS / Copilot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PaaS / Foundry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IaaS / 自建</a:t>
                      </a:r>
                    </a:p>
                  </a:txBody>
                  <a:tcPr marL="91440" marR="91440" marT="45720" marB="45720">
                    <a:solidFill>
                      <a:srgbClr val="E8EDF2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基础模型与云服务安全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0078D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微软主责</a:t>
                      </a:r>
                    </a:p>
                  </a:txBody>
                  <a:tcPr marL="91440" marR="91440" marT="45720" marB="45720">
                    <a:solidFill>
                      <a:srgbClr val="E7F3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0078D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微软主责</a:t>
                      </a:r>
                    </a:p>
                  </a:txBody>
                  <a:tcPr marL="91440" marR="91440" marT="45720" marB="45720">
                    <a:solidFill>
                      <a:srgbClr val="E7F3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应用设计与提示/代理逻辑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业务数据、权限与保留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预期用途与风险分类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人工监督与员工/个人告知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FRIA 与工作场所程序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模型文档与下游信息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0078D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微软支持</a:t>
                      </a:r>
                    </a:p>
                  </a:txBody>
                  <a:tcPr marL="91440" marR="91440" marT="45720" marB="45720">
                    <a:solidFill>
                      <a:srgbClr val="E7F3F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  <a:tr h="438150">
                <a:tc>
                  <a:txBody>
                    <a:bodyPr anchor="ctr"/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监控、事件与纠正行动</a:t>
                      </a:r>
                    </a:p>
                  </a:txBody>
                  <a:tcPr marL="91440" marR="91440" marT="45720" marB="45720">
                    <a:solidFill>
                      <a:srgbClr val="FAFA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50" b="1">
                          <a:solidFill>
                            <a:srgbClr val="B26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客户主责</a:t>
                      </a:r>
                    </a:p>
                  </a:txBody>
                  <a:tcPr marL="91440" marR="91440" marT="45720" marB="45720">
                    <a:solidFill>
                      <a:srgbClr val="FFF3D6"/>
                    </a:solidFill>
                  </a:tcPr>
                </a:tc>
              </a:tr>
            </a:tbl>
          </a:graphicData>
        </a:graphic>
      </p:graphicFrame>
      <p:sp>
        <p:nvSpPr>
          <p:cNvPr id="7" name="s12-foot">
            <a:extLst xmlns:a="http://schemas.openxmlformats.org/drawingml/2006/main">
              <a:ext uri="{FF2B5EF4-FFF2-40B4-BE49-F238E27FC236}">
                <a16:creationId xmlns:a16="http://schemas.microsoft.com/office/drawing/2014/main" id="{60755427-5E27-4B78-8CE8-7B8C2F4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282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62828"/>
                </a:solidFill>
                <a:latin typeface="PingFang SC"/>
                <a:ea typeface="PingFang SC"/>
                <a:cs typeface="PingFang SC"/>
              </a:rPr>
              <a:t>关键提醒：微软提供文档和工具；部署者仍需完成分类、FRIA、人员告知、人工监督与本地监控。</a:t>
            </a:r>
          </a:p>
        </p:txBody>
      </p:sp>
    </p:spTree>
    <p:extLst>
      <p:ext uri="{BB962C8B-B14F-4D97-AF65-F5344CB8AC3E}">
        <p14:creationId xmlns:p14="http://schemas.microsoft.com/office/powerpoint/2010/main" val="1163425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3">
            <a:extLst xmlns:a="http://schemas.openxmlformats.org/drawingml/2006/main">
              <a:ext uri="{FF2B5EF4-FFF2-40B4-BE49-F238E27FC236}">
                <a16:creationId xmlns:a16="http://schemas.microsoft.com/office/drawing/2014/main" id="{508AC60C-B3E8-49F9-8682-43CD14F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READINESS ASSESSMENT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5161CB68-B2CD-4518-A5EF-C89CC58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公开证据显示五项优势、四个优先缺口</a:t>
            </a:r>
          </a:p>
        </p:txBody>
      </p:sp>
      <p:cxnSp>
        <p:nvCxnSpPr>
          <p:cNvPr id="42" name="title-rule-13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533CC477-168D-463E-975B-439E50D1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s13-sub">
            <a:extLst xmlns:a="http://schemas.openxmlformats.org/drawingml/2006/main">
              <a:ext uri="{FF2B5EF4-FFF2-40B4-BE49-F238E27FC236}">
                <a16:creationId xmlns:a16="http://schemas.microsoft.com/office/drawing/2014/main" id="{11D4756C-50EF-4579-A92A-E6288E91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交通灯仅表示公开控制覆盖度，不代表监管认可或产品合格评定。</a:t>
            </a:r>
          </a:p>
        </p:txBody>
      </p:sp>
      <p:sp>
        <p:nvSpPr>
          <p:cNvPr id="6" name="s13-h1">
            <a:extLst xmlns:a="http://schemas.openxmlformats.org/drawingml/2006/main">
              <a:ext uri="{FF2B5EF4-FFF2-40B4-BE49-F238E27FC236}">
                <a16:creationId xmlns:a16="http://schemas.microsoft.com/office/drawing/2014/main" id="{4851F498-CFCC-4AF7-96A7-A3F9CBFA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7" name="s13-h2">
            <a:extLst xmlns:a="http://schemas.openxmlformats.org/drawingml/2006/main">
              <a:ext uri="{FF2B5EF4-FFF2-40B4-BE49-F238E27FC236}">
                <a16:creationId xmlns:a16="http://schemas.microsoft.com/office/drawing/2014/main" id="{29A7C9B1-DACD-4A3E-8180-D231BEE3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1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控制域与公开证据</a:t>
            </a:r>
          </a:p>
        </p:txBody>
      </p:sp>
      <p:sp>
        <p:nvSpPr>
          <p:cNvPr id="8" name="s13-h3">
            <a:extLst xmlns:a="http://schemas.openxmlformats.org/drawingml/2006/main">
              <a:ext uri="{FF2B5EF4-FFF2-40B4-BE49-F238E27FC236}">
                <a16:creationId xmlns:a16="http://schemas.microsoft.com/office/drawing/2014/main" id="{9A2ECA0E-272F-4B79-AA7C-3AC891B2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管理优先项</a:t>
            </a:r>
          </a:p>
        </p:txBody>
      </p:sp>
      <p:cxnSp>
        <p:nvCxnSpPr>
          <p:cNvPr id="48" name="s13-line-0"/>
          <p:cNvCxnSpPr/>
          <p:nvPr/>
        </p:nvCxnSpPr>
        <p:spPr>
          <a:xfrm xmlns:a="http://schemas.openxmlformats.org/drawingml/2006/main">
            <a:off x="400050" y="28956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s13-dot-0">
            <a:extLst xmlns:a="http://schemas.openxmlformats.org/drawingml/2006/main">
              <a:ext uri="{FF2B5EF4-FFF2-40B4-BE49-F238E27FC236}">
                <a16:creationId xmlns:a16="http://schemas.microsoft.com/office/drawing/2014/main" id="{7EDFCFCB-D3F5-4BB8-B48B-B512A77A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1" name="s13-domain-0">
            <a:extLst xmlns:a="http://schemas.openxmlformats.org/drawingml/2006/main">
              <a:ext uri="{FF2B5EF4-FFF2-40B4-BE49-F238E27FC236}">
                <a16:creationId xmlns:a16="http://schemas.microsoft.com/office/drawing/2014/main" id="{21BD575B-37AB-4BAA-AE44-A13A725E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治理与问责</a:t>
            </a:r>
          </a:p>
        </p:txBody>
      </p:sp>
      <p:sp>
        <p:nvSpPr>
          <p:cNvPr id="12" name="s13-evidence-0">
            <a:extLst xmlns:a="http://schemas.openxmlformats.org/drawingml/2006/main">
              <a:ext uri="{FF2B5EF4-FFF2-40B4-BE49-F238E27FC236}">
                <a16:creationId xmlns:a16="http://schemas.microsoft.com/office/drawing/2014/main" id="{D18F4F7A-C0DC-4090-8517-38DBD6E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董事会—Council—ORA—工程团队的分层机制清晰</a:t>
            </a:r>
          </a:p>
        </p:txBody>
      </p:sp>
      <p:sp>
        <p:nvSpPr>
          <p:cNvPr id="13" name="s13-priority-0">
            <a:extLst xmlns:a="http://schemas.openxmlformats.org/drawingml/2006/main">
              <a:ext uri="{FF2B5EF4-FFF2-40B4-BE49-F238E27FC236}">
                <a16:creationId xmlns:a16="http://schemas.microsoft.com/office/drawing/2014/main" id="{F6E3B0A3-104D-4E43-8D8A-2A4816D3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维持独立挑战与例外升级</a:t>
            </a:r>
          </a:p>
        </p:txBody>
      </p:sp>
      <p:cxnSp>
        <p:nvCxnSpPr>
          <p:cNvPr id="53" name="s13-line-1"/>
          <p:cNvCxnSpPr/>
          <p:nvPr/>
        </p:nvCxnSpPr>
        <p:spPr>
          <a:xfrm xmlns:a="http://schemas.openxmlformats.org/drawingml/2006/main">
            <a:off x="400050" y="35337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s13-dot-1">
            <a:extLst xmlns:a="http://schemas.openxmlformats.org/drawingml/2006/main">
              <a:ext uri="{FF2B5EF4-FFF2-40B4-BE49-F238E27FC236}">
                <a16:creationId xmlns:a16="http://schemas.microsoft.com/office/drawing/2014/main" id="{6A2F5A72-8DA0-4416-9862-A28DE2B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6" name="s13-domain-1">
            <a:extLst xmlns:a="http://schemas.openxmlformats.org/drawingml/2006/main">
              <a:ext uri="{FF2B5EF4-FFF2-40B4-BE49-F238E27FC236}">
                <a16:creationId xmlns:a16="http://schemas.microsoft.com/office/drawing/2014/main" id="{AD4FA7C9-1884-4953-8D6A-B633DA81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813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禁止实践 / 素养</a:t>
            </a:r>
          </a:p>
        </p:txBody>
      </p:sp>
      <p:sp>
        <p:nvSpPr>
          <p:cNvPr id="17" name="s13-evidence-1">
            <a:extLst xmlns:a="http://schemas.openxmlformats.org/drawingml/2006/main">
              <a:ext uri="{FF2B5EF4-FFF2-40B4-BE49-F238E27FC236}">
                <a16:creationId xmlns:a16="http://schemas.microsoft.com/office/drawing/2014/main" id="{C7C8A996-ED2C-485C-A9D1-C2E78936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813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政策、筛查、合同与培训已有公司级路径</a:t>
            </a:r>
          </a:p>
        </p:txBody>
      </p:sp>
      <p:sp>
        <p:nvSpPr>
          <p:cNvPr id="18" name="s13-priority-1">
            <a:extLst xmlns:a="http://schemas.openxmlformats.org/drawingml/2006/main">
              <a:ext uri="{FF2B5EF4-FFF2-40B4-BE49-F238E27FC236}">
                <a16:creationId xmlns:a16="http://schemas.microsoft.com/office/drawing/2014/main" id="{C26A4EE2-4475-4AA2-80EE-01475C5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813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验证清册覆盖和培训有效性</a:t>
            </a:r>
          </a:p>
        </p:txBody>
      </p:sp>
      <p:cxnSp>
        <p:nvCxnSpPr>
          <p:cNvPr id="58" name="s13-line-2"/>
          <p:cNvCxnSpPr/>
          <p:nvPr/>
        </p:nvCxnSpPr>
        <p:spPr>
          <a:xfrm xmlns:a="http://schemas.openxmlformats.org/drawingml/2006/main">
            <a:off x="400050" y="4171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s13-dot-2">
            <a:extLst xmlns:a="http://schemas.openxmlformats.org/drawingml/2006/main">
              <a:ext uri="{FF2B5EF4-FFF2-40B4-BE49-F238E27FC236}">
                <a16:creationId xmlns:a16="http://schemas.microsoft.com/office/drawing/2014/main" id="{C97172D2-5384-4874-9044-CA430B1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1" name="s13-domain-2">
            <a:extLst xmlns:a="http://schemas.openxmlformats.org/drawingml/2006/main">
              <a:ext uri="{FF2B5EF4-FFF2-40B4-BE49-F238E27FC236}">
                <a16:creationId xmlns:a16="http://schemas.microsoft.com/office/drawing/2014/main" id="{91731AB8-818A-476C-BFED-198719D9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风险评估与发布门禁</a:t>
            </a:r>
          </a:p>
        </p:txBody>
      </p:sp>
      <p:sp>
        <p:nvSpPr>
          <p:cNvPr id="22" name="s13-evidence-2">
            <a:extLst xmlns:a="http://schemas.openxmlformats.org/drawingml/2006/main">
              <a:ext uri="{FF2B5EF4-FFF2-40B4-BE49-F238E27FC236}">
                <a16:creationId xmlns:a16="http://schemas.microsoft.com/office/drawing/2014/main" id="{26A060C5-37C6-46FE-927B-E15685A5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19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发布前审查、敏感用途、红队与工作流可规模化</a:t>
            </a:r>
          </a:p>
        </p:txBody>
      </p:sp>
      <p:sp>
        <p:nvSpPr>
          <p:cNvPr id="23" name="s13-priority-2">
            <a:extLst xmlns:a="http://schemas.openxmlformats.org/drawingml/2006/main">
              <a:ext uri="{FF2B5EF4-FFF2-40B4-BE49-F238E27FC236}">
                <a16:creationId xmlns:a16="http://schemas.microsoft.com/office/drawing/2014/main" id="{D5D2E590-D528-4CDD-A10A-AD2AD83B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把版本变更纳入再评估</a:t>
            </a:r>
          </a:p>
        </p:txBody>
      </p:sp>
      <p:cxnSp>
        <p:nvCxnSpPr>
          <p:cNvPr id="63" name="s13-line-3"/>
          <p:cNvCxnSpPr/>
          <p:nvPr/>
        </p:nvCxnSpPr>
        <p:spPr>
          <a:xfrm xmlns:a="http://schemas.openxmlformats.org/drawingml/2006/main">
            <a:off x="400050" y="48101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s13-dot-3">
            <a:extLst xmlns:a="http://schemas.openxmlformats.org/drawingml/2006/main">
              <a:ext uri="{FF2B5EF4-FFF2-40B4-BE49-F238E27FC236}">
                <a16:creationId xmlns:a16="http://schemas.microsoft.com/office/drawing/2014/main" id="{D67CBBD6-64E3-4FA6-93DD-8321939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26" name="s13-domain-3">
            <a:extLst xmlns:a="http://schemas.openxmlformats.org/drawingml/2006/main">
              <a:ext uri="{FF2B5EF4-FFF2-40B4-BE49-F238E27FC236}">
                <a16:creationId xmlns:a16="http://schemas.microsoft.com/office/drawing/2014/main" id="{5C1A2A7F-94EF-4F5A-935C-B5695B5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GPAI 供应链</a:t>
            </a:r>
          </a:p>
        </p:txBody>
      </p:sp>
      <p:sp>
        <p:nvSpPr>
          <p:cNvPr id="27" name="s13-evidence-3">
            <a:extLst xmlns:a="http://schemas.openxmlformats.org/drawingml/2006/main">
              <a:ext uri="{FF2B5EF4-FFF2-40B4-BE49-F238E27FC236}">
                <a16:creationId xmlns:a16="http://schemas.microsoft.com/office/drawing/2014/main" id="{27C7A50C-3197-463F-82DD-D5BF9FAD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576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已签 GPAI 准则；公开文档实践成熟</a:t>
            </a:r>
          </a:p>
        </p:txBody>
      </p:sp>
      <p:sp>
        <p:nvSpPr>
          <p:cNvPr id="28" name="s13-priority-3">
            <a:extLst xmlns:a="http://schemas.openxmlformats.org/drawingml/2006/main">
              <a:ext uri="{FF2B5EF4-FFF2-40B4-BE49-F238E27FC236}">
                <a16:creationId xmlns:a16="http://schemas.microsoft.com/office/drawing/2014/main" id="{C2BEFD90-C5C3-4EC6-8CA5-BFEF1AB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576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固化伙伴模型的信息与事件 RACI</a:t>
            </a:r>
          </a:p>
        </p:txBody>
      </p:sp>
      <p:cxnSp>
        <p:nvCxnSpPr>
          <p:cNvPr id="68" name="s13-line-4"/>
          <p:cNvCxnSpPr/>
          <p:nvPr/>
        </p:nvCxnSpPr>
        <p:spPr>
          <a:xfrm xmlns:a="http://schemas.openxmlformats.org/drawingml/2006/main">
            <a:off x="400050" y="5448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s13-dot-4">
            <a:extLst xmlns:a="http://schemas.openxmlformats.org/drawingml/2006/main">
              <a:ext uri="{FF2B5EF4-FFF2-40B4-BE49-F238E27FC236}">
                <a16:creationId xmlns:a16="http://schemas.microsoft.com/office/drawing/2014/main" id="{4EF8A11C-83DE-4A3F-A587-A2B98D7A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31" name="s13-domain-4">
            <a:extLst xmlns:a="http://schemas.openxmlformats.org/drawingml/2006/main">
              <a:ext uri="{FF2B5EF4-FFF2-40B4-BE49-F238E27FC236}">
                <a16:creationId xmlns:a16="http://schemas.microsoft.com/office/drawing/2014/main" id="{936232D8-AD0A-4955-9969-6F32383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 50 条透明度</a:t>
            </a:r>
          </a:p>
        </p:txBody>
      </p:sp>
      <p:sp>
        <p:nvSpPr>
          <p:cNvPr id="32" name="s13-evidence-4">
            <a:extLst xmlns:a="http://schemas.openxmlformats.org/drawingml/2006/main">
              <a:ext uri="{FF2B5EF4-FFF2-40B4-BE49-F238E27FC236}">
                <a16:creationId xmlns:a16="http://schemas.microsoft.com/office/drawing/2014/main" id="{F045875A-D71B-417B-9B8D-1112D8DE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958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具备 Transparency Notes 与内容凭证实践</a:t>
            </a:r>
          </a:p>
        </p:txBody>
      </p:sp>
      <p:sp>
        <p:nvSpPr>
          <p:cNvPr id="33" name="s13-priority-4">
            <a:extLst xmlns:a="http://schemas.openxmlformats.org/drawingml/2006/main">
              <a:ext uri="{FF2B5EF4-FFF2-40B4-BE49-F238E27FC236}">
                <a16:creationId xmlns:a16="http://schemas.microsoft.com/office/drawing/2014/main" id="{26EA0DB4-6C37-4E8F-A278-FD76B8E1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958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6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保证导出、转码、API 下游仍保留标记</a:t>
            </a:r>
          </a:p>
        </p:txBody>
      </p:sp>
      <p:cxnSp>
        <p:nvCxnSpPr>
          <p:cNvPr id="73" name="s13-line-5"/>
          <p:cNvCxnSpPr/>
          <p:nvPr/>
        </p:nvCxnSpPr>
        <p:spPr>
          <a:xfrm xmlns:a="http://schemas.openxmlformats.org/drawingml/2006/main">
            <a:off x="400050" y="6086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5" name="s13-dot-5">
            <a:extLst xmlns:a="http://schemas.openxmlformats.org/drawingml/2006/main">
              <a:ext uri="{FF2B5EF4-FFF2-40B4-BE49-F238E27FC236}">
                <a16:creationId xmlns:a16="http://schemas.microsoft.com/office/drawing/2014/main" id="{AEA837A1-D831-466C-8983-F77D9AA8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9525">
            <a:solidFill>
              <a:srgbClr val="B26A00"/>
            </a:solidFill>
            <a:prstDash val="solid"/>
          </a:ln>
        </p:spPr>
      </p:sp>
      <p:sp>
        <p:nvSpPr>
          <p:cNvPr id="36" name="s13-domain-5">
            <a:extLst xmlns:a="http://schemas.openxmlformats.org/drawingml/2006/main">
              <a:ext uri="{FF2B5EF4-FFF2-40B4-BE49-F238E27FC236}">
                <a16:creationId xmlns:a16="http://schemas.microsoft.com/office/drawing/2014/main" id="{08D21CA0-89FF-4B18-B485-F7304878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高风险合格评定</a:t>
            </a:r>
          </a:p>
        </p:txBody>
      </p:sp>
      <p:sp>
        <p:nvSpPr>
          <p:cNvPr id="37" name="s13-evidence-5">
            <a:extLst xmlns:a="http://schemas.openxmlformats.org/drawingml/2006/main">
              <a:ext uri="{FF2B5EF4-FFF2-40B4-BE49-F238E27FC236}">
                <a16:creationId xmlns:a16="http://schemas.microsoft.com/office/drawing/2014/main" id="{BE58DEB6-E0FE-42F1-B8DB-9002DFC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340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控制组件存在；统一标准与最终证据仍在演进</a:t>
            </a:r>
          </a:p>
        </p:txBody>
      </p:sp>
      <p:sp>
        <p:nvSpPr>
          <p:cNvPr id="38" name="s13-priority-5">
            <a:extLst xmlns:a="http://schemas.openxmlformats.org/drawingml/2006/main">
              <a:ext uri="{FF2B5EF4-FFF2-40B4-BE49-F238E27FC236}">
                <a16:creationId xmlns:a16="http://schemas.microsoft.com/office/drawing/2014/main" id="{E5321F95-8213-415E-B59A-8D556F69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340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26A00"/>
                </a:solidFill>
                <a:latin typeface="PingFang SC"/>
                <a:ea typeface="PingFang SC"/>
                <a:cs typeface="PingFang SC"/>
              </a:rPr>
              <a:t>2027 前完成 QMS 和评定干运行</a:t>
            </a:r>
          </a:p>
        </p:txBody>
      </p:sp>
      <p:sp>
        <p:nvSpPr>
          <p:cNvPr id="39" name="s13-bottom">
            <a:extLst xmlns:a="http://schemas.openxmlformats.org/drawingml/2006/main">
              <a:ext uri="{FF2B5EF4-FFF2-40B4-BE49-F238E27FC236}">
                <a16:creationId xmlns:a16="http://schemas.microsoft.com/office/drawing/2014/main" id="{CF0C9D51-0B57-4CC7-A86D-3F0BEF8E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09575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14">
            <a:extLst xmlns:a="http://schemas.openxmlformats.org/drawingml/2006/main">
              <a:ext uri="{FF2B5EF4-FFF2-40B4-BE49-F238E27FC236}">
                <a16:creationId xmlns:a16="http://schemas.microsoft.com/office/drawing/2014/main" id="{A417E560-905F-42EE-919C-4A4AC18D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EXECUTION 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600B7CA-C632-4E40-B547-A191C34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建议路线图：先守住已生效义务，再为高风险评定做干运行</a:t>
            </a:r>
          </a:p>
        </p:txBody>
      </p:sp>
      <p:cxnSp>
        <p:nvCxnSpPr>
          <p:cNvPr id="45" name="title-rule-14"/>
          <p:cNvCxnSpPr/>
          <p:nvPr/>
        </p:nvCxn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16DA25F1-18B5-419A-A9AC-BA85D5D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81750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F667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s14-head-0">
            <a:extLst xmlns:a="http://schemas.openxmlformats.org/drawingml/2006/main">
              <a:ext uri="{FF2B5EF4-FFF2-40B4-BE49-F238E27FC236}">
                <a16:creationId xmlns:a16="http://schemas.microsoft.com/office/drawing/2014/main" id="{19E30011-7190-434D-BF09-AA266E2F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4-head-t-0">
            <a:extLst xmlns:a="http://schemas.openxmlformats.org/drawingml/2006/main">
              <a:ext uri="{FF2B5EF4-FFF2-40B4-BE49-F238E27FC236}">
                <a16:creationId xmlns:a16="http://schemas.microsoft.com/office/drawing/2014/main" id="{E6E561A9-5C93-49E8-A653-18DF667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立即</a:t>
            </a:r>
          </a:p>
          <a:p xmlns:a="http://schemas.openxmlformats.org/drawingml/2006/main">
            <a:pPr algn="ctr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0–30 天</a:t>
            </a:r>
          </a:p>
        </p:txBody>
      </p:sp>
      <p:cxnSp>
        <p:nvCxnSpPr>
          <p:cNvPr id="49" name="s14-grid-0"/>
          <p:cNvCxnSpPr/>
          <p:nvPr/>
        </p:nvCxnSpPr>
        <p:spPr>
          <a:xfrm xmlns:a="http://schemas.openxmlformats.org/drawingml/2006/main">
            <a:off x="25717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4-head-1">
            <a:extLst xmlns:a="http://schemas.openxmlformats.org/drawingml/2006/main">
              <a:ext uri="{FF2B5EF4-FFF2-40B4-BE49-F238E27FC236}">
                <a16:creationId xmlns:a16="http://schemas.microsoft.com/office/drawing/2014/main" id="{C7C063DD-8602-4E17-831C-A9A485B1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4-head-t-1">
            <a:extLst xmlns:a="http://schemas.openxmlformats.org/drawingml/2006/main">
              <a:ext uri="{FF2B5EF4-FFF2-40B4-BE49-F238E27FC236}">
                <a16:creationId xmlns:a16="http://schemas.microsoft.com/office/drawing/2014/main" id="{F56B06F6-AB84-4F7E-89E5-24BF7557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短期</a:t>
            </a:r>
          </a:p>
          <a:p xmlns:a="http://schemas.openxmlformats.org/drawingml/2006/main">
            <a:pPr algn="ctr">
              <a:def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31–90 天</a:t>
            </a:r>
          </a:p>
        </p:txBody>
      </p:sp>
      <p:cxnSp>
        <p:nvCxnSpPr>
          <p:cNvPr id="52" name="s14-grid-1"/>
          <p:cNvCxnSpPr/>
          <p:nvPr/>
        </p:nvCxnSpPr>
        <p:spPr>
          <a:xfrm xmlns:a="http://schemas.openxmlformats.org/drawingml/2006/main">
            <a:off x="43243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s14-head-2">
            <a:extLst xmlns:a="http://schemas.openxmlformats.org/drawingml/2006/main">
              <a:ext uri="{FF2B5EF4-FFF2-40B4-BE49-F238E27FC236}">
                <a16:creationId xmlns:a16="http://schemas.microsoft.com/office/drawing/2014/main" id="{6CF4CF15-4D63-4AD8-9A66-72526A0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4-head-t-2">
            <a:extLst xmlns:a="http://schemas.openxmlformats.org/drawingml/2006/main">
              <a:ext uri="{FF2B5EF4-FFF2-40B4-BE49-F238E27FC236}">
                <a16:creationId xmlns:a16="http://schemas.microsoft.com/office/drawing/2014/main" id="{1E72291F-C46E-4466-8473-00EC9D8F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2026 Q4</a:t>
            </a:r>
          </a:p>
        </p:txBody>
      </p:sp>
      <p:cxnSp>
        <p:nvCxnSpPr>
          <p:cNvPr id="55" name="s14-grid-2"/>
          <p:cNvCxnSpPr/>
          <p:nvPr/>
        </p:nvCxnSpPr>
        <p:spPr>
          <a:xfrm xmlns:a="http://schemas.openxmlformats.org/drawingml/2006/main">
            <a:off x="60769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s14-head-3">
            <a:extLst xmlns:a="http://schemas.openxmlformats.org/drawingml/2006/main">
              <a:ext uri="{FF2B5EF4-FFF2-40B4-BE49-F238E27FC236}">
                <a16:creationId xmlns:a16="http://schemas.microsoft.com/office/drawing/2014/main" id="{AE33702D-536A-4916-BCFC-126E84BC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4-head-t-3">
            <a:extLst xmlns:a="http://schemas.openxmlformats.org/drawingml/2006/main">
              <a:ext uri="{FF2B5EF4-FFF2-40B4-BE49-F238E27FC236}">
                <a16:creationId xmlns:a16="http://schemas.microsoft.com/office/drawing/2014/main" id="{A392320B-8945-4C6B-8B2C-3832C49F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2027 H1</a:t>
            </a:r>
          </a:p>
        </p:txBody>
      </p:sp>
      <p:cxnSp>
        <p:nvCxnSpPr>
          <p:cNvPr id="58" name="s14-grid-3"/>
          <p:cNvCxnSpPr/>
          <p:nvPr/>
        </p:nvCxnSpPr>
        <p:spPr>
          <a:xfrm xmlns:a="http://schemas.openxmlformats.org/drawingml/2006/main">
            <a:off x="78295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s14-head-4">
            <a:extLst xmlns:a="http://schemas.openxmlformats.org/drawingml/2006/main">
              <a:ext uri="{FF2B5EF4-FFF2-40B4-BE49-F238E27FC236}">
                <a16:creationId xmlns:a16="http://schemas.microsoft.com/office/drawing/2014/main" id="{C0A08A61-ED0E-4F90-89F4-B532109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097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4-head-t-4">
            <a:extLst xmlns:a="http://schemas.openxmlformats.org/drawingml/2006/main">
              <a:ext uri="{FF2B5EF4-FFF2-40B4-BE49-F238E27FC236}">
                <a16:creationId xmlns:a16="http://schemas.microsoft.com/office/drawing/2014/main" id="{43270446-A50F-45CD-A39D-40323C6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2027 H2</a:t>
            </a:r>
          </a:p>
        </p:txBody>
      </p:sp>
      <p:cxnSp>
        <p:nvCxnSpPr>
          <p:cNvPr id="61" name="s14-grid-4"/>
          <p:cNvCxnSpPr/>
          <p:nvPr/>
        </p:nvCxnSpPr>
        <p:spPr>
          <a:xfrm xmlns:a="http://schemas.openxmlformats.org/drawingml/2006/main">
            <a:off x="95821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62" name="s14-grid-end"/>
          <p:cNvCxnSpPr/>
          <p:nvPr/>
        </p:nvCxnSpPr>
        <p:spPr>
          <a:xfrm xmlns:a="http://schemas.openxmlformats.org/drawingml/2006/main">
            <a:off x="11334750" y="1809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s14-label-0">
            <a:extLst xmlns:a="http://schemas.openxmlformats.org/drawingml/2006/main">
              <a:ext uri="{FF2B5EF4-FFF2-40B4-BE49-F238E27FC236}">
                <a16:creationId xmlns:a16="http://schemas.microsoft.com/office/drawing/2014/main" id="{21E0FC1E-0B44-40A1-8986-5C8CD7FA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清册与角色分类</a:t>
            </a:r>
          </a:p>
        </p:txBody>
      </p:sp>
      <p:cxnSp>
        <p:nvCxnSpPr>
          <p:cNvPr id="64" name="s14-row-0"/>
          <p:cNvCxnSpPr/>
          <p:nvPr/>
        </p:nvCxnSpPr>
        <p:spPr>
          <a:xfrm xmlns:a="http://schemas.openxmlformats.org/drawingml/2006/main">
            <a:off x="2571750" y="312420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s14-bar-0">
            <a:extLst xmlns:a="http://schemas.openxmlformats.org/drawingml/2006/main">
              <a:ext uri="{FF2B5EF4-FFF2-40B4-BE49-F238E27FC236}">
                <a16:creationId xmlns:a16="http://schemas.microsoft.com/office/drawing/2014/main" id="{B94444D0-A772-4D95-85C8-1569BD5F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28900"/>
            <a:ext cx="3314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4-bar-t-0">
            <a:extLst xmlns:a="http://schemas.openxmlformats.org/drawingml/2006/main">
              <a:ext uri="{FF2B5EF4-FFF2-40B4-BE49-F238E27FC236}">
                <a16:creationId xmlns:a16="http://schemas.microsoft.com/office/drawing/2014/main" id="{2E5322B8-275E-44D5-B428-C94E8B3C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146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 AI 清册 / 角色 / 风险</a:t>
            </a:r>
          </a:p>
        </p:txBody>
      </p:sp>
      <p:sp>
        <p:nvSpPr>
          <p:cNvPr id="25" name="s14-label-1">
            <a:extLst xmlns:a="http://schemas.openxmlformats.org/drawingml/2006/main">
              <a:ext uri="{FF2B5EF4-FFF2-40B4-BE49-F238E27FC236}">
                <a16:creationId xmlns:a16="http://schemas.microsoft.com/office/drawing/2014/main" id="{8B9DC75D-19AE-41F6-B1FB-3A7AC5E8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已生效义务</a:t>
            </a:r>
          </a:p>
        </p:txBody>
      </p:sp>
      <p:cxnSp>
        <p:nvCxnSpPr>
          <p:cNvPr id="68" name="s14-row-1"/>
          <p:cNvCxnSpPr/>
          <p:nvPr/>
        </p:nvCxnSpPr>
        <p:spPr>
          <a:xfrm xmlns:a="http://schemas.openxmlformats.org/drawingml/2006/main">
            <a:off x="2571750" y="37909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s14-bar-1">
            <a:extLst xmlns:a="http://schemas.openxmlformats.org/drawingml/2006/main">
              <a:ext uri="{FF2B5EF4-FFF2-40B4-BE49-F238E27FC236}">
                <a16:creationId xmlns:a16="http://schemas.microsoft.com/office/drawing/2014/main" id="{5344A8E5-943B-41A0-9AF7-53CF2069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95650"/>
            <a:ext cx="506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4-bar-t-1">
            <a:extLst xmlns:a="http://schemas.openxmlformats.org/drawingml/2006/main">
              <a:ext uri="{FF2B5EF4-FFF2-40B4-BE49-F238E27FC236}">
                <a16:creationId xmlns:a16="http://schemas.microsoft.com/office/drawing/2014/main" id="{C5ED4EB5-635A-4C68-9470-4D02122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8137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禁止实践、素养、第 50 条、GPAI</a:t>
            </a:r>
          </a:p>
        </p:txBody>
      </p:sp>
      <p:sp>
        <p:nvSpPr>
          <p:cNvPr id="29" name="s14-label-2">
            <a:extLst xmlns:a="http://schemas.openxmlformats.org/drawingml/2006/main">
              <a:ext uri="{FF2B5EF4-FFF2-40B4-BE49-F238E27FC236}">
                <a16:creationId xmlns:a16="http://schemas.microsoft.com/office/drawing/2014/main" id="{00A37550-5FA7-4654-B33C-586028F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证据与合同</a:t>
            </a:r>
          </a:p>
        </p:txBody>
      </p:sp>
      <p:cxnSp>
        <p:nvCxnSpPr>
          <p:cNvPr id="72" name="s14-row-2"/>
          <p:cNvCxnSpPr/>
          <p:nvPr/>
        </p:nvCxnSpPr>
        <p:spPr>
          <a:xfrm xmlns:a="http://schemas.openxmlformats.org/drawingml/2006/main">
            <a:off x="2571750" y="445770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s14-bar-2">
            <a:extLst xmlns:a="http://schemas.openxmlformats.org/drawingml/2006/main">
              <a:ext uri="{FF2B5EF4-FFF2-40B4-BE49-F238E27FC236}">
                <a16:creationId xmlns:a16="http://schemas.microsoft.com/office/drawing/2014/main" id="{A350B2A0-0826-410F-B140-7DED456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506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50A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14-bar-t-2">
            <a:extLst xmlns:a="http://schemas.openxmlformats.org/drawingml/2006/main">
              <a:ext uri="{FF2B5EF4-FFF2-40B4-BE49-F238E27FC236}">
                <a16:creationId xmlns:a16="http://schemas.microsoft.com/office/drawing/2014/main" id="{F5463BC5-C703-4722-BF20-BD49E002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481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证据目录、下游文档、供应商 RACI</a:t>
            </a:r>
          </a:p>
        </p:txBody>
      </p:sp>
      <p:sp>
        <p:nvSpPr>
          <p:cNvPr id="33" name="s14-label-3">
            <a:extLst xmlns:a="http://schemas.openxmlformats.org/drawingml/2006/main">
              <a:ext uri="{FF2B5EF4-FFF2-40B4-BE49-F238E27FC236}">
                <a16:creationId xmlns:a16="http://schemas.microsoft.com/office/drawing/2014/main" id="{AE04B256-A9F1-4D08-A9B0-4A63D7D7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客户部署控制</a:t>
            </a:r>
          </a:p>
        </p:txBody>
      </p:sp>
      <p:cxnSp>
        <p:nvCxnSpPr>
          <p:cNvPr id="76" name="s14-row-3"/>
          <p:cNvCxnSpPr/>
          <p:nvPr/>
        </p:nvCxnSpPr>
        <p:spPr>
          <a:xfrm xmlns:a="http://schemas.openxmlformats.org/drawingml/2006/main">
            <a:off x="2571750" y="512445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5" name="s14-bar-3">
            <a:extLst xmlns:a="http://schemas.openxmlformats.org/drawingml/2006/main">
              <a:ext uri="{FF2B5EF4-FFF2-40B4-BE49-F238E27FC236}">
                <a16:creationId xmlns:a16="http://schemas.microsoft.com/office/drawing/2014/main" id="{430C65EC-E615-4FEE-A806-EC8C9100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29150"/>
            <a:ext cx="6819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14-bar-t-3">
            <a:extLst xmlns:a="http://schemas.openxmlformats.org/drawingml/2006/main">
              <a:ext uri="{FF2B5EF4-FFF2-40B4-BE49-F238E27FC236}">
                <a16:creationId xmlns:a16="http://schemas.microsoft.com/office/drawing/2014/main" id="{118B9D28-A20F-4DB6-B81D-AA088D0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14875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FRIA、人工监督、通知、事件流程</a:t>
            </a:r>
          </a:p>
        </p:txBody>
      </p:sp>
      <p:sp>
        <p:nvSpPr>
          <p:cNvPr id="37" name="s14-label-4">
            <a:extLst xmlns:a="http://schemas.openxmlformats.org/drawingml/2006/main">
              <a:ext uri="{FF2B5EF4-FFF2-40B4-BE49-F238E27FC236}">
                <a16:creationId xmlns:a16="http://schemas.microsoft.com/office/drawing/2014/main" id="{15C52F37-C5BD-45AF-8429-2CB63A81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高风险干运行</a:t>
            </a:r>
          </a:p>
        </p:txBody>
      </p:sp>
      <p:cxnSp>
        <p:nvCxnSpPr>
          <p:cNvPr id="80" name="s14-row-4"/>
          <p:cNvCxnSpPr/>
          <p:nvPr/>
        </p:nvCxnSpPr>
        <p:spPr>
          <a:xfrm xmlns:a="http://schemas.openxmlformats.org/drawingml/2006/main">
            <a:off x="2571750" y="579120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9" name="s14-bar-4">
            <a:extLst xmlns:a="http://schemas.openxmlformats.org/drawingml/2006/main">
              <a:ext uri="{FF2B5EF4-FFF2-40B4-BE49-F238E27FC236}">
                <a16:creationId xmlns:a16="http://schemas.microsoft.com/office/drawing/2014/main" id="{725E325F-3810-4361-A9E2-15D5A0DD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95900"/>
            <a:ext cx="506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14-bar-t-4">
            <a:extLst xmlns:a="http://schemas.openxmlformats.org/drawingml/2006/main">
              <a:ext uri="{FF2B5EF4-FFF2-40B4-BE49-F238E27FC236}">
                <a16:creationId xmlns:a16="http://schemas.microsoft.com/office/drawing/2014/main" id="{4F65808C-7345-489C-905E-7169067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816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QMS、合格评定、登记、上市后监测</a:t>
            </a:r>
          </a:p>
        </p:txBody>
      </p:sp>
      <p:sp>
        <p:nvSpPr>
          <p:cNvPr id="41" name="s14-gate">
            <a:extLst xmlns:a="http://schemas.openxmlformats.org/drawingml/2006/main">
              <a:ext uri="{FF2B5EF4-FFF2-40B4-BE49-F238E27FC236}">
                <a16:creationId xmlns:a16="http://schemas.microsoft.com/office/drawing/2014/main" id="{5293BB0B-1ACD-4745-A94F-76949E33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14-gate-t">
            <a:extLst xmlns:a="http://schemas.openxmlformats.org/drawingml/2006/main">
              <a:ext uri="{FF2B5EF4-FFF2-40B4-BE49-F238E27FC236}">
                <a16:creationId xmlns:a16="http://schemas.microsoft.com/office/drawing/2014/main" id="{D5DC454F-FDE8-44B6-A765-FA49830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62675"/>
            <a:ext cx="1108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管理门禁：任何进入欧盟市场的 AI 版本，没有角色、风险、证据负责人和上线后监测计划，不得发布。</a:t>
            </a:r>
          </a:p>
        </p:txBody>
      </p:sp>
    </p:spTree>
    <p:extLst>
      <p:ext uri="{BB962C8B-B14F-4D97-AF65-F5344CB8AC3E}">
        <p14:creationId xmlns:p14="http://schemas.microsoft.com/office/powerpoint/2010/main" val="1447558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15-eyebrow">
            <a:extLst xmlns:a="http://schemas.openxmlformats.org/drawingml/2006/main">
              <a:ext uri="{FF2B5EF4-FFF2-40B4-BE49-F238E27FC236}">
                <a16:creationId xmlns:a16="http://schemas.microsoft.com/office/drawing/2014/main" id="{BAEE1D89-5B2F-43DD-8815-47A402BD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BOARD / EXECUTIVE DECISIONS</a:t>
            </a:r>
          </a:p>
        </p:txBody>
      </p:sp>
      <p:sp>
        <p:nvSpPr>
          <p:cNvPr id="2" name="s15-title">
            <a:extLst xmlns:a="http://schemas.openxmlformats.org/drawingml/2006/main">
              <a:ext uri="{FF2B5EF4-FFF2-40B4-BE49-F238E27FC236}">
                <a16:creationId xmlns:a16="http://schemas.microsoft.com/office/drawing/2014/main" id="{8EEB4276-33BB-4AB3-8362-8C5C0F08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管理层需立即拍板的三件事</a:t>
            </a:r>
          </a:p>
        </p:txBody>
      </p:sp>
      <p:cxnSp>
        <p:nvCxnSpPr>
          <p:cNvPr id="19" name="s15-line-0"/>
          <p:cNvCxnSpPr/>
          <p:nvPr/>
        </p:nvCxnSpPr>
        <p:spPr>
          <a:xfrm xmlns:a="http://schemas.openxmlformats.org/drawingml/2006/main">
            <a:off x="400050" y="2286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15-num-0">
            <a:extLst xmlns:a="http://schemas.openxmlformats.org/drawingml/2006/main">
              <a:ext uri="{FF2B5EF4-FFF2-40B4-BE49-F238E27FC236}">
                <a16:creationId xmlns:a16="http://schemas.microsoft.com/office/drawing/2014/main" id="{915905BB-D696-4DEB-A308-94C42EAF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15-head-0">
            <a:extLst xmlns:a="http://schemas.openxmlformats.org/drawingml/2006/main">
              <a:ext uri="{FF2B5EF4-FFF2-40B4-BE49-F238E27FC236}">
                <a16:creationId xmlns:a16="http://schemas.microsoft.com/office/drawing/2014/main" id="{841EE04B-E465-4DC0-B541-EF951A6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建立唯一的欧盟 AI 控制面</a:t>
            </a:r>
          </a:p>
        </p:txBody>
      </p:sp>
      <p:sp>
        <p:nvSpPr>
          <p:cNvPr id="6" name="s15-body-0">
            <a:extLst xmlns:a="http://schemas.openxmlformats.org/drawingml/2006/main">
              <a:ext uri="{FF2B5EF4-FFF2-40B4-BE49-F238E27FC236}">
                <a16:creationId xmlns:a16="http://schemas.microsoft.com/office/drawing/2014/main" id="{6A87E820-2A28-468C-A017-1B02F5A6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统一清册、角色分类、风险评级、证据目录与例外升级。</a:t>
            </a:r>
          </a:p>
        </p:txBody>
      </p:sp>
      <p:cxnSp>
        <p:nvCxnSpPr>
          <p:cNvPr id="23" name="s15-line-1"/>
          <p:cNvCxnSpPr/>
          <p:nvPr/>
        </p:nvCxnSpPr>
        <p:spPr>
          <a:xfrm xmlns:a="http://schemas.openxmlformats.org/drawingml/2006/main">
            <a:off x="400050" y="34099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15-num-1">
            <a:extLst xmlns:a="http://schemas.openxmlformats.org/drawingml/2006/main">
              <a:ext uri="{FF2B5EF4-FFF2-40B4-BE49-F238E27FC236}">
                <a16:creationId xmlns:a16="http://schemas.microsoft.com/office/drawing/2014/main" id="{7D37DA1A-4B3D-47C6-9B6D-FB17BBA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s15-head-1">
            <a:extLst xmlns:a="http://schemas.openxmlformats.org/drawingml/2006/main">
              <a:ext uri="{FF2B5EF4-FFF2-40B4-BE49-F238E27FC236}">
                <a16:creationId xmlns:a16="http://schemas.microsoft.com/office/drawing/2014/main" id="{22BA8BFD-73AD-414D-84A3-EEEC06B6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把合规变成发布门禁</a:t>
            </a:r>
          </a:p>
        </p:txBody>
      </p:sp>
      <p:sp>
        <p:nvSpPr>
          <p:cNvPr id="10" name="s15-body-1">
            <a:extLst xmlns:a="http://schemas.openxmlformats.org/drawingml/2006/main">
              <a:ext uri="{FF2B5EF4-FFF2-40B4-BE49-F238E27FC236}">
                <a16:creationId xmlns:a16="http://schemas.microsoft.com/office/drawing/2014/main" id="{F0F50D7C-6305-4C30-862E-DC22C291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禁止实践、第 50 条、GPAI 与客户责任在每个版本发布前完成签核。</a:t>
            </a:r>
          </a:p>
        </p:txBody>
      </p:sp>
      <p:cxnSp>
        <p:nvCxnSpPr>
          <p:cNvPr id="27" name="s15-line-2"/>
          <p:cNvCxnSpPr/>
          <p:nvPr/>
        </p:nvCxnSpPr>
        <p:spPr>
          <a:xfrm xmlns:a="http://schemas.openxmlformats.org/drawingml/2006/main">
            <a:off x="400050" y="45339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15-num-2">
            <a:extLst xmlns:a="http://schemas.openxmlformats.org/drawingml/2006/main">
              <a:ext uri="{FF2B5EF4-FFF2-40B4-BE49-F238E27FC236}">
                <a16:creationId xmlns:a16="http://schemas.microsoft.com/office/drawing/2014/main" id="{6691B1D4-3B77-497C-AF17-8642F7CE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8D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s15-head-2">
            <a:extLst xmlns:a="http://schemas.openxmlformats.org/drawingml/2006/main">
              <a:ext uri="{FF2B5EF4-FFF2-40B4-BE49-F238E27FC236}">
                <a16:creationId xmlns:a16="http://schemas.microsoft.com/office/drawing/2014/main" id="{45E4D51A-D049-4EBB-BE67-DCF4A31A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用共享责任合同化、工程化</a:t>
            </a:r>
          </a:p>
        </p:txBody>
      </p:sp>
      <p:sp>
        <p:nvSpPr>
          <p:cNvPr id="14" name="s15-body-2">
            <a:extLst xmlns:a="http://schemas.openxmlformats.org/drawingml/2006/main">
              <a:ext uri="{FF2B5EF4-FFF2-40B4-BE49-F238E27FC236}">
                <a16:creationId xmlns:a16="http://schemas.microsoft.com/office/drawing/2014/main" id="{0B66B025-BC8B-449B-8366-C583A3C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让微软、模型伙伴、集成商和客户对文档、监控、事件与纠正行动各自负责。</a:t>
            </a:r>
          </a:p>
        </p:txBody>
      </p:sp>
      <p:sp>
        <p:nvSpPr>
          <p:cNvPr id="15" name="s15-close">
            <a:extLst xmlns:a="http://schemas.openxmlformats.org/drawingml/2006/main">
              <a:ext uri="{FF2B5EF4-FFF2-40B4-BE49-F238E27FC236}">
                <a16:creationId xmlns:a16="http://schemas.microsoft.com/office/drawing/2014/main" id="{796E788B-B156-499E-893A-F2349AD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5-close-t">
            <a:extLst xmlns:a="http://schemas.openxmlformats.org/drawingml/2006/main">
              <a:ext uri="{FF2B5EF4-FFF2-40B4-BE49-F238E27FC236}">
                <a16:creationId xmlns:a16="http://schemas.microsoft.com/office/drawing/2014/main" id="{E20408F6-300C-43CD-A9DE-E59FA4B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战略优势不是“有一套原则”，而是让每次 AI 决策都留下可复核、可追踪、可纠正的证据。</a:t>
            </a:r>
          </a:p>
        </p:txBody>
      </p:sp>
    </p:spTree>
    <p:extLst>
      <p:ext uri="{BB962C8B-B14F-4D97-AF65-F5344CB8AC3E}">
        <p14:creationId xmlns:p14="http://schemas.microsoft.com/office/powerpoint/2010/main" val="807225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2026-08-04T01:49:34.4340000Z</dcterms:created>
  <dcterms:modified xsi:type="dcterms:W3CDTF">2026-08-04T01:49:34.4350000Z</dcterms:modified>
</coreProperties>
</file>