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adb614ba94352" /><Relationship Type="http://schemas.openxmlformats.org/officeDocument/2006/relationships/extended-properties" Target="/docProps/app.xml" Id="R20edc7dfd1a54a15" /><Relationship Type="http://schemas.openxmlformats.org/officeDocument/2006/relationships/officeDocument" Target="/ppt/presentation.xml" Id="R23eaa6418917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ff9552a5343ac"/>
  </p:sldMasterIdLst>
  <p:notesMasterIdLst>
    <p:notesMasterId xmlns:r="http://schemas.openxmlformats.org/officeDocument/2006/relationships" r:id="R5cae6e7b0f054b50"/>
  </p:notesMasterIdLst>
  <p:sldIdLst>
    <p:sldId xmlns:r="http://schemas.openxmlformats.org/officeDocument/2006/relationships" id="256" r:id="Rc28ee22b182141c4"/>
    <p:sldId xmlns:r="http://schemas.openxmlformats.org/officeDocument/2006/relationships" id="257" r:id="R5f8cbec6e8d84d5c"/>
    <p:sldId xmlns:r="http://schemas.openxmlformats.org/officeDocument/2006/relationships" id="258" r:id="Rccd131522cbe4650"/>
    <p:sldId xmlns:r="http://schemas.openxmlformats.org/officeDocument/2006/relationships" id="259" r:id="R5d55a6a8085b4295"/>
    <p:sldId xmlns:r="http://schemas.openxmlformats.org/officeDocument/2006/relationships" id="260" r:id="Ra203e44749624aad"/>
    <p:sldId xmlns:r="http://schemas.openxmlformats.org/officeDocument/2006/relationships" id="261" r:id="Reb6e14e2361149e9"/>
    <p:sldId xmlns:r="http://schemas.openxmlformats.org/officeDocument/2006/relationships" id="262" r:id="Rbc224207b6eb4664"/>
    <p:sldId xmlns:r="http://schemas.openxmlformats.org/officeDocument/2006/relationships" id="263" r:id="R82f76ee3ebee4865"/>
    <p:sldId xmlns:r="http://schemas.openxmlformats.org/officeDocument/2006/relationships" id="264" r:id="R8fbc9c38fb434632"/>
    <p:sldId xmlns:r="http://schemas.openxmlformats.org/officeDocument/2006/relationships" id="265" r:id="Rd3105492a4874fa0"/>
    <p:sldId xmlns:r="http://schemas.openxmlformats.org/officeDocument/2006/relationships" id="266" r:id="R19f4247380f4475c"/>
    <p:sldId xmlns:r="http://schemas.openxmlformats.org/officeDocument/2006/relationships" id="267" r:id="Rd91f843eaa0248ad"/>
    <p:sldId xmlns:r="http://schemas.openxmlformats.org/officeDocument/2006/relationships" id="268" r:id="R8ae8252def52445a"/>
    <p:sldId xmlns:r="http://schemas.openxmlformats.org/officeDocument/2006/relationships" id="269" r:id="R9238f3c24e2243c1"/>
    <p:sldId xmlns:r="http://schemas.openxmlformats.org/officeDocument/2006/relationships" id="270" r:id="R9860bb3bea98465e"/>
    <p:sldId xmlns:r="http://schemas.openxmlformats.org/officeDocument/2006/relationships" id="271" r:id="R1ac2e378b3474216"/>
    <p:sldId xmlns:r="http://schemas.openxmlformats.org/officeDocument/2006/relationships" id="272" r:id="R599406e2865c4462"/>
    <p:sldId xmlns:r="http://schemas.openxmlformats.org/officeDocument/2006/relationships" id="273" r:id="R00bc13fc925b472d"/>
    <p:sldId xmlns:r="http://schemas.openxmlformats.org/officeDocument/2006/relationships" id="274" r:id="R147c2b028f4e4371"/>
    <p:sldId xmlns:r="http://schemas.openxmlformats.org/officeDocument/2006/relationships" id="275" r:id="R0548eee35f3b4920"/>
    <p:sldId xmlns:r="http://schemas.openxmlformats.org/officeDocument/2006/relationships" id="276" r:id="R0546ca787e9241ce"/>
    <p:sldId xmlns:r="http://schemas.openxmlformats.org/officeDocument/2006/relationships" id="277" r:id="R672fc813f636449d"/>
    <p:sldId xmlns:r="http://schemas.openxmlformats.org/officeDocument/2006/relationships" id="278" r:id="R24be5b0ce8c241e7"/>
    <p:sldId xmlns:r="http://schemas.openxmlformats.org/officeDocument/2006/relationships" id="279" r:id="Rd973e8aa025148b7"/>
    <p:sldId xmlns:r="http://schemas.openxmlformats.org/officeDocument/2006/relationships" id="280" r:id="Rb1fc52a91c5b4bd1"/>
    <p:sldId xmlns:r="http://schemas.openxmlformats.org/officeDocument/2006/relationships" id="281" r:id="Rb9f57b1265784f75"/>
    <p:sldId xmlns:r="http://schemas.openxmlformats.org/officeDocument/2006/relationships" id="282" r:id="R34cc6796ffe3455a"/>
    <p:sldId xmlns:r="http://schemas.openxmlformats.org/officeDocument/2006/relationships" id="283" r:id="R88dc071526d540a0"/>
    <p:sldId xmlns:r="http://schemas.openxmlformats.org/officeDocument/2006/relationships" id="284" r:id="R122ac48bd5f14fee"/>
    <p:sldId xmlns:r="http://schemas.openxmlformats.org/officeDocument/2006/relationships" id="285" r:id="R0dffc5c18d2f44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a7165e36343be" /><Relationship Type="http://schemas.openxmlformats.org/officeDocument/2006/relationships/slideMaster" Target="/ppt/slideMasters/slideMaster1.xml" Id="R92cff9552a5343ac" /><Relationship Type="http://schemas.openxmlformats.org/officeDocument/2006/relationships/notesMaster" Target="/ppt/notesMasters/notesMaster1.xml" Id="R5cae6e7b0f054b50" /><Relationship Type="http://schemas.openxmlformats.org/officeDocument/2006/relationships/presProps" Target="/ppt/presProps.xml" Id="R6c2000011efe444d" /><Relationship Type="http://schemas.openxmlformats.org/officeDocument/2006/relationships/tableStyles" Target="/ppt/tableStyles.xml" Id="R3af0a4a2f1174c99" /><Relationship Type="http://schemas.openxmlformats.org/officeDocument/2006/relationships/slide" Target="/ppt/slides/slide1.xml" Id="Rc28ee22b182141c4" /><Relationship Type="http://schemas.openxmlformats.org/officeDocument/2006/relationships/slide" Target="/ppt/slides/slide2.xml" Id="R5f8cbec6e8d84d5c" /><Relationship Type="http://schemas.openxmlformats.org/officeDocument/2006/relationships/slide" Target="/ppt/slides/slide3.xml" Id="Rccd131522cbe4650" /><Relationship Type="http://schemas.openxmlformats.org/officeDocument/2006/relationships/slide" Target="/ppt/slides/slide4.xml" Id="R5d55a6a8085b4295" /><Relationship Type="http://schemas.openxmlformats.org/officeDocument/2006/relationships/slide" Target="/ppt/slides/slide5.xml" Id="Ra203e44749624aad" /><Relationship Type="http://schemas.openxmlformats.org/officeDocument/2006/relationships/slide" Target="/ppt/slides/slide6.xml" Id="Reb6e14e2361149e9" /><Relationship Type="http://schemas.openxmlformats.org/officeDocument/2006/relationships/slide" Target="/ppt/slides/slide7.xml" Id="Rbc224207b6eb4664" /><Relationship Type="http://schemas.openxmlformats.org/officeDocument/2006/relationships/slide" Target="/ppt/slides/slide8.xml" Id="R82f76ee3ebee4865" /><Relationship Type="http://schemas.openxmlformats.org/officeDocument/2006/relationships/slide" Target="/ppt/slides/slide9.xml" Id="R8fbc9c38fb434632" /><Relationship Type="http://schemas.openxmlformats.org/officeDocument/2006/relationships/slide" Target="/ppt/slides/slide10.xml" Id="Rd3105492a4874fa0" /><Relationship Type="http://schemas.openxmlformats.org/officeDocument/2006/relationships/slide" Target="/ppt/slides/slide11.xml" Id="R19f4247380f4475c" /><Relationship Type="http://schemas.openxmlformats.org/officeDocument/2006/relationships/slide" Target="/ppt/slides/slide12.xml" Id="Rd91f843eaa0248ad" /><Relationship Type="http://schemas.openxmlformats.org/officeDocument/2006/relationships/slide" Target="/ppt/slides/slide13.xml" Id="R8ae8252def52445a" /><Relationship Type="http://schemas.openxmlformats.org/officeDocument/2006/relationships/slide" Target="/ppt/slides/slide14.xml" Id="R9238f3c24e2243c1" /><Relationship Type="http://schemas.openxmlformats.org/officeDocument/2006/relationships/slide" Target="/ppt/slides/slide15.xml" Id="R9860bb3bea98465e" /><Relationship Type="http://schemas.openxmlformats.org/officeDocument/2006/relationships/slide" Target="/ppt/slides/slide16.xml" Id="R1ac2e378b3474216" /><Relationship Type="http://schemas.openxmlformats.org/officeDocument/2006/relationships/slide" Target="/ppt/slides/slide17.xml" Id="R599406e2865c4462" /><Relationship Type="http://schemas.openxmlformats.org/officeDocument/2006/relationships/slide" Target="/ppt/slides/slide18.xml" Id="R00bc13fc925b472d" /><Relationship Type="http://schemas.openxmlformats.org/officeDocument/2006/relationships/slide" Target="/ppt/slides/slide19.xml" Id="R147c2b028f4e4371" /><Relationship Type="http://schemas.openxmlformats.org/officeDocument/2006/relationships/slide" Target="/ppt/slides/slide20.xml" Id="R0548eee35f3b4920" /><Relationship Type="http://schemas.openxmlformats.org/officeDocument/2006/relationships/slide" Target="/ppt/slides/slide21.xml" Id="R0546ca787e9241ce" /><Relationship Type="http://schemas.openxmlformats.org/officeDocument/2006/relationships/slide" Target="/ppt/slides/slide22.xml" Id="R672fc813f636449d" /><Relationship Type="http://schemas.openxmlformats.org/officeDocument/2006/relationships/slide" Target="/ppt/slides/slide23.xml" Id="R24be5b0ce8c241e7" /><Relationship Type="http://schemas.openxmlformats.org/officeDocument/2006/relationships/slide" Target="/ppt/slides/slide24.xml" Id="Rd973e8aa025148b7" /><Relationship Type="http://schemas.openxmlformats.org/officeDocument/2006/relationships/slide" Target="/ppt/slides/slide25.xml" Id="Rb1fc52a91c5b4bd1" /><Relationship Type="http://schemas.openxmlformats.org/officeDocument/2006/relationships/slide" Target="/ppt/slides/slide26.xml" Id="Rb9f57b1265784f75" /><Relationship Type="http://schemas.openxmlformats.org/officeDocument/2006/relationships/slide" Target="/ppt/slides/slide27.xml" Id="R34cc6796ffe3455a" /><Relationship Type="http://schemas.openxmlformats.org/officeDocument/2006/relationships/slide" Target="/ppt/slides/slide28.xml" Id="R88dc071526d540a0" /><Relationship Type="http://schemas.openxmlformats.org/officeDocument/2006/relationships/slide" Target="/ppt/slides/slide29.xml" Id="R122ac48bd5f14fee" /><Relationship Type="http://schemas.openxmlformats.org/officeDocument/2006/relationships/slide" Target="/ppt/slides/slide30.xml" Id="R0dffc5c18d2f44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ff2b0c3a4c4f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eecf1ee7544daf" /><Relationship Type="http://schemas.openxmlformats.org/officeDocument/2006/relationships/notesMaster" Target="/ppt/notesMasters/notesMaster1.xml" Id="R9dd13f0baa89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dcc41a2ce4207" /><Relationship Type="http://schemas.openxmlformats.org/officeDocument/2006/relationships/notesMaster" Target="/ppt/notesMasters/notesMaster1.xml" Id="Rd8e7ffb5224941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5452f10ece42e5" /><Relationship Type="http://schemas.openxmlformats.org/officeDocument/2006/relationships/notesMaster" Target="/ppt/notesMasters/notesMaster1.xml" Id="Rc41c030bb35b43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4be6f0de2c4100" /><Relationship Type="http://schemas.openxmlformats.org/officeDocument/2006/relationships/notesMaster" Target="/ppt/notesMasters/notesMaster1.xml" Id="Rb1ae5efd07fb48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23021e16944f88" /><Relationship Type="http://schemas.openxmlformats.org/officeDocument/2006/relationships/notesMaster" Target="/ppt/notesMasters/notesMaster1.xml" Id="R311c23b25da243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810e63c83a4814" /><Relationship Type="http://schemas.openxmlformats.org/officeDocument/2006/relationships/notesMaster" Target="/ppt/notesMasters/notesMaster1.xml" Id="Rfcb4998bfe28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2426085f164c0f" /><Relationship Type="http://schemas.openxmlformats.org/officeDocument/2006/relationships/notesMaster" Target="/ppt/notesMasters/notesMaster1.xml" Id="Rf24e96f36f7349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cb23b35b04adb" /><Relationship Type="http://schemas.openxmlformats.org/officeDocument/2006/relationships/notesMaster" Target="/ppt/notesMasters/notesMaster1.xml" Id="R84e629c4c7bf40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85af91dff64500" /><Relationship Type="http://schemas.openxmlformats.org/officeDocument/2006/relationships/notesMaster" Target="/ppt/notesMasters/notesMaster1.xml" Id="R28431b679f214d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79b3fb1e04e68" /><Relationship Type="http://schemas.openxmlformats.org/officeDocument/2006/relationships/notesMaster" Target="/ppt/notesMasters/notesMaster1.xml" Id="R57b7a2080e9a4a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a34e81357145dd" /><Relationship Type="http://schemas.openxmlformats.org/officeDocument/2006/relationships/notesMaster" Target="/ppt/notesMasters/notesMaster1.xml" Id="Rc01324c7a9814b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b306aed5624086" /><Relationship Type="http://schemas.openxmlformats.org/officeDocument/2006/relationships/notesMaster" Target="/ppt/notesMasters/notesMaster1.xml" Id="R3091fe09e69341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b5072e33c449dd" /><Relationship Type="http://schemas.openxmlformats.org/officeDocument/2006/relationships/notesMaster" Target="/ppt/notesMasters/notesMaster1.xml" Id="R60c6efdd52a741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da79f6126541ea" /><Relationship Type="http://schemas.openxmlformats.org/officeDocument/2006/relationships/notesMaster" Target="/ppt/notesMasters/notesMaster1.xml" Id="R1fcf4bc9f8354d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ab3e57c8994991" /><Relationship Type="http://schemas.openxmlformats.org/officeDocument/2006/relationships/notesMaster" Target="/ppt/notesMasters/notesMaster1.xml" Id="R6d1bc50b24744d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4f1883352441ee" /><Relationship Type="http://schemas.openxmlformats.org/officeDocument/2006/relationships/notesMaster" Target="/ppt/notesMasters/notesMaster1.xml" Id="R5bf61f6d831942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b0821f3a4a4d17" /><Relationship Type="http://schemas.openxmlformats.org/officeDocument/2006/relationships/notesMaster" Target="/ppt/notesMasters/notesMaster1.xml" Id="Rc5d329ce295b45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93d2319e41442c" /><Relationship Type="http://schemas.openxmlformats.org/officeDocument/2006/relationships/notesMaster" Target="/ppt/notesMasters/notesMaster1.xml" Id="R36e7e93d3ee147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ce9f322e924e63" /><Relationship Type="http://schemas.openxmlformats.org/officeDocument/2006/relationships/notesMaster" Target="/ppt/notesMasters/notesMaster1.xml" Id="Rc9b7283e514345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20b01c6fe94c31" /><Relationship Type="http://schemas.openxmlformats.org/officeDocument/2006/relationships/notesMaster" Target="/ppt/notesMasters/notesMaster1.xml" Id="R504a3ed4af5246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1c5e92e75c4291" /><Relationship Type="http://schemas.openxmlformats.org/officeDocument/2006/relationships/notesMaster" Target="/ppt/notesMasters/notesMaster1.xml" Id="R77b0c09106ae49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83ba8f812744e7" /><Relationship Type="http://schemas.openxmlformats.org/officeDocument/2006/relationships/notesMaster" Target="/ppt/notesMasters/notesMaster1.xml" Id="Ref47ef2070f34f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3b56c3e2d0497a" /><Relationship Type="http://schemas.openxmlformats.org/officeDocument/2006/relationships/notesMaster" Target="/ppt/notesMasters/notesMaster1.xml" Id="Re2c46ca7a4064d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681330e83624263" /><Relationship Type="http://schemas.openxmlformats.org/officeDocument/2006/relationships/notesMaster" Target="/ppt/notesMasters/notesMaster1.xml" Id="R7170e1ba226e48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2c64341d2241b6" /><Relationship Type="http://schemas.openxmlformats.org/officeDocument/2006/relationships/notesMaster" Target="/ppt/notesMasters/notesMaster1.xml" Id="R6ddaab711aa74e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998721642c4768" /><Relationship Type="http://schemas.openxmlformats.org/officeDocument/2006/relationships/notesMaster" Target="/ppt/notesMasters/notesMaster1.xml" Id="R24dc7793f68e49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5ef746ed7c4695" /><Relationship Type="http://schemas.openxmlformats.org/officeDocument/2006/relationships/notesMaster" Target="/ppt/notesMasters/notesMaster1.xml" Id="Rd32b820c85de4c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149bdc554c4c36" /><Relationship Type="http://schemas.openxmlformats.org/officeDocument/2006/relationships/notesMaster" Target="/ppt/notesMasters/notesMaster1.xml" Id="Rde583578cd4f43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6f726d8cc824b69" /><Relationship Type="http://schemas.openxmlformats.org/officeDocument/2006/relationships/notesMaster" Target="/ppt/notesMasters/notesMaster1.xml" Id="R5900ef5360bd441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ff2d2d241a44ee4" /><Relationship Type="http://schemas.openxmlformats.org/officeDocument/2006/relationships/notesMaster" Target="/ppt/notesMasters/notesMaster1.xml" Id="Rc9af405575d6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矩阵表示 AI_Layout.md 中列举的跨层布局方向，不代表各层自有资产比例相同。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该优先级矩阵为基于 AI_Layout.md 产业规律推导的企业落地框架。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路线图为基于 AI_Layout.md 六层架构推导的建议，可根据企业基础调整节奏。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https://hai.stanford.edu/ai-index/2026-ai-index-report</a:t>
            </a:r>
          </a:p>
          <a:p xmlns:a="http://schemas.openxmlformats.org/drawingml/2006/main">
            <a:r>
              <a:t>- https://www.iea.org/reports/key-questions-on-energy-and-ai/executive-summary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https://hai.stanford.edu/ai-index/2026-ai-index-report/economy</a:t>
            </a:r>
          </a:p>
          <a:p xmlns:a="http://schemas.openxmlformats.org/drawingml/2006/main">
            <a:r>
              <a:t>- https://hai.stanford.edu/ai-index/2026-ai-index-report/responsible-ai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口径：组织采用率来自 Stanford 2026 AI Index 汇总的调查；事故数来自 AI Incident Database，经 Stanford 2026 AI Index 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https://www.iea.org/reports/key-questions-on-energy-and-ai/executive-summary</a:t>
            </a:r>
          </a:p>
          <a:p xmlns:a="http://schemas.openxmlformats.org/drawingml/2006/main">
            <a:r>
              <a:t>- https://www.iea.org/news/data-centre-electricity-use-surged-in-2025-even-with-tightening-bottlenecks-driving-a-scramble-for-solutions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https://hai.stanford.edu/news/ai-index-2025-state-of-ai-in-10-charts</a:t>
            </a:r>
          </a:p>
          <a:p xmlns:a="http://schemas.openxmlformats.org/drawingml/2006/main">
            <a:r>
              <a:t>- https://hai.stanford.edu/ai-index/2026-ai-index-report</a:t>
            </a:r>
          </a:p>
          <a:p xmlns:a="http://schemas.openxmlformats.org/drawingml/2006/main">
            <a:r>
              <a:t>- https://hai.stanford.edu/ai-index/2026-ai-index-report/technical-performance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https://www.anthropic.com/news/donating-the-model-context-protocol-and-establishing-of-the-agentic-ai-foundation</a:t>
            </a:r>
          </a:p>
          <a:p xmlns:a="http://schemas.openxmlformats.org/drawingml/2006/main">
            <a:r>
              <a:t>- https://cloud.google.com/blog/products/ai-machine-learning/agent2agent-protocol-is-getting-an-upgrade</a:t>
            </a:r>
          </a:p>
          <a:p xmlns:a="http://schemas.openxmlformats.org/drawingml/2006/main">
            <a:r>
              <a:t>- https://www.linuxfoundation.org/blog/linux-foundation-newsletter-december-2025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说明：支付/商务协议为行业演进方向概括；企业控制面为基于开放协议边界推导的企业架构要求。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https://www.anthropic.com/news/the-anthropic-economic-index</a:t>
            </a:r>
          </a:p>
          <a:p xmlns:a="http://schemas.openxmlformats.org/drawingml/2006/main">
            <a:r>
              <a:t>- https://hai.stanford.edu/ai-index/2026-ai-index-report/economy</a:t>
            </a:r>
          </a:p>
          <a:p xmlns:a="http://schemas.openxmlformats.org/drawingml/2006/main">
            <a:r>
              <a:t>- https://www.cac.gov.cn/2025-08/27/c_1758018277755538.htm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生产率数字是 Stanford 2026 AI Index 对研究结果的汇总，不代表所有组织都能获得相同收益。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https://www.cac.gov.cn/2025-08/27/c_1758018277755538.htm</a:t>
            </a:r>
          </a:p>
          <a:p xmlns:a="http://schemas.openxmlformats.org/drawingml/2006/main">
            <a:r>
              <a:t>- https://digital-strategy.ec.europa.eu/en/policies/regulatory-framework-ai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欧盟日期依据 European Commission 2026-07 更新后的实施时间表。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https://hai.stanford.edu/ai-index/2026-ai-index-report/economy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该五类指标体系综合了价值实现、持续评测和生命周期风险管理要求。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/Users/apple/SocratesAI-codex/AI_Layout.md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3f565795a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2f9a7b50d4746" /><Relationship Type="http://schemas.openxmlformats.org/officeDocument/2006/relationships/slideLayout" Target="/ppt/slideLayouts/slideLayout1.xml" Id="R03f5ba5ded904d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f5ba5ded904d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e4d1cc4348bc" /><Relationship Type="http://schemas.openxmlformats.org/officeDocument/2006/relationships/notesSlide" Target="/ppt/notesSlides/notesSlide1.xml" Id="R6abf74e084e5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3aee99d554854" /><Relationship Type="http://schemas.openxmlformats.org/officeDocument/2006/relationships/notesSlide" Target="/ppt/notesSlides/notesSlide2.xml" Id="Reba3afc262984d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e66f9418c4ce5" /><Relationship Type="http://schemas.openxmlformats.org/officeDocument/2006/relationships/notesSlide" Target="/ppt/notesSlides/notesSlide3.xml" Id="R61b35e19af584e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8f6d2ccae43fc" /><Relationship Type="http://schemas.openxmlformats.org/officeDocument/2006/relationships/notesSlide" Target="/ppt/notesSlides/notesSlide4.xml" Id="R78a98557e5b644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e93857dc444a7" /><Relationship Type="http://schemas.openxmlformats.org/officeDocument/2006/relationships/notesSlide" Target="/ppt/notesSlides/notesSlide5.xml" Id="R1929bd77ed404d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fe50cb254bec" /><Relationship Type="http://schemas.openxmlformats.org/officeDocument/2006/relationships/notesSlide" Target="/ppt/notesSlides/notesSlide6.xml" Id="Re4f44f63793c4e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ba8a41ac146c1" /><Relationship Type="http://schemas.openxmlformats.org/officeDocument/2006/relationships/notesSlide" Target="/ppt/notesSlides/notesSlide7.xml" Id="R5fceac5817e1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ce86d2de9446d" /><Relationship Type="http://schemas.openxmlformats.org/officeDocument/2006/relationships/notesSlide" Target="/ppt/notesSlides/notesSlide8.xml" Id="R8e362580d0224c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af96293fd4899" /><Relationship Type="http://schemas.openxmlformats.org/officeDocument/2006/relationships/notesSlide" Target="/ppt/notesSlides/notesSlide9.xml" Id="R11412d0fea7e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6dc40dd0a4002" /><Relationship Type="http://schemas.openxmlformats.org/officeDocument/2006/relationships/notesSlide" Target="/ppt/notesSlides/notesSlide10.xml" Id="R95c43ad7def049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5d016892c4ba4" /><Relationship Type="http://schemas.openxmlformats.org/officeDocument/2006/relationships/notesSlide" Target="/ppt/notesSlides/notesSlide11.xml" Id="R0309c591924146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dbb6a716b42d8" /><Relationship Type="http://schemas.openxmlformats.org/officeDocument/2006/relationships/notesSlide" Target="/ppt/notesSlides/notesSlide12.xml" Id="Rf78bd25c7bb946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a5bfd30154ae8" /><Relationship Type="http://schemas.openxmlformats.org/officeDocument/2006/relationships/notesSlide" Target="/ppt/notesSlides/notesSlide13.xml" Id="Rf30bb813f78549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b8ce6b9c14a26" /><Relationship Type="http://schemas.openxmlformats.org/officeDocument/2006/relationships/notesSlide" Target="/ppt/notesSlides/notesSlide14.xml" Id="R55e864064c2e42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8b5cdd9a84c36" /><Relationship Type="http://schemas.openxmlformats.org/officeDocument/2006/relationships/notesSlide" Target="/ppt/notesSlides/notesSlide15.xml" Id="Re4c1c110893545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7f7e4b8f41ea" /><Relationship Type="http://schemas.openxmlformats.org/officeDocument/2006/relationships/notesSlide" Target="/ppt/notesSlides/notesSlide16.xml" Id="R3df6dd97d5a248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2aef748494911" /><Relationship Type="http://schemas.openxmlformats.org/officeDocument/2006/relationships/notesSlide" Target="/ppt/notesSlides/notesSlide17.xml" Id="Rb316e3e1076c45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6b6472ced4ba5" /><Relationship Type="http://schemas.openxmlformats.org/officeDocument/2006/relationships/notesSlide" Target="/ppt/notesSlides/notesSlide18.xml" Id="R02190ce9bc5940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6baee58704639" /><Relationship Type="http://schemas.openxmlformats.org/officeDocument/2006/relationships/notesSlide" Target="/ppt/notesSlides/notesSlide19.xml" Id="R222a53b2dde747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e45e0e2ba45d6" /><Relationship Type="http://schemas.openxmlformats.org/officeDocument/2006/relationships/notesSlide" Target="/ppt/notesSlides/notesSlide20.xml" Id="R93ff96e8dc724b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ab7f68a134583" /><Relationship Type="http://schemas.openxmlformats.org/officeDocument/2006/relationships/notesSlide" Target="/ppt/notesSlides/notesSlide21.xml" Id="R01f0071fcb4b4e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dff5f0f64b08" /><Relationship Type="http://schemas.openxmlformats.org/officeDocument/2006/relationships/notesSlide" Target="/ppt/notesSlides/notesSlide22.xml" Id="R69b435b35cf346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d2dcf25f54231" /><Relationship Type="http://schemas.openxmlformats.org/officeDocument/2006/relationships/notesSlide" Target="/ppt/notesSlides/notesSlide23.xml" Id="R1c29e8ed6ff54d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578540a2742fc" /><Relationship Type="http://schemas.openxmlformats.org/officeDocument/2006/relationships/notesSlide" Target="/ppt/notesSlides/notesSlide24.xml" Id="Rcd58ae048aab46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5265ad9f94b77" /><Relationship Type="http://schemas.openxmlformats.org/officeDocument/2006/relationships/notesSlide" Target="/ppt/notesSlides/notesSlide25.xml" Id="R96cec4838c2f4c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1c6572bd843db" /><Relationship Type="http://schemas.openxmlformats.org/officeDocument/2006/relationships/notesSlide" Target="/ppt/notesSlides/notesSlide26.xml" Id="R09c5e6026cad49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b9b08430b41d4" /><Relationship Type="http://schemas.openxmlformats.org/officeDocument/2006/relationships/notesSlide" Target="/ppt/notesSlides/notesSlide27.xml" Id="Rd72341f6129141e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0edbba0624a60" /><Relationship Type="http://schemas.openxmlformats.org/officeDocument/2006/relationships/notesSlide" Target="/ppt/notesSlides/notesSlide28.xml" Id="R483797add37647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cde83ea1d4ed6" /><Relationship Type="http://schemas.openxmlformats.org/officeDocument/2006/relationships/notesSlide" Target="/ppt/notesSlides/notesSlide29.xml" Id="Re4fbb7db595449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aad80173c44e5" /><Relationship Type="http://schemas.openxmlformats.org/officeDocument/2006/relationships/notesSlide" Target="/ppt/notesSlides/notesSlide30.xml" Id="R85d47d3421664e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-38">
            <a:extLst xmlns:a="http://schemas.openxmlformats.org/drawingml/2006/main">
              <a:ext uri="{FF2B5EF4-FFF2-40B4-BE49-F238E27FC236}">
                <a16:creationId xmlns:a16="http://schemas.microsoft.com/office/drawing/2014/main" id="{05049523-C522-45F4-8285-666780B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战略分析报告 · 2026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42409CD4-61D1-422F-8744-A03471E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3" name="text-42-500">
            <a:extLst xmlns:a="http://schemas.openxmlformats.org/drawingml/2006/main">
              <a:ext uri="{FF2B5EF4-FFF2-40B4-BE49-F238E27FC236}">
                <a16:creationId xmlns:a16="http://schemas.microsoft.com/office/drawing/2014/main" id="{2302B002-B502-4517-AF48-DF22536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从能源与算力的物理约束，到 Agent 与应用的价值兑现</a:t>
            </a:r>
          </a:p>
        </p:txBody>
      </p:sp>
      <p:sp>
        <p:nvSpPr>
          <p:cNvPr id="4" name="rect-1050-38">
            <a:extLst xmlns:a="http://schemas.openxmlformats.org/drawingml/2006/main">
              <a:ext uri="{FF2B5EF4-FFF2-40B4-BE49-F238E27FC236}">
                <a16:creationId xmlns:a16="http://schemas.microsoft.com/office/drawing/2014/main" id="{A358BA5D-4787-4EFE-BA83-0942F5F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7907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rect-1050-431">
            <a:extLst xmlns:a="http://schemas.openxmlformats.org/drawingml/2006/main">
              <a:ext uri="{FF2B5EF4-FFF2-40B4-BE49-F238E27FC236}">
                <a16:creationId xmlns:a16="http://schemas.microsoft.com/office/drawing/2014/main" id="{74FFEA7C-FA7B-4D99-8311-1B2BBEE8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05275"/>
            <a:ext cx="17907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ext-1080-466">
            <a:extLst xmlns:a="http://schemas.openxmlformats.org/drawingml/2006/main">
              <a:ext uri="{FF2B5EF4-FFF2-40B4-BE49-F238E27FC236}">
                <a16:creationId xmlns:a16="http://schemas.microsoft.com/office/drawing/2014/main" id="{24DCA7BE-C85C-4B02-A55F-E8EC250A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六层架构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企业路径</a:t>
            </a:r>
          </a:p>
        </p:txBody>
      </p:sp>
    </p:spTree>
    <p:extLst>
      <p:ext uri="{BB962C8B-B14F-4D97-AF65-F5344CB8AC3E}">
        <p14:creationId xmlns:p14="http://schemas.microsoft.com/office/powerpoint/2010/main" val="1853209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EA7154-E630-4174-94BB-FD4F335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C184BD00-CB49-4E6D-9C35-0D58371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行业智能化不是“加一个模型”，而是重构整条价值链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58F9-1CB0-418A-8DFF-1D7FC0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93FE6B9-2BDE-4DC6-8CCE-2CFAFD3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92434ACE-07F3-4D79-94D7-42E4912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电力、算力、模型、数据、流程与场景共同构成结果交付系统；任一层薄弱，都会成为规模化瓶颈。</a:t>
            </a:r>
          </a:p>
        </p:txBody>
      </p:sp>
      <p:sp>
        <p:nvSpPr>
          <p:cNvPr id="6" name="rect-42-300">
            <a:extLst xmlns:a="http://schemas.openxmlformats.org/drawingml/2006/main">
              <a:ext uri="{FF2B5EF4-FFF2-40B4-BE49-F238E27FC236}">
                <a16:creationId xmlns:a16="http://schemas.microsoft.com/office/drawing/2014/main" id="{6DB88961-4EE7-4B75-8A56-5A3FC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text-66-320">
            <a:extLst xmlns:a="http://schemas.openxmlformats.org/drawingml/2006/main">
              <a:ext uri="{FF2B5EF4-FFF2-40B4-BE49-F238E27FC236}">
                <a16:creationId xmlns:a16="http://schemas.microsoft.com/office/drawing/2014/main" id="{2A4D6BF5-9F4C-459C-9DC1-1E2127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66-380">
            <a:extLst xmlns:a="http://schemas.openxmlformats.org/drawingml/2006/main">
              <a:ext uri="{FF2B5EF4-FFF2-40B4-BE49-F238E27FC236}">
                <a16:creationId xmlns:a16="http://schemas.microsoft.com/office/drawing/2014/main" id="{423EDF92-AB64-4C91-BDC7-A45F67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底层决定上限</a:t>
            </a:r>
          </a:p>
        </p:txBody>
      </p:sp>
      <p:sp>
        <p:nvSpPr>
          <p:cNvPr id="9" name="text-66-446">
            <a:extLst xmlns:a="http://schemas.openxmlformats.org/drawingml/2006/main">
              <a:ext uri="{FF2B5EF4-FFF2-40B4-BE49-F238E27FC236}">
                <a16:creationId xmlns:a16="http://schemas.microsoft.com/office/drawing/2014/main" id="{B5F36B90-B30B-4AB6-A678-9C5C1F3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能源与算力具有重资产、高壁垒和寡头化特征，决定智能供给的规模、成本与稳定性。</a:t>
            </a:r>
          </a:p>
        </p:txBody>
      </p:sp>
      <p:sp>
        <p:nvSpPr>
          <p:cNvPr id="10" name="rect-452-300">
            <a:extLst xmlns:a="http://schemas.openxmlformats.org/drawingml/2006/main">
              <a:ext uri="{FF2B5EF4-FFF2-40B4-BE49-F238E27FC236}">
                <a16:creationId xmlns:a16="http://schemas.microsoft.com/office/drawing/2014/main" id="{8EE92EFD-FFAE-4737-A89A-EA65BDE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1F02160E-6789-4FC5-9F39-AB03AC9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476-380">
            <a:extLst xmlns:a="http://schemas.openxmlformats.org/drawingml/2006/main">
              <a:ext uri="{FF2B5EF4-FFF2-40B4-BE49-F238E27FC236}">
                <a16:creationId xmlns:a16="http://schemas.microsoft.com/office/drawing/2014/main" id="{2624525F-70D1-4EB1-8689-15928D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中层决定可用性</a:t>
            </a:r>
          </a:p>
        </p:txBody>
      </p:sp>
      <p:sp>
        <p:nvSpPr>
          <p:cNvPr id="13" name="text-476-446">
            <a:extLst xmlns:a="http://schemas.openxmlformats.org/drawingml/2006/main">
              <a:ext uri="{FF2B5EF4-FFF2-40B4-BE49-F238E27FC236}">
                <a16:creationId xmlns:a16="http://schemas.microsoft.com/office/drawing/2014/main" id="{633D2BE6-8B49-41B7-A207-756BFDA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模型与数据平台把通用能力转化为可信、可治理、可调用的企业智能。</a:t>
            </a:r>
          </a:p>
        </p:txBody>
      </p:sp>
      <p:sp>
        <p:nvSpPr>
          <p:cNvPr id="14" name="rect-862-300">
            <a:extLst xmlns:a="http://schemas.openxmlformats.org/drawingml/2006/main">
              <a:ext uri="{FF2B5EF4-FFF2-40B4-BE49-F238E27FC236}">
                <a16:creationId xmlns:a16="http://schemas.microsoft.com/office/drawing/2014/main" id="{726BEE0C-BD0A-469E-AD75-4D09EE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5" name="text-886-320">
            <a:extLst xmlns:a="http://schemas.openxmlformats.org/drawingml/2006/main">
              <a:ext uri="{FF2B5EF4-FFF2-40B4-BE49-F238E27FC236}">
                <a16:creationId xmlns:a16="http://schemas.microsoft.com/office/drawing/2014/main" id="{70111953-5A28-4FC3-8658-66983B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886-380">
            <a:extLst xmlns:a="http://schemas.openxmlformats.org/drawingml/2006/main">
              <a:ext uri="{FF2B5EF4-FFF2-40B4-BE49-F238E27FC236}">
                <a16:creationId xmlns:a16="http://schemas.microsoft.com/office/drawing/2014/main" id="{CC3775DA-BB5A-4C28-A853-5BAAB25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上层决定回报</a:t>
            </a:r>
          </a:p>
        </p:txBody>
      </p:sp>
      <p:sp>
        <p:nvSpPr>
          <p:cNvPr id="17" name="text-886-446">
            <a:extLst xmlns:a="http://schemas.openxmlformats.org/drawingml/2006/main">
              <a:ext uri="{FF2B5EF4-FFF2-40B4-BE49-F238E27FC236}">
                <a16:creationId xmlns:a16="http://schemas.microsoft.com/office/drawing/2014/main" id="{695334F0-1DAB-4453-8744-227A4B9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与应用贴近业务流程，竞争焦点从“功能使用”转向“结果交付”。</a:t>
            </a:r>
          </a:p>
        </p:txBody>
      </p:sp>
    </p:spTree>
    <p:extLst>
      <p:ext uri="{BB962C8B-B14F-4D97-AF65-F5344CB8AC3E}">
        <p14:creationId xmlns:p14="http://schemas.microsoft.com/office/powerpoint/2010/main" val="656996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2-24">
            <a:extLst xmlns:a="http://schemas.openxmlformats.org/drawingml/2006/main">
              <a:ext uri="{FF2B5EF4-FFF2-40B4-BE49-F238E27FC236}">
                <a16:creationId xmlns:a16="http://schemas.microsoft.com/office/drawing/2014/main" id="{8BEFC7ED-B912-4587-B2D2-EDF4288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6BA2ED1B-FB91-4B62-8D20-777921B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行业智能化的本质：把“信息系统”升级为“行动系统”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E7FD-9A4D-4ABB-8660-B1A90FBB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3876816-5F92-40BB-B830-1DFDA592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text-42-176">
            <a:extLst xmlns:a="http://schemas.openxmlformats.org/drawingml/2006/main">
              <a:ext uri="{FF2B5EF4-FFF2-40B4-BE49-F238E27FC236}">
                <a16:creationId xmlns:a16="http://schemas.microsoft.com/office/drawing/2014/main" id="{78E0C27B-144B-4A7D-95B3-EBCA320F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传统数字化</a:t>
            </a:r>
          </a:p>
        </p:txBody>
      </p:sp>
      <p:sp>
        <p:nvSpPr>
          <p:cNvPr id="6" name="text-698-176">
            <a:extLst xmlns:a="http://schemas.openxmlformats.org/drawingml/2006/main">
              <a:ext uri="{FF2B5EF4-FFF2-40B4-BE49-F238E27FC236}">
                <a16:creationId xmlns:a16="http://schemas.microsoft.com/office/drawing/2014/main" id="{921A148D-E8F4-4990-A0F2-A361B975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764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行业智能化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2267-8D46-4699-9F8A-B8582C6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text-42-246">
            <a:extLst xmlns:a="http://schemas.openxmlformats.org/drawingml/2006/main">
              <a:ext uri="{FF2B5EF4-FFF2-40B4-BE49-F238E27FC236}">
                <a16:creationId xmlns:a16="http://schemas.microsoft.com/office/drawing/2014/main" id="{95392F84-F5C8-4B74-B1CC-39EAA949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人发起操作，系统被动响应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以界面与功能模块为中心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跨系统协同依赖人工搬运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• 价值衡量偏向上线率、活跃度</a:t>
            </a:r>
          </a:p>
        </p:txBody>
      </p:sp>
      <p:sp>
        <p:nvSpPr>
          <p:cNvPr id="9" name="text-698-246">
            <a:extLst xmlns:a="http://schemas.openxmlformats.org/drawingml/2006/main">
              <a:ext uri="{FF2B5EF4-FFF2-40B4-BE49-F238E27FC236}">
                <a16:creationId xmlns:a16="http://schemas.microsoft.com/office/drawing/2014/main" id="{978EC475-C7FF-4645-87CD-1591FDFA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目标触发任务，Agent 主动编排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以语义、工具和业务结果为中心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跨数据、模型与系统自动协作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• 价值衡量转向周期、质量、成本与风险</a:t>
            </a:r>
          </a:p>
        </p:txBody>
      </p:sp>
      <p:sp>
        <p:nvSpPr>
          <p:cNvPr id="10" name="rect-698-575">
            <a:extLst xmlns:a="http://schemas.openxmlformats.org/drawingml/2006/main">
              <a:ext uri="{FF2B5EF4-FFF2-40B4-BE49-F238E27FC236}">
                <a16:creationId xmlns:a16="http://schemas.microsoft.com/office/drawing/2014/main" id="{F2A449A6-6B8C-47B8-B0DE-94C942F7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76875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-718-585">
            <a:extLst xmlns:a="http://schemas.openxmlformats.org/drawingml/2006/main">
              <a:ext uri="{FF2B5EF4-FFF2-40B4-BE49-F238E27FC236}">
                <a16:creationId xmlns:a16="http://schemas.microsoft.com/office/drawing/2014/main" id="{80D62EDA-E521-4DC5-B6B5-9F4D549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72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关键变化：软件从“供人操作”转向“可被智能体调用”</a:t>
            </a:r>
          </a:p>
        </p:txBody>
      </p:sp>
    </p:spTree>
    <p:extLst>
      <p:ext uri="{BB962C8B-B14F-4D97-AF65-F5344CB8AC3E}">
        <p14:creationId xmlns:p14="http://schemas.microsoft.com/office/powerpoint/2010/main" val="2032447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2-24">
            <a:extLst xmlns:a="http://schemas.openxmlformats.org/drawingml/2006/main">
              <a:ext uri="{FF2B5EF4-FFF2-40B4-BE49-F238E27FC236}">
                <a16:creationId xmlns:a16="http://schemas.microsoft.com/office/drawing/2014/main" id="{0D24D575-1E26-4552-A9CF-9A32B262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96EC4987-27F6-4467-A27D-C9EA7EC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六层架构共同完成“电力 → 智能 → 业务结果”的转化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FB1BC-2B80-4E8F-A0F4-FA17FFC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B46FA61-34A4-4DDF-8C91-7EB8B13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rect-126-154">
            <a:extLst xmlns:a="http://schemas.openxmlformats.org/drawingml/2006/main">
              <a:ext uri="{FF2B5EF4-FFF2-40B4-BE49-F238E27FC236}">
                <a16:creationId xmlns:a16="http://schemas.microsoft.com/office/drawing/2014/main" id="{6737619E-8D28-43C3-B56B-9D12E9F9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text-150-167">
            <a:extLst xmlns:a="http://schemas.openxmlformats.org/drawingml/2006/main">
              <a:ext uri="{FF2B5EF4-FFF2-40B4-BE49-F238E27FC236}">
                <a16:creationId xmlns:a16="http://schemas.microsoft.com/office/drawing/2014/main" id="{D3B49954-8D46-4381-A288-07371A9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906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应用层 Application</a:t>
            </a:r>
          </a:p>
        </p:txBody>
      </p:sp>
      <p:sp>
        <p:nvSpPr>
          <p:cNvPr id="7" name="text-470-168">
            <a:extLst xmlns:a="http://schemas.openxmlformats.org/drawingml/2006/main">
              <a:ext uri="{FF2B5EF4-FFF2-40B4-BE49-F238E27FC236}">
                <a16:creationId xmlns:a16="http://schemas.microsoft.com/office/drawing/2014/main" id="{DC377522-0661-49E0-A74E-796EE64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把能力嵌入销售、客服、研发、财务等场景，兑现 ROI</a:t>
            </a:r>
          </a:p>
        </p:txBody>
      </p:sp>
      <p:sp>
        <p:nvSpPr>
          <p:cNvPr id="8" name="rect-126-232">
            <a:extLst xmlns:a="http://schemas.openxmlformats.org/drawingml/2006/main">
              <a:ext uri="{FF2B5EF4-FFF2-40B4-BE49-F238E27FC236}">
                <a16:creationId xmlns:a16="http://schemas.microsoft.com/office/drawing/2014/main" id="{103ED971-D049-4FAD-A76C-82C490B0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150-245">
            <a:extLst xmlns:a="http://schemas.openxmlformats.org/drawingml/2006/main">
              <a:ext uri="{FF2B5EF4-FFF2-40B4-BE49-F238E27FC236}">
                <a16:creationId xmlns:a16="http://schemas.microsoft.com/office/drawing/2014/main" id="{D0414978-829C-4832-9F06-6F95F20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层 Agent</a:t>
            </a:r>
          </a:p>
        </p:txBody>
      </p:sp>
      <p:sp>
        <p:nvSpPr>
          <p:cNvPr id="10" name="text-470-246">
            <a:extLst xmlns:a="http://schemas.openxmlformats.org/drawingml/2006/main">
              <a:ext uri="{FF2B5EF4-FFF2-40B4-BE49-F238E27FC236}">
                <a16:creationId xmlns:a16="http://schemas.microsoft.com/office/drawing/2014/main" id="{F6F373A4-E81F-476B-BDB0-2AF4FB18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理解意图、规划任务、调用工具、记忆状态、执行与审批</a:t>
            </a:r>
          </a:p>
        </p:txBody>
      </p:sp>
      <p:sp>
        <p:nvSpPr>
          <p:cNvPr id="11" name="rect-126-310">
            <a:extLst xmlns:a="http://schemas.openxmlformats.org/drawingml/2006/main">
              <a:ext uri="{FF2B5EF4-FFF2-40B4-BE49-F238E27FC236}">
                <a16:creationId xmlns:a16="http://schemas.microsoft.com/office/drawing/2014/main" id="{093637D5-CF30-4CFA-B180-4881708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2" name="text-150-323">
            <a:extLst xmlns:a="http://schemas.openxmlformats.org/drawingml/2006/main">
              <a:ext uri="{FF2B5EF4-FFF2-40B4-BE49-F238E27FC236}">
                <a16:creationId xmlns:a16="http://schemas.microsoft.com/office/drawing/2014/main" id="{1BBBCB1B-0993-4F2F-8669-93C7F719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数据平台层 Data</a:t>
            </a:r>
          </a:p>
        </p:txBody>
      </p:sp>
      <p:sp>
        <p:nvSpPr>
          <p:cNvPr id="13" name="text-470-324">
            <a:extLst xmlns:a="http://schemas.openxmlformats.org/drawingml/2006/main">
              <a:ext uri="{FF2B5EF4-FFF2-40B4-BE49-F238E27FC236}">
                <a16:creationId xmlns:a16="http://schemas.microsoft.com/office/drawing/2014/main" id="{E3C6C404-6716-42E5-B01F-CB12311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统一数据底座、治理、语义层、向量检索与知识库</a:t>
            </a:r>
          </a:p>
        </p:txBody>
      </p:sp>
      <p:sp>
        <p:nvSpPr>
          <p:cNvPr id="14" name="rect-126-388">
            <a:extLst xmlns:a="http://schemas.openxmlformats.org/drawingml/2006/main">
              <a:ext uri="{FF2B5EF4-FFF2-40B4-BE49-F238E27FC236}">
                <a16:creationId xmlns:a16="http://schemas.microsoft.com/office/drawing/2014/main" id="{6E7C92C3-3930-4635-85F5-835073D2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ECECEC"/>
            </a:solidFill>
            <a:prstDash val="solid"/>
          </a:ln>
        </p:spPr>
      </p:sp>
      <p:sp>
        <p:nvSpPr>
          <p:cNvPr id="15" name="text-150-401">
            <a:extLst xmlns:a="http://schemas.openxmlformats.org/drawingml/2006/main">
              <a:ext uri="{FF2B5EF4-FFF2-40B4-BE49-F238E27FC236}">
                <a16:creationId xmlns:a16="http://schemas.microsoft.com/office/drawing/2014/main" id="{46651409-1D2D-4121-920C-239F2F9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模型层 Model</a:t>
            </a:r>
          </a:p>
        </p:txBody>
      </p:sp>
      <p:sp>
        <p:nvSpPr>
          <p:cNvPr id="16" name="text-470-402">
            <a:extLst xmlns:a="http://schemas.openxmlformats.org/drawingml/2006/main">
              <a:ext uri="{FF2B5EF4-FFF2-40B4-BE49-F238E27FC236}">
                <a16:creationId xmlns:a16="http://schemas.microsoft.com/office/drawing/2014/main" id="{CD4C0A64-DD3B-4A91-8260-78F79BDE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预训练、推理、对齐、多模态与 API 服务</a:t>
            </a:r>
          </a:p>
        </p:txBody>
      </p:sp>
      <p:sp>
        <p:nvSpPr>
          <p:cNvPr id="17" name="rect-126-466">
            <a:extLst xmlns:a="http://schemas.openxmlformats.org/drawingml/2006/main">
              <a:ext uri="{FF2B5EF4-FFF2-40B4-BE49-F238E27FC236}">
                <a16:creationId xmlns:a16="http://schemas.microsoft.com/office/drawing/2014/main" id="{ADB73D0C-C8F1-4A41-9EF8-88A20CF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8" name="text-150-479">
            <a:extLst xmlns:a="http://schemas.openxmlformats.org/drawingml/2006/main">
              <a:ext uri="{FF2B5EF4-FFF2-40B4-BE49-F238E27FC236}">
                <a16:creationId xmlns:a16="http://schemas.microsoft.com/office/drawing/2014/main" id="{B512091D-538C-409F-8814-2D9A2B7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算力层 Compute</a:t>
            </a:r>
          </a:p>
        </p:txBody>
      </p:sp>
      <p:sp>
        <p:nvSpPr>
          <p:cNvPr id="19" name="text-470-480">
            <a:extLst xmlns:a="http://schemas.openxmlformats.org/drawingml/2006/main">
              <a:ext uri="{FF2B5EF4-FFF2-40B4-BE49-F238E27FC236}">
                <a16:creationId xmlns:a16="http://schemas.microsoft.com/office/drawing/2014/main" id="{DD7FE9B3-5372-4184-9761-7817021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芯片、服务器、云、网络互联与软件栈</a:t>
            </a:r>
          </a:p>
        </p:txBody>
      </p:sp>
      <p:sp>
        <p:nvSpPr>
          <p:cNvPr id="20" name="rect-126-544">
            <a:extLst xmlns:a="http://schemas.openxmlformats.org/drawingml/2006/main">
              <a:ext uri="{FF2B5EF4-FFF2-40B4-BE49-F238E27FC236}">
                <a16:creationId xmlns:a16="http://schemas.microsoft.com/office/drawing/2014/main" id="{13FD6114-B320-4624-8482-3A4FCE8C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979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21" name="text-150-557">
            <a:extLst xmlns:a="http://schemas.openxmlformats.org/drawingml/2006/main">
              <a:ext uri="{FF2B5EF4-FFF2-40B4-BE49-F238E27FC236}">
                <a16:creationId xmlns:a16="http://schemas.microsoft.com/office/drawing/2014/main" id="{3ABF1666-D805-401D-89F7-3C070D83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能源层 Energy</a:t>
            </a:r>
          </a:p>
        </p:txBody>
      </p:sp>
      <p:sp>
        <p:nvSpPr>
          <p:cNvPr id="22" name="text-470-558">
            <a:extLst xmlns:a="http://schemas.openxmlformats.org/drawingml/2006/main">
              <a:ext uri="{FF2B5EF4-FFF2-40B4-BE49-F238E27FC236}">
                <a16:creationId xmlns:a16="http://schemas.microsoft.com/office/drawing/2014/main" id="{DA733787-806F-4132-B55E-4B7503B6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电力、数据中心、散热、电网与新能源</a:t>
            </a:r>
          </a:p>
        </p:txBody>
      </p:sp>
      <p:sp>
        <p:nvSpPr>
          <p:cNvPr id="23" name="text-42-634">
            <a:extLst xmlns:a="http://schemas.openxmlformats.org/drawingml/2006/main">
              <a:ext uri="{FF2B5EF4-FFF2-40B4-BE49-F238E27FC236}">
                <a16:creationId xmlns:a16="http://schemas.microsoft.com/office/drawing/2014/main" id="{30065400-D3C0-48C5-B3CA-D1407B9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重资产 · 高壁垒 · 寡头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B6A12-B6D8-4F82-B0E5-83219A6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81725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5" name="text-948-634">
            <a:extLst xmlns:a="http://schemas.openxmlformats.org/drawingml/2006/main">
              <a:ext uri="{FF2B5EF4-FFF2-40B4-BE49-F238E27FC236}">
                <a16:creationId xmlns:a16="http://schemas.microsoft.com/office/drawing/2014/main" id="{98990E26-EADF-4560-9FFC-A0B99BA6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38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轻资产 · 近场景 · 多样化</a:t>
            </a:r>
          </a:p>
        </p:txBody>
      </p:sp>
    </p:spTree>
    <p:extLst>
      <p:ext uri="{BB962C8B-B14F-4D97-AF65-F5344CB8AC3E}">
        <p14:creationId xmlns:p14="http://schemas.microsoft.com/office/powerpoint/2010/main" val="21483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53BFB3-F762-43BF-BACD-901970D4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行业智能化分析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17E2E67B-B2CC-41BE-BE93-DE51C64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价值流向上兑现，约束却从底层逐级向上传导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51A9A-7CE0-4C77-9293-4DB96E1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A9D8AD8-DDF2-408C-8710-1F641BA9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text-42-180">
            <a:extLst xmlns:a="http://schemas.openxmlformats.org/drawingml/2006/main">
              <a:ext uri="{FF2B5EF4-FFF2-40B4-BE49-F238E27FC236}">
                <a16:creationId xmlns:a16="http://schemas.microsoft.com/office/drawing/2014/main" id="{8D0240BA-F709-4F51-B91E-98FDE75D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42-230">
            <a:extLst xmlns:a="http://schemas.openxmlformats.org/drawingml/2006/main">
              <a:ext uri="{FF2B5EF4-FFF2-40B4-BE49-F238E27FC236}">
                <a16:creationId xmlns:a16="http://schemas.microsoft.com/office/drawing/2014/main" id="{27727F33-B2B0-4741-AC4C-158D97F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供给约束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8AD8-8FC0-4FD3-85E5-EE5DA5C3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text-42-320">
            <a:extLst xmlns:a="http://schemas.openxmlformats.org/drawingml/2006/main">
              <a:ext uri="{FF2B5EF4-FFF2-40B4-BE49-F238E27FC236}">
                <a16:creationId xmlns:a16="http://schemas.microsoft.com/office/drawing/2014/main" id="{2D590F40-A3A2-4D23-9DF0-01540AD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电力、芯片、互联与资本开支决定可获得的计算规模。</a:t>
            </a:r>
          </a:p>
        </p:txBody>
      </p:sp>
      <p:sp>
        <p:nvSpPr>
          <p:cNvPr id="9" name="text-300-246">
            <a:extLst xmlns:a="http://schemas.openxmlformats.org/drawingml/2006/main">
              <a:ext uri="{FF2B5EF4-FFF2-40B4-BE49-F238E27FC236}">
                <a16:creationId xmlns:a16="http://schemas.microsoft.com/office/drawing/2014/main" id="{83073932-6D34-4ABF-8724-66D1C03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text-348-180">
            <a:extLst xmlns:a="http://schemas.openxmlformats.org/drawingml/2006/main">
              <a:ext uri="{FF2B5EF4-FFF2-40B4-BE49-F238E27FC236}">
                <a16:creationId xmlns:a16="http://schemas.microsoft.com/office/drawing/2014/main" id="{263CA441-11AD-43AB-AEF8-A639956C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348-230">
            <a:extLst xmlns:a="http://schemas.openxmlformats.org/drawingml/2006/main">
              <a:ext uri="{FF2B5EF4-FFF2-40B4-BE49-F238E27FC236}">
                <a16:creationId xmlns:a16="http://schemas.microsoft.com/office/drawing/2014/main" id="{53BBEDF5-9DB8-4ADC-9E37-FBB8F34D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能力转化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BDCA3-6505-4673-B1CC-4F55C7A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3" name="text-348-320">
            <a:extLst xmlns:a="http://schemas.openxmlformats.org/drawingml/2006/main">
              <a:ext uri="{FF2B5EF4-FFF2-40B4-BE49-F238E27FC236}">
                <a16:creationId xmlns:a16="http://schemas.microsoft.com/office/drawing/2014/main" id="{4A66C083-F9EE-47CD-B5B8-69FD6B9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模型质量、数据语义与推理成本决定智能是否可用。</a:t>
            </a:r>
          </a:p>
        </p:txBody>
      </p:sp>
      <p:sp>
        <p:nvSpPr>
          <p:cNvPr id="14" name="text-606-246">
            <a:extLst xmlns:a="http://schemas.openxmlformats.org/drawingml/2006/main">
              <a:ext uri="{FF2B5EF4-FFF2-40B4-BE49-F238E27FC236}">
                <a16:creationId xmlns:a16="http://schemas.microsoft.com/office/drawing/2014/main" id="{3B2A46E2-CE5E-41A8-8B90-EB0C0D7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431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text-654-180">
            <a:extLst xmlns:a="http://schemas.openxmlformats.org/drawingml/2006/main">
              <a:ext uri="{FF2B5EF4-FFF2-40B4-BE49-F238E27FC236}">
                <a16:creationId xmlns:a16="http://schemas.microsoft.com/office/drawing/2014/main" id="{672D5AC4-82B8-4480-9259-1B39010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654-230">
            <a:extLst xmlns:a="http://schemas.openxmlformats.org/drawingml/2006/main">
              <a:ext uri="{FF2B5EF4-FFF2-40B4-BE49-F238E27FC236}">
                <a16:creationId xmlns:a16="http://schemas.microsoft.com/office/drawing/2014/main" id="{965D3390-2E73-447B-978F-93E9857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组织嵌入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C884F-0477-4FFD-8EB1-3C75232D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8" name="text-654-320">
            <a:extLst xmlns:a="http://schemas.openxmlformats.org/drawingml/2006/main">
              <a:ext uri="{FF2B5EF4-FFF2-40B4-BE49-F238E27FC236}">
                <a16:creationId xmlns:a16="http://schemas.microsoft.com/office/drawing/2014/main" id="{8E11FBE6-A64D-407E-B4F6-8661795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的可靠性、权限和流程编排决定能否进入生产。</a:t>
            </a:r>
          </a:p>
        </p:txBody>
      </p:sp>
      <p:sp>
        <p:nvSpPr>
          <p:cNvPr id="19" name="text-912-246">
            <a:extLst xmlns:a="http://schemas.openxmlformats.org/drawingml/2006/main">
              <a:ext uri="{FF2B5EF4-FFF2-40B4-BE49-F238E27FC236}">
                <a16:creationId xmlns:a16="http://schemas.microsoft.com/office/drawing/2014/main" id="{6A35B994-62D3-453B-B762-AF7E49E0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text-960-180">
            <a:extLst xmlns:a="http://schemas.openxmlformats.org/drawingml/2006/main">
              <a:ext uri="{FF2B5EF4-FFF2-40B4-BE49-F238E27FC236}">
                <a16:creationId xmlns:a16="http://schemas.microsoft.com/office/drawing/2014/main" id="{18687CE4-6DCB-476C-8625-02335E16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960-230">
            <a:extLst xmlns:a="http://schemas.openxmlformats.org/drawingml/2006/main">
              <a:ext uri="{FF2B5EF4-FFF2-40B4-BE49-F238E27FC236}">
                <a16:creationId xmlns:a16="http://schemas.microsoft.com/office/drawing/2014/main" id="{AFAAEE2C-1E2E-447A-BE9E-E3756B8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结果兑现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9C6A4-A38D-423F-997E-25B070C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23" name="text-960-320">
            <a:extLst xmlns:a="http://schemas.openxmlformats.org/drawingml/2006/main">
              <a:ext uri="{FF2B5EF4-FFF2-40B4-BE49-F238E27FC236}">
                <a16:creationId xmlns:a16="http://schemas.microsoft.com/office/drawing/2014/main" id="{F260AE44-01CB-4AEE-9B24-6FD2CDF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324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应用的场景设计与变革管理决定能否形成可量化 ROI。</a:t>
            </a:r>
          </a:p>
        </p:txBody>
      </p:sp>
      <p:sp>
        <p:nvSpPr>
          <p:cNvPr id="24" name="rect-42-548">
            <a:extLst xmlns:a="http://schemas.openxmlformats.org/drawingml/2006/main">
              <a:ext uri="{FF2B5EF4-FFF2-40B4-BE49-F238E27FC236}">
                <a16:creationId xmlns:a16="http://schemas.microsoft.com/office/drawing/2014/main" id="{E26A76CF-E3A1-4AA8-B4AA-692ACE1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4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5" name="text-70-566">
            <a:extLst xmlns:a="http://schemas.openxmlformats.org/drawingml/2006/main">
              <a:ext uri="{FF2B5EF4-FFF2-40B4-BE49-F238E27FC236}">
                <a16:creationId xmlns:a16="http://schemas.microsoft.com/office/drawing/2014/main" id="{C561D6D1-B796-4286-B190-C8805F0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管理含义：不要只选择“最强模型”，要识别本企业最稀缺的那一层，并围绕瓶颈配置投资。</a:t>
            </a:r>
          </a:p>
        </p:txBody>
      </p:sp>
    </p:spTree>
    <p:extLst>
      <p:ext uri="{BB962C8B-B14F-4D97-AF65-F5344CB8AC3E}">
        <p14:creationId xmlns:p14="http://schemas.microsoft.com/office/powerpoint/2010/main" val="191581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FC07B5D-B122-4F1C-954E-CD84668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E48E192-9628-4D42-8FAB-82522D3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能源层：AI 的物理地基正从成本项变成战略资源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5DFA-AF60-4CDD-837D-4A0A2B2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464F85B-FEDD-46ED-B379-FBEDE19F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B05E847-B226-4997-8DFF-C7B290F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大模型训练与推理，本质上是把稳定电力转化为可调用的智能。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797A-D5DC-47AC-B3F0-BD78914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4D8BB993-8DB3-4C0A-878E-B08A285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5373DF63-C4DB-44AA-800A-2392EE93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为高密度数据中心持续提供稳定、廉价、低碳的电力与散热能力。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EEEC5-89F5-4098-AE4D-98C8212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8C9C028E-464F-41CD-B05F-621F20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9F7E0AD7-5A6E-49C5-A6B6-F59A0B1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电网容量与并网周期、电价波动、碳排放约束、液冷能力与 PUE。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D7579-CDA9-4290-BC2B-AC5F32C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0E6BB69A-5B36-4B75-B58B-AFB02A1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F78591A2-2F18-4C5C-8FF8-87E83169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科技巨头通过长期购电协议、核电与新能源绑定供给；选址开始围绕“电力可获得性”重构。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8439777F-CD44-4680-A1D6-124AA7C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2ECBEA9D-C299-4178-9688-D3EAC2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960B114C-7998-42D6-992C-251213E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国家电网、南方电网、NextEra、Constellation；GDS、Equinix、Digital Realty；AWS、微软、谷歌</a:t>
            </a:r>
          </a:p>
        </p:txBody>
      </p:sp>
    </p:spTree>
    <p:extLst>
      <p:ext uri="{BB962C8B-B14F-4D97-AF65-F5344CB8AC3E}">
        <p14:creationId xmlns:p14="http://schemas.microsoft.com/office/powerpoint/2010/main" val="294028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778D37BF-3C30-43EA-BFF4-C99B85E4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6F2787E5-19E3-465A-AE08-0569BEC7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算力层：利润集中于“芯片 + 互联 + 软件生态”的协同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624B1-FA5A-4B48-B629-36947C0E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D5DD6B46-8B55-446F-A00D-DD68F65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87F27342-F7C7-49A4-BE65-956AC27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算力层把电力转化为模型可消费的并行计算，是当前壁垒最高、资本最密集的环节。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6000F-201A-4391-B498-D9534713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2135AB1E-38FA-4648-98A6-F2D86CA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577C97A1-3A75-4FAF-B19A-E6CEA7A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提供训练与推理所需的 GPU/加速器、服务器、云算力、网络互联和开发栈。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0608A-F175-4D17-8E5E-4A9205C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48301431-82DC-405A-87D9-C0F8D514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E87AE714-E429-4F16-854C-FA96919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先进制程、HBM、封装与互联、集群利用率，以及 CUDA 等软件生态锁定。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2D2E9-2EBE-4B2B-B9D1-1A5576D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2376DC8A-ABA7-4C54-9EE2-D0C12BF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7F5951A9-535E-470D-89FE-7AF1FCA9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训练继续寡头化；推理因成本、延迟和场景差异而多元化；云厂商加速自研芯片。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540E13EE-DE5E-45A9-BD58-A71AA11D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008A7372-EC24-457D-8728-36CC497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AE30690E-B11B-42AF-886D-DF1149C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NVIDIA、AMD、Intel；Google TPU、AWS Trainium/Inferentia、Microsoft Maia；华为昇腾、寒武纪；TSMC、SK 海力士</a:t>
            </a:r>
          </a:p>
        </p:txBody>
      </p:sp>
    </p:spTree>
    <p:extLst>
      <p:ext uri="{BB962C8B-B14F-4D97-AF65-F5344CB8AC3E}">
        <p14:creationId xmlns:p14="http://schemas.microsoft.com/office/powerpoint/2010/main" val="1680386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7FDCE3D0-89C6-4256-82E3-9D882C95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2FF8AD83-432D-464B-866E-112DAFD2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模型层：通用能力趋同后，行业知识密度成为差异化来源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46DE0-00B8-4532-BE60-BED661CF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EA43CB6-750B-4552-995D-EEC2D0A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DFDF4FD-A28E-49DA-9AB9-8169387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模型层把算力与数据转化为理解、推理、生成和工具使用能力，并通过 API 或权重供给上层。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AC96B-C7FC-4354-BEEC-81EF01E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DEB233AE-4A5F-4C1D-B5CC-847F5C2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6BF1F670-D3FC-4751-BE33-0D1D6536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提升推理、多模态、长上下文、工具使用与可控生成能力。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B3A56-BE49-41EA-962F-439EEF4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C9CB770A-2572-45D5-90DE-2B34F181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0CEB156A-9CCD-4DE6-B6AD-730B08E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高质量数据、对齐与安全、推理成本、幻觉、评测和行业适配。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23A8E-7AAE-4B95-ADC3-A9980676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3BBF1686-0A8C-41D8-B439-269236E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8B844246-D434-4EA2-95E6-C1841A9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闭源前沿与开放权重并行；模型厂商向 Agent 框架与工具协议延伸，模型与 Agent 边界变薄。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E418B110-E50E-4521-8A98-CDC5360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8C73D55E-0EBD-4633-B7BC-363FFE98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10FB28CA-7DEE-4476-BBEB-FA95B84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OpenAI、Anthropic、Google、xAI；Meta、Mistral、DeepSeek、Qwen、GLM；Midjourney、ElevenLabs</a:t>
            </a:r>
          </a:p>
        </p:txBody>
      </p:sp>
    </p:spTree>
    <p:extLst>
      <p:ext uri="{BB962C8B-B14F-4D97-AF65-F5344CB8AC3E}">
        <p14:creationId xmlns:p14="http://schemas.microsoft.com/office/powerpoint/2010/main" val="1633002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3405C4BF-D1D7-4946-AF09-43B305D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2B959D4A-C822-43A4-8A64-9D89AF6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数据平台层：企业智能的上限取决于“同一种业务语言”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9111-3C47-40F1-A18D-CECF5E3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29F6DE02-F1AB-4EF2-B2AF-3A713FD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906D01E5-8A86-4AD6-B180-AE32745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数据平台把分散、异构、权限复杂的数据，转换为模型和 Agent 可理解、可信任、可追溯的上下文。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0DFB5-3A3B-4FF0-B859-E210CB6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113C9D38-73EE-42B6-8E68-ADE58B4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1A9B29D4-776D-400F-AE9E-B86F23A5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采集、存储、治理、实时处理、语义统一、向量检索与知识服务。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CFCA2-1526-45BD-B9D2-1A860BC0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F64361A5-8F4A-47AC-9A32-5B3F6F69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ACF99901-31C5-4A72-8B0A-46F7D58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数据孤岛、指标口径冲突、血缘不清、权限错配、实时性与合规。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21506-2D05-4B57-8D83-A3C49AEB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CEB46FB2-0080-4FCE-B438-5AD12EF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7DA66ACB-817B-4860-96DE-F87D7844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湖仓与数据云向 AI 原生演进；语义层、向量检索和 Agent 数据接口成为标准能力。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6B4EF2CF-BC80-46B7-BFEC-CC82B0E7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F3BB1608-EEBE-4D95-8029-B158D2C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DCC8782E-AF95-4DBC-81DD-59B3006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Snowflake、Databricks、BigQuery、MaxCompute；Pinecone、Milvus；Confluent、dbt、Fivetran</a:t>
            </a:r>
          </a:p>
        </p:txBody>
      </p:sp>
    </p:spTree>
    <p:extLst>
      <p:ext uri="{BB962C8B-B14F-4D97-AF65-F5344CB8AC3E}">
        <p14:creationId xmlns:p14="http://schemas.microsoft.com/office/powerpoint/2010/main" val="1863524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32444C20-0507-4222-A659-921B9122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310B6BF-EE04-4E24-B015-C72DD2F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层：它把模型从“会回答”推进到“会完成任务”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D3078-731E-491D-A534-4DFD999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C28CDB2-678A-4681-82B9-9E1A657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DE19D248-7959-47E5-AEF4-5EF342E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组合模型、数据、工具、记忆和护栏，对目标进行分解、执行、检查与交付。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5D4D-2DE7-4BDA-956C-6EC2F2D7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0810C3D5-D4FC-4727-BCF7-7DA8151F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19DA88CA-2C49-4CF5-B57C-56FD583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承担意图理解、任务规划、工具调用、状态管理、审批与多 Agent 协作。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A2E45-E5B9-4F3E-9215-73D142B8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1760C396-CF8D-40CF-806F-5F754598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EFA715D1-B272-4D64-8802-C705AD9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可靠性、可控性、权限边界、错误恢复、工具协议与端到端评测。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503CE-95D1-489A-8EDA-8E0F2359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4BA6DD98-6803-43E7-BF37-B4F89D55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7E934BB0-F1D7-4714-A891-509C51C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从单点 Copilot 走向跨系统自主执行；Agent 入口成为新的人机界面与平台控制点。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CA6764E9-F64D-4287-AB96-79F6591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3BF4B353-EC5F-48F1-BDB7-05E7C328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62C8C85B-9A8A-43FE-9632-14333497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Google Gemini/A2A、Microsoft Copilot Studio、OpenAI、Anthropic/MCP、阿里百炼、字节 Coze、腾讯元宝；Manus、Devin、Sierra</a:t>
            </a:r>
          </a:p>
        </p:txBody>
      </p:sp>
    </p:spTree>
    <p:extLst>
      <p:ext uri="{BB962C8B-B14F-4D97-AF65-F5344CB8AC3E}">
        <p14:creationId xmlns:p14="http://schemas.microsoft.com/office/powerpoint/2010/main" val="1874561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B5489A0E-1A02-4982-BF2A-7696244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六层架构 · 深度拆解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4D1C52C5-2DE6-4DFE-9174-D3FE368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应用层：竞争从“功能丰富”转向“结果可交付”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D58F1-E329-4672-AFB0-44B9DA7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38F91B9-6D19-441F-AA7D-F0F39CD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9895B170-3554-40C0-B56F-0F624162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应用层将智能嵌入真实流程，是产业价值最终变成收入、效率、质量与风险改善的地方。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92C45-1839-49E3-9362-83307BDE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5A59B6C2-3584-48BB-A130-09C7E53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1672EA0A-52E2-4A3A-B653-9DB0165A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围绕销售、客服、营销、研发、财务、供应链等场景交付业务结果。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BE633-92C4-4F37-A259-7FF3041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A1C27142-1C4B-460A-8745-2446539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关键瓶颈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3E2470D8-70CE-4C9D-BA23-66BAFE5C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场景标准化、行业 Know-how、系统集成、流程责任重构和用户信任。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0EF2C-FF93-4BA0-AD5F-EEC77AB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D60945C6-4CD3-4235-998E-C0C51A30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结构性趋势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4C141C13-4BFC-4C71-B866-87A4A75C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SaaS 走向 Agentic SaaS 与去 UI 化；能力被调用的频率，逐步替代页面访问量成为价值指标。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B729F9FF-9688-48C9-B6B7-FF3534E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759DCF3B-482D-4112-8900-7880E2C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代表参与者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0F4BE3E4-1A22-4DD4-AB98-6EAA82D0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Salesforce、SAP、ServiceNow、Workday；Notion、Adobe；Harvey、Abridge、Cursor、Intercom；金蝶、用友、销售易</a:t>
            </a:r>
          </a:p>
        </p:txBody>
      </p:sp>
    </p:spTree>
    <p:extLst>
      <p:ext uri="{BB962C8B-B14F-4D97-AF65-F5344CB8AC3E}">
        <p14:creationId xmlns:p14="http://schemas.microsoft.com/office/powerpoint/2010/main" val="1621767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7357E1-9B7C-4A29-998F-06130C4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跨层规律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F7A5B830-EB41-49DD-9C00-1577793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六层的经济结构不同：越靠底层越集中，越靠上层越分散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8521-0CAB-41DB-BF6C-D14282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EDA3AFA-73CB-4EEB-965B-A966470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rect-42-158">
            <a:extLst xmlns:a="http://schemas.openxmlformats.org/drawingml/2006/main">
              <a:ext uri="{FF2B5EF4-FFF2-40B4-BE49-F238E27FC236}">
                <a16:creationId xmlns:a16="http://schemas.microsoft.com/office/drawing/2014/main" id="{2A5CD1A9-A462-41AC-A264-3BE250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6" name="text-56-169">
            <a:extLst xmlns:a="http://schemas.openxmlformats.org/drawingml/2006/main">
              <a:ext uri="{FF2B5EF4-FFF2-40B4-BE49-F238E27FC236}">
                <a16:creationId xmlns:a16="http://schemas.microsoft.com/office/drawing/2014/main" id="{641CE246-E93D-480D-B2A9-9FC6579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层级</a:t>
            </a:r>
          </a:p>
        </p:txBody>
      </p:sp>
      <p:sp>
        <p:nvSpPr>
          <p:cNvPr id="7" name="rect-260-158">
            <a:extLst xmlns:a="http://schemas.openxmlformats.org/drawingml/2006/main">
              <a:ext uri="{FF2B5EF4-FFF2-40B4-BE49-F238E27FC236}">
                <a16:creationId xmlns:a16="http://schemas.microsoft.com/office/drawing/2014/main" id="{EB21B0EE-B117-4C76-AD8E-C4A5335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8" name="text-274-169">
            <a:extLst xmlns:a="http://schemas.openxmlformats.org/drawingml/2006/main">
              <a:ext uri="{FF2B5EF4-FFF2-40B4-BE49-F238E27FC236}">
                <a16:creationId xmlns:a16="http://schemas.microsoft.com/office/drawing/2014/main" id="{3C4BC141-B13E-464E-8217-ECF2943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097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成本结构</a:t>
            </a:r>
          </a:p>
        </p:txBody>
      </p:sp>
      <p:sp>
        <p:nvSpPr>
          <p:cNvPr id="9" name="rect-550-158">
            <a:extLst xmlns:a="http://schemas.openxmlformats.org/drawingml/2006/main">
              <a:ext uri="{FF2B5EF4-FFF2-40B4-BE49-F238E27FC236}">
                <a16:creationId xmlns:a16="http://schemas.microsoft.com/office/drawing/2014/main" id="{20BF511E-B129-4277-9E69-BF47AC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0" name="text-564-169">
            <a:extLst xmlns:a="http://schemas.openxmlformats.org/drawingml/2006/main">
              <a:ext uri="{FF2B5EF4-FFF2-40B4-BE49-F238E27FC236}">
                <a16:creationId xmlns:a16="http://schemas.microsoft.com/office/drawing/2014/main" id="{59748DA9-E042-482B-9A13-E2553E9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9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主要壁垒</a:t>
            </a:r>
          </a:p>
        </p:txBody>
      </p:sp>
      <p:sp>
        <p:nvSpPr>
          <p:cNvPr id="11" name="rect-860-158">
            <a:extLst xmlns:a="http://schemas.openxmlformats.org/drawingml/2006/main">
              <a:ext uri="{FF2B5EF4-FFF2-40B4-BE49-F238E27FC236}">
                <a16:creationId xmlns:a16="http://schemas.microsoft.com/office/drawing/2014/main" id="{57718846-7D29-4661-A178-1BBDCEB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2" name="text-874-169">
            <a:extLst xmlns:a="http://schemas.openxmlformats.org/drawingml/2006/main">
              <a:ext uri="{FF2B5EF4-FFF2-40B4-BE49-F238E27FC236}">
                <a16:creationId xmlns:a16="http://schemas.microsoft.com/office/drawing/2014/main" id="{32007CBD-B1D2-4930-823A-0CBC8D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市场形态</a:t>
            </a:r>
          </a:p>
        </p:txBody>
      </p:sp>
      <p:sp>
        <p:nvSpPr>
          <p:cNvPr id="13" name="rect-42-204">
            <a:extLst xmlns:a="http://schemas.openxmlformats.org/drawingml/2006/main">
              <a:ext uri="{FF2B5EF4-FFF2-40B4-BE49-F238E27FC236}">
                <a16:creationId xmlns:a16="http://schemas.microsoft.com/office/drawing/2014/main" id="{399070BA-2C74-49E8-A2FC-188EFC9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56-219">
            <a:extLst xmlns:a="http://schemas.openxmlformats.org/drawingml/2006/main">
              <a:ext uri="{FF2B5EF4-FFF2-40B4-BE49-F238E27FC236}">
                <a16:creationId xmlns:a16="http://schemas.microsoft.com/office/drawing/2014/main" id="{E2AA266D-1611-4A24-9A5D-AE77A19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能源 / 算力</a:t>
            </a:r>
          </a:p>
        </p:txBody>
      </p:sp>
      <p:sp>
        <p:nvSpPr>
          <p:cNvPr id="15" name="rect-260-204">
            <a:extLst xmlns:a="http://schemas.openxmlformats.org/drawingml/2006/main">
              <a:ext uri="{FF2B5EF4-FFF2-40B4-BE49-F238E27FC236}">
                <a16:creationId xmlns:a16="http://schemas.microsoft.com/office/drawing/2014/main" id="{8B2BC283-6E2A-4763-A444-5D01F92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274-219">
            <a:extLst xmlns:a="http://schemas.openxmlformats.org/drawingml/2006/main">
              <a:ext uri="{FF2B5EF4-FFF2-40B4-BE49-F238E27FC236}">
                <a16:creationId xmlns:a16="http://schemas.microsoft.com/office/drawing/2014/main" id="{A176321B-FE16-4CBE-9783-9223574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859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重资产、供给受限</a:t>
            </a:r>
          </a:p>
        </p:txBody>
      </p:sp>
      <p:sp>
        <p:nvSpPr>
          <p:cNvPr id="17" name="rect-550-204">
            <a:extLst xmlns:a="http://schemas.openxmlformats.org/drawingml/2006/main">
              <a:ext uri="{FF2B5EF4-FFF2-40B4-BE49-F238E27FC236}">
                <a16:creationId xmlns:a16="http://schemas.microsoft.com/office/drawing/2014/main" id="{F779746D-1E29-4D5F-A4F2-4914B75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564-219">
            <a:extLst xmlns:a="http://schemas.openxmlformats.org/drawingml/2006/main">
              <a:ext uri="{FF2B5EF4-FFF2-40B4-BE49-F238E27FC236}">
                <a16:creationId xmlns:a16="http://schemas.microsoft.com/office/drawing/2014/main" id="{8D90D277-D16E-4F42-A565-419DBB9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规模、资本与工程壁垒</a:t>
            </a:r>
          </a:p>
        </p:txBody>
      </p:sp>
      <p:sp>
        <p:nvSpPr>
          <p:cNvPr id="19" name="rect-860-204">
            <a:extLst xmlns:a="http://schemas.openxmlformats.org/drawingml/2006/main">
              <a:ext uri="{FF2B5EF4-FFF2-40B4-BE49-F238E27FC236}">
                <a16:creationId xmlns:a16="http://schemas.microsoft.com/office/drawing/2014/main" id="{F6AD60E9-EADD-4E1C-916B-02241BE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74-219">
            <a:extLst xmlns:a="http://schemas.openxmlformats.org/drawingml/2006/main">
              <a:ext uri="{FF2B5EF4-FFF2-40B4-BE49-F238E27FC236}">
                <a16:creationId xmlns:a16="http://schemas.microsoft.com/office/drawing/2014/main" id="{EB283C2D-D2C7-46AA-9E56-C72F95C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高集中度</a:t>
            </a:r>
          </a:p>
        </p:txBody>
      </p:sp>
      <p:sp>
        <p:nvSpPr>
          <p:cNvPr id="21" name="rect-42-286">
            <a:extLst xmlns:a="http://schemas.openxmlformats.org/drawingml/2006/main">
              <a:ext uri="{FF2B5EF4-FFF2-40B4-BE49-F238E27FC236}">
                <a16:creationId xmlns:a16="http://schemas.microsoft.com/office/drawing/2014/main" id="{AE8B9B22-290B-4EF7-9CEA-87387E1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56-301">
            <a:extLst xmlns:a="http://schemas.openxmlformats.org/drawingml/2006/main">
              <a:ext uri="{FF2B5EF4-FFF2-40B4-BE49-F238E27FC236}">
                <a16:creationId xmlns:a16="http://schemas.microsoft.com/office/drawing/2014/main" id="{8E079C27-ACDB-4563-9103-E2422F8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23" name="rect-260-286">
            <a:extLst xmlns:a="http://schemas.openxmlformats.org/drawingml/2006/main">
              <a:ext uri="{FF2B5EF4-FFF2-40B4-BE49-F238E27FC236}">
                <a16:creationId xmlns:a16="http://schemas.microsoft.com/office/drawing/2014/main" id="{3D6F228C-22E6-41EE-98E4-1213323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274-301">
            <a:extLst xmlns:a="http://schemas.openxmlformats.org/drawingml/2006/main">
              <a:ext uri="{FF2B5EF4-FFF2-40B4-BE49-F238E27FC236}">
                <a16:creationId xmlns:a16="http://schemas.microsoft.com/office/drawing/2014/main" id="{EC4917B6-31C7-431C-B13C-E9D591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研发密集、边际成本下降</a:t>
            </a:r>
          </a:p>
        </p:txBody>
      </p:sp>
      <p:sp>
        <p:nvSpPr>
          <p:cNvPr id="25" name="rect-550-286">
            <a:extLst xmlns:a="http://schemas.openxmlformats.org/drawingml/2006/main">
              <a:ext uri="{FF2B5EF4-FFF2-40B4-BE49-F238E27FC236}">
                <a16:creationId xmlns:a16="http://schemas.microsoft.com/office/drawing/2014/main" id="{1B8F0ABF-8C42-47B1-80E8-A1FEB9E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564-301">
            <a:extLst xmlns:a="http://schemas.openxmlformats.org/drawingml/2006/main">
              <a:ext uri="{FF2B5EF4-FFF2-40B4-BE49-F238E27FC236}">
                <a16:creationId xmlns:a16="http://schemas.microsoft.com/office/drawing/2014/main" id="{308C01B7-F2B5-4491-AEE9-661312D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能力、生态与分发</a:t>
            </a:r>
          </a:p>
        </p:txBody>
      </p:sp>
      <p:sp>
        <p:nvSpPr>
          <p:cNvPr id="27" name="rect-860-286">
            <a:extLst xmlns:a="http://schemas.openxmlformats.org/drawingml/2006/main">
              <a:ext uri="{FF2B5EF4-FFF2-40B4-BE49-F238E27FC236}">
                <a16:creationId xmlns:a16="http://schemas.microsoft.com/office/drawing/2014/main" id="{D48DE941-C1F5-4D61-A1E1-767A7CF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874-301">
            <a:extLst xmlns:a="http://schemas.openxmlformats.org/drawingml/2006/main">
              <a:ext uri="{FF2B5EF4-FFF2-40B4-BE49-F238E27FC236}">
                <a16:creationId xmlns:a16="http://schemas.microsoft.com/office/drawing/2014/main" id="{0B35478D-8F98-4FC0-94C0-CD3AF20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头部集中 + 开放生态</a:t>
            </a:r>
          </a:p>
        </p:txBody>
      </p:sp>
      <p:sp>
        <p:nvSpPr>
          <p:cNvPr id="29" name="rect-42-368">
            <a:extLst xmlns:a="http://schemas.openxmlformats.org/drawingml/2006/main">
              <a:ext uri="{FF2B5EF4-FFF2-40B4-BE49-F238E27FC236}">
                <a16:creationId xmlns:a16="http://schemas.microsoft.com/office/drawing/2014/main" id="{95D424E1-BB2B-4FF6-8703-19E6203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56-383">
            <a:extLst xmlns:a="http://schemas.openxmlformats.org/drawingml/2006/main">
              <a:ext uri="{FF2B5EF4-FFF2-40B4-BE49-F238E27FC236}">
                <a16:creationId xmlns:a16="http://schemas.microsoft.com/office/drawing/2014/main" id="{2EFCDCB1-BFEE-43E2-AE1A-659419A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数据平台</a:t>
            </a:r>
          </a:p>
        </p:txBody>
      </p:sp>
      <p:sp>
        <p:nvSpPr>
          <p:cNvPr id="31" name="rect-260-368">
            <a:extLst xmlns:a="http://schemas.openxmlformats.org/drawingml/2006/main">
              <a:ext uri="{FF2B5EF4-FFF2-40B4-BE49-F238E27FC236}">
                <a16:creationId xmlns:a16="http://schemas.microsoft.com/office/drawing/2014/main" id="{62D6FA47-235A-4BD4-8645-00C3214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-274-383">
            <a:extLst xmlns:a="http://schemas.openxmlformats.org/drawingml/2006/main">
              <a:ext uri="{FF2B5EF4-FFF2-40B4-BE49-F238E27FC236}">
                <a16:creationId xmlns:a16="http://schemas.microsoft.com/office/drawing/2014/main" id="{ED41ABD8-D6EA-457B-B7EB-C8B8194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迁移与治理成本高</a:t>
            </a:r>
          </a:p>
        </p:txBody>
      </p:sp>
      <p:sp>
        <p:nvSpPr>
          <p:cNvPr id="33" name="rect-550-368">
            <a:extLst xmlns:a="http://schemas.openxmlformats.org/drawingml/2006/main">
              <a:ext uri="{FF2B5EF4-FFF2-40B4-BE49-F238E27FC236}">
                <a16:creationId xmlns:a16="http://schemas.microsoft.com/office/drawing/2014/main" id="{35907954-76C5-441E-8B36-E724766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-564-383">
            <a:extLst xmlns:a="http://schemas.openxmlformats.org/drawingml/2006/main">
              <a:ext uri="{FF2B5EF4-FFF2-40B4-BE49-F238E27FC236}">
                <a16:creationId xmlns:a16="http://schemas.microsoft.com/office/drawing/2014/main" id="{96988396-5B92-4DB9-BD20-8A39F3E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语义、信任与数据引力</a:t>
            </a:r>
          </a:p>
        </p:txBody>
      </p:sp>
      <p:sp>
        <p:nvSpPr>
          <p:cNvPr id="35" name="rect-860-368">
            <a:extLst xmlns:a="http://schemas.openxmlformats.org/drawingml/2006/main">
              <a:ext uri="{FF2B5EF4-FFF2-40B4-BE49-F238E27FC236}">
                <a16:creationId xmlns:a16="http://schemas.microsoft.com/office/drawing/2014/main" id="{C62F248D-5AE1-4E12-BC7C-BBB4165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-874-383">
            <a:extLst xmlns:a="http://schemas.openxmlformats.org/drawingml/2006/main">
              <a:ext uri="{FF2B5EF4-FFF2-40B4-BE49-F238E27FC236}">
                <a16:creationId xmlns:a16="http://schemas.microsoft.com/office/drawing/2014/main" id="{4D0ADB50-F6EB-4D31-8347-FE45E1D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平台化整合</a:t>
            </a:r>
          </a:p>
        </p:txBody>
      </p:sp>
      <p:sp>
        <p:nvSpPr>
          <p:cNvPr id="37" name="rect-42-450">
            <a:extLst xmlns:a="http://schemas.openxmlformats.org/drawingml/2006/main">
              <a:ext uri="{FF2B5EF4-FFF2-40B4-BE49-F238E27FC236}">
                <a16:creationId xmlns:a16="http://schemas.microsoft.com/office/drawing/2014/main" id="{C1D564E4-C965-465F-93DE-818CFA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-56-465">
            <a:extLst xmlns:a="http://schemas.openxmlformats.org/drawingml/2006/main">
              <a:ext uri="{FF2B5EF4-FFF2-40B4-BE49-F238E27FC236}">
                <a16:creationId xmlns:a16="http://schemas.microsoft.com/office/drawing/2014/main" id="{42C6723A-9675-43A9-85DC-A84B127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39" name="rect-260-450">
            <a:extLst xmlns:a="http://schemas.openxmlformats.org/drawingml/2006/main">
              <a:ext uri="{FF2B5EF4-FFF2-40B4-BE49-F238E27FC236}">
                <a16:creationId xmlns:a16="http://schemas.microsoft.com/office/drawing/2014/main" id="{9C4647B4-B7ED-45DA-956F-1670898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-274-465">
            <a:extLst xmlns:a="http://schemas.openxmlformats.org/drawingml/2006/main">
              <a:ext uri="{FF2B5EF4-FFF2-40B4-BE49-F238E27FC236}">
                <a16:creationId xmlns:a16="http://schemas.microsoft.com/office/drawing/2014/main" id="{E80D01C0-ED11-44D1-A7BC-FA70CA2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标准尚未固化</a:t>
            </a:r>
          </a:p>
        </p:txBody>
      </p:sp>
      <p:sp>
        <p:nvSpPr>
          <p:cNvPr id="41" name="rect-550-450">
            <a:extLst xmlns:a="http://schemas.openxmlformats.org/drawingml/2006/main">
              <a:ext uri="{FF2B5EF4-FFF2-40B4-BE49-F238E27FC236}">
                <a16:creationId xmlns:a16="http://schemas.microsoft.com/office/drawing/2014/main" id="{DDEE3BD4-081E-41E5-A498-151852C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-564-465">
            <a:extLst xmlns:a="http://schemas.openxmlformats.org/drawingml/2006/main">
              <a:ext uri="{FF2B5EF4-FFF2-40B4-BE49-F238E27FC236}">
                <a16:creationId xmlns:a16="http://schemas.microsoft.com/office/drawing/2014/main" id="{9AD256EA-A9D3-409C-93F1-EE71836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入口、工具网络与可靠性</a:t>
            </a:r>
          </a:p>
        </p:txBody>
      </p:sp>
      <p:sp>
        <p:nvSpPr>
          <p:cNvPr id="43" name="rect-860-450">
            <a:extLst xmlns:a="http://schemas.openxmlformats.org/drawingml/2006/main">
              <a:ext uri="{FF2B5EF4-FFF2-40B4-BE49-F238E27FC236}">
                <a16:creationId xmlns:a16="http://schemas.microsoft.com/office/drawing/2014/main" id="{AE86707F-4F2C-4EB4-85AA-97EC2E1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-874-465">
            <a:extLst xmlns:a="http://schemas.openxmlformats.org/drawingml/2006/main">
              <a:ext uri="{FF2B5EF4-FFF2-40B4-BE49-F238E27FC236}">
                <a16:creationId xmlns:a16="http://schemas.microsoft.com/office/drawing/2014/main" id="{7C3FEE19-F503-48B6-8B7E-D258BDE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竞争最激烈</a:t>
            </a:r>
          </a:p>
        </p:txBody>
      </p:sp>
      <p:sp>
        <p:nvSpPr>
          <p:cNvPr id="45" name="rect-42-532">
            <a:extLst xmlns:a="http://schemas.openxmlformats.org/drawingml/2006/main">
              <a:ext uri="{FF2B5EF4-FFF2-40B4-BE49-F238E27FC236}">
                <a16:creationId xmlns:a16="http://schemas.microsoft.com/office/drawing/2014/main" id="{1A72F068-F896-4FC9-85E5-F5EB18C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-56-547">
            <a:extLst xmlns:a="http://schemas.openxmlformats.org/drawingml/2006/main">
              <a:ext uri="{FF2B5EF4-FFF2-40B4-BE49-F238E27FC236}">
                <a16:creationId xmlns:a16="http://schemas.microsoft.com/office/drawing/2014/main" id="{1B097213-ECB4-407B-A969-914A64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  <p:sp>
        <p:nvSpPr>
          <p:cNvPr id="47" name="rect-260-532">
            <a:extLst xmlns:a="http://schemas.openxmlformats.org/drawingml/2006/main">
              <a:ext uri="{FF2B5EF4-FFF2-40B4-BE49-F238E27FC236}">
                <a16:creationId xmlns:a16="http://schemas.microsoft.com/office/drawing/2014/main" id="{0C130341-2D4D-4D0F-B295-96A30AE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-274-547">
            <a:extLst xmlns:a="http://schemas.openxmlformats.org/drawingml/2006/main">
              <a:ext uri="{FF2B5EF4-FFF2-40B4-BE49-F238E27FC236}">
                <a16:creationId xmlns:a16="http://schemas.microsoft.com/office/drawing/2014/main" id="{8DF430DD-906C-42D5-B0C7-38C4866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01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轻资产、近客户</a:t>
            </a:r>
          </a:p>
        </p:txBody>
      </p:sp>
      <p:sp>
        <p:nvSpPr>
          <p:cNvPr id="49" name="rect-550-532">
            <a:extLst xmlns:a="http://schemas.openxmlformats.org/drawingml/2006/main">
              <a:ext uri="{FF2B5EF4-FFF2-40B4-BE49-F238E27FC236}">
                <a16:creationId xmlns:a16="http://schemas.microsoft.com/office/drawing/2014/main" id="{DB06326B-19A5-4D24-AB47-EC26499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-564-547">
            <a:extLst xmlns:a="http://schemas.openxmlformats.org/drawingml/2006/main">
              <a:ext uri="{FF2B5EF4-FFF2-40B4-BE49-F238E27FC236}">
                <a16:creationId xmlns:a16="http://schemas.microsoft.com/office/drawing/2014/main" id="{C0C4A734-AB6F-496A-80D3-56AEB59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 Know-how 与交付</a:t>
            </a:r>
          </a:p>
        </p:txBody>
      </p:sp>
      <p:sp>
        <p:nvSpPr>
          <p:cNvPr id="51" name="rect-860-532">
            <a:extLst xmlns:a="http://schemas.openxmlformats.org/drawingml/2006/main">
              <a:ext uri="{FF2B5EF4-FFF2-40B4-BE49-F238E27FC236}">
                <a16:creationId xmlns:a16="http://schemas.microsoft.com/office/drawing/2014/main" id="{90109D42-E289-433A-A035-5BC126B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-874-547">
            <a:extLst xmlns:a="http://schemas.openxmlformats.org/drawingml/2006/main">
              <a:ext uri="{FF2B5EF4-FFF2-40B4-BE49-F238E27FC236}">
                <a16:creationId xmlns:a16="http://schemas.microsoft.com/office/drawing/2014/main" id="{2384650C-E10F-4692-92B3-23DF94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0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高度多样化</a:t>
            </a:r>
          </a:p>
        </p:txBody>
      </p:sp>
    </p:spTree>
    <p:extLst>
      <p:ext uri="{BB962C8B-B14F-4D97-AF65-F5344CB8AC3E}">
        <p14:creationId xmlns:p14="http://schemas.microsoft.com/office/powerpoint/2010/main" val="620644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ext-42-24">
            <a:extLst xmlns:a="http://schemas.openxmlformats.org/drawingml/2006/main">
              <a:ext uri="{FF2B5EF4-FFF2-40B4-BE49-F238E27FC236}">
                <a16:creationId xmlns:a16="http://schemas.microsoft.com/office/drawing/2014/main" id="{443BA748-02F7-4139-80F3-6FFE4BB6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258896B6-56B7-410A-8A40-64A4F31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巨头通过纵向整合控制成本、入口与数据回路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E4E26-5CB7-41A8-A9A7-6D308AEC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37D4C5F0-4110-4196-8096-425B5F9B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text-42-176">
            <a:extLst xmlns:a="http://schemas.openxmlformats.org/drawingml/2006/main">
              <a:ext uri="{FF2B5EF4-FFF2-40B4-BE49-F238E27FC236}">
                <a16:creationId xmlns:a16="http://schemas.microsoft.com/office/drawing/2014/main" id="{4726962D-8B66-41E1-AAA2-43BD96CB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</a:t>
            </a:r>
          </a:p>
        </p:txBody>
      </p:sp>
      <p:sp>
        <p:nvSpPr>
          <p:cNvPr id="6" name="text-354-176">
            <a:extLst xmlns:a="http://schemas.openxmlformats.org/drawingml/2006/main">
              <a:ext uri="{FF2B5EF4-FFF2-40B4-BE49-F238E27FC236}">
                <a16:creationId xmlns:a16="http://schemas.microsoft.com/office/drawing/2014/main" id="{6D772769-D487-4EFF-BD4A-4ABD74ED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能源/数据中心</a:t>
            </a:r>
          </a:p>
        </p:txBody>
      </p:sp>
      <p:sp>
        <p:nvSpPr>
          <p:cNvPr id="7" name="text-520-176">
            <a:extLst xmlns:a="http://schemas.openxmlformats.org/drawingml/2006/main">
              <a:ext uri="{FF2B5EF4-FFF2-40B4-BE49-F238E27FC236}">
                <a16:creationId xmlns:a16="http://schemas.microsoft.com/office/drawing/2014/main" id="{9924ACF3-8C86-4F1B-AD53-F8BAFF6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算力/云</a:t>
            </a:r>
          </a:p>
        </p:txBody>
      </p:sp>
      <p:sp>
        <p:nvSpPr>
          <p:cNvPr id="8" name="text-686-176">
            <a:extLst xmlns:a="http://schemas.openxmlformats.org/drawingml/2006/main">
              <a:ext uri="{FF2B5EF4-FFF2-40B4-BE49-F238E27FC236}">
                <a16:creationId xmlns:a16="http://schemas.microsoft.com/office/drawing/2014/main" id="{4F40206E-B7A9-4ED5-B003-35B5EBEA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9" name="text-852-176">
            <a:extLst xmlns:a="http://schemas.openxmlformats.org/drawingml/2006/main">
              <a:ext uri="{FF2B5EF4-FFF2-40B4-BE49-F238E27FC236}">
                <a16:creationId xmlns:a16="http://schemas.microsoft.com/office/drawing/2014/main" id="{866D5182-1C01-43C7-9FB0-C125331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0" name="text-1018-176">
            <a:extLst xmlns:a="http://schemas.openxmlformats.org/drawingml/2006/main">
              <a:ext uri="{FF2B5EF4-FFF2-40B4-BE49-F238E27FC236}">
                <a16:creationId xmlns:a16="http://schemas.microsoft.com/office/drawing/2014/main" id="{A4BEBC64-3BAE-4876-8141-38D2C5D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764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应用/入口</a:t>
            </a:r>
          </a:p>
        </p:txBody>
      </p:sp>
      <p:sp>
        <p:nvSpPr>
          <p:cNvPr id="11" name="text-42-258">
            <a:extLst xmlns:a="http://schemas.openxmlformats.org/drawingml/2006/main">
              <a:ext uri="{FF2B5EF4-FFF2-40B4-BE49-F238E27FC236}">
                <a16:creationId xmlns:a16="http://schemas.microsoft.com/office/drawing/2014/main" id="{F20C61EC-B898-4553-A4FA-7FB2D28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Google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FDBC3-95FE-4557-AF12-0D01460D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ct-408-256">
            <a:extLst xmlns:a="http://schemas.openxmlformats.org/drawingml/2006/main">
              <a:ext uri="{FF2B5EF4-FFF2-40B4-BE49-F238E27FC236}">
                <a16:creationId xmlns:a16="http://schemas.microsoft.com/office/drawing/2014/main" id="{2892D438-FAF9-4A8B-A2C4-71679533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ext-408-259">
            <a:extLst xmlns:a="http://schemas.openxmlformats.org/drawingml/2006/main">
              <a:ext uri="{FF2B5EF4-FFF2-40B4-BE49-F238E27FC236}">
                <a16:creationId xmlns:a16="http://schemas.microsoft.com/office/drawing/2014/main" id="{8570B269-0119-4D83-BB74-253972CB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5" name="rect-574-256">
            <a:extLst xmlns:a="http://schemas.openxmlformats.org/drawingml/2006/main">
              <a:ext uri="{FF2B5EF4-FFF2-40B4-BE49-F238E27FC236}">
                <a16:creationId xmlns:a16="http://schemas.microsoft.com/office/drawing/2014/main" id="{5EE57788-36FF-4400-8550-81290B8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-574-259">
            <a:extLst xmlns:a="http://schemas.openxmlformats.org/drawingml/2006/main">
              <a:ext uri="{FF2B5EF4-FFF2-40B4-BE49-F238E27FC236}">
                <a16:creationId xmlns:a16="http://schemas.microsoft.com/office/drawing/2014/main" id="{682624EE-340E-4BA1-BCBE-FFAEF553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7" name="rect-740-256">
            <a:extLst xmlns:a="http://schemas.openxmlformats.org/drawingml/2006/main">
              <a:ext uri="{FF2B5EF4-FFF2-40B4-BE49-F238E27FC236}">
                <a16:creationId xmlns:a16="http://schemas.microsoft.com/office/drawing/2014/main" id="{F4A405E0-8EEF-4922-8406-BA256157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text-740-259">
            <a:extLst xmlns:a="http://schemas.openxmlformats.org/drawingml/2006/main">
              <a:ext uri="{FF2B5EF4-FFF2-40B4-BE49-F238E27FC236}">
                <a16:creationId xmlns:a16="http://schemas.microsoft.com/office/drawing/2014/main" id="{002F3EFF-04CC-432B-940F-DE99350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9" name="rect-906-256">
            <a:extLst xmlns:a="http://schemas.openxmlformats.org/drawingml/2006/main">
              <a:ext uri="{FF2B5EF4-FFF2-40B4-BE49-F238E27FC236}">
                <a16:creationId xmlns:a16="http://schemas.microsoft.com/office/drawing/2014/main" id="{E72378F6-9CE5-4722-A342-5103563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text-906-259">
            <a:extLst xmlns:a="http://schemas.openxmlformats.org/drawingml/2006/main">
              <a:ext uri="{FF2B5EF4-FFF2-40B4-BE49-F238E27FC236}">
                <a16:creationId xmlns:a16="http://schemas.microsoft.com/office/drawing/2014/main" id="{BE598574-B5AC-4BF2-A010-0093C75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1" name="rect-1072-256">
            <a:extLst xmlns:a="http://schemas.openxmlformats.org/drawingml/2006/main">
              <a:ext uri="{FF2B5EF4-FFF2-40B4-BE49-F238E27FC236}">
                <a16:creationId xmlns:a16="http://schemas.microsoft.com/office/drawing/2014/main" id="{AD899956-C2C9-444F-80AA-B6CF343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text-1072-259">
            <a:extLst xmlns:a="http://schemas.openxmlformats.org/drawingml/2006/main">
              <a:ext uri="{FF2B5EF4-FFF2-40B4-BE49-F238E27FC236}">
                <a16:creationId xmlns:a16="http://schemas.microsoft.com/office/drawing/2014/main" id="{B669826E-AE34-42F3-88A0-C875E698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669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text-42-336">
            <a:extLst xmlns:a="http://schemas.openxmlformats.org/drawingml/2006/main">
              <a:ext uri="{FF2B5EF4-FFF2-40B4-BE49-F238E27FC236}">
                <a16:creationId xmlns:a16="http://schemas.microsoft.com/office/drawing/2014/main" id="{210844B4-F45B-45FF-904B-EECF062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Microsoft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64FCC-13EA-403D-A3D3-B394EC31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rect-408-334">
            <a:extLst xmlns:a="http://schemas.openxmlformats.org/drawingml/2006/main">
              <a:ext uri="{FF2B5EF4-FFF2-40B4-BE49-F238E27FC236}">
                <a16:creationId xmlns:a16="http://schemas.microsoft.com/office/drawing/2014/main" id="{0AFECB01-A684-4F16-80FD-A56AC51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text-408-337">
            <a:extLst xmlns:a="http://schemas.openxmlformats.org/drawingml/2006/main">
              <a:ext uri="{FF2B5EF4-FFF2-40B4-BE49-F238E27FC236}">
                <a16:creationId xmlns:a16="http://schemas.microsoft.com/office/drawing/2014/main" id="{B5E7E453-50F8-4CA9-B919-85E9FA4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7" name="rect-574-334">
            <a:extLst xmlns:a="http://schemas.openxmlformats.org/drawingml/2006/main">
              <a:ext uri="{FF2B5EF4-FFF2-40B4-BE49-F238E27FC236}">
                <a16:creationId xmlns:a16="http://schemas.microsoft.com/office/drawing/2014/main" id="{B6B13DE9-21C2-4096-9686-AD442B7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text-574-337">
            <a:extLst xmlns:a="http://schemas.openxmlformats.org/drawingml/2006/main">
              <a:ext uri="{FF2B5EF4-FFF2-40B4-BE49-F238E27FC236}">
                <a16:creationId xmlns:a16="http://schemas.microsoft.com/office/drawing/2014/main" id="{FC2AD34A-B620-45C1-B2A2-7203FBA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rect-740-334">
            <a:extLst xmlns:a="http://schemas.openxmlformats.org/drawingml/2006/main">
              <a:ext uri="{FF2B5EF4-FFF2-40B4-BE49-F238E27FC236}">
                <a16:creationId xmlns:a16="http://schemas.microsoft.com/office/drawing/2014/main" id="{921EC964-92DA-48D1-92C0-CC3ECE9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text-740-337">
            <a:extLst xmlns:a="http://schemas.openxmlformats.org/drawingml/2006/main">
              <a:ext uri="{FF2B5EF4-FFF2-40B4-BE49-F238E27FC236}">
                <a16:creationId xmlns:a16="http://schemas.microsoft.com/office/drawing/2014/main" id="{E15E5D85-81F9-48D2-904E-9D67289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1" name="rect-906-334">
            <a:extLst xmlns:a="http://schemas.openxmlformats.org/drawingml/2006/main">
              <a:ext uri="{FF2B5EF4-FFF2-40B4-BE49-F238E27FC236}">
                <a16:creationId xmlns:a16="http://schemas.microsoft.com/office/drawing/2014/main" id="{27E696D7-259E-41C2-A5FF-56C5A12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text-906-337">
            <a:extLst xmlns:a="http://schemas.openxmlformats.org/drawingml/2006/main">
              <a:ext uri="{FF2B5EF4-FFF2-40B4-BE49-F238E27FC236}">
                <a16:creationId xmlns:a16="http://schemas.microsoft.com/office/drawing/2014/main" id="{7FDAA4E8-DFD0-4C74-AFE9-E3688A08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3" name="rect-1072-334">
            <a:extLst xmlns:a="http://schemas.openxmlformats.org/drawingml/2006/main">
              <a:ext uri="{FF2B5EF4-FFF2-40B4-BE49-F238E27FC236}">
                <a16:creationId xmlns:a16="http://schemas.microsoft.com/office/drawing/2014/main" id="{24F4A525-48D2-4AFB-9582-214D079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4" name="text-1072-337">
            <a:extLst xmlns:a="http://schemas.openxmlformats.org/drawingml/2006/main">
              <a:ext uri="{FF2B5EF4-FFF2-40B4-BE49-F238E27FC236}">
                <a16:creationId xmlns:a16="http://schemas.microsoft.com/office/drawing/2014/main" id="{24D567AB-C684-46DF-B65E-9F66C6A7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099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5" name="text-42-414">
            <a:extLst xmlns:a="http://schemas.openxmlformats.org/drawingml/2006/main">
              <a:ext uri="{FF2B5EF4-FFF2-40B4-BE49-F238E27FC236}">
                <a16:creationId xmlns:a16="http://schemas.microsoft.com/office/drawing/2014/main" id="{213EC63B-0CBD-42FB-830E-1474F76C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Amazon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FC0CE-7513-4947-9185-AE84842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rect-408-412">
            <a:extLst xmlns:a="http://schemas.openxmlformats.org/drawingml/2006/main">
              <a:ext uri="{FF2B5EF4-FFF2-40B4-BE49-F238E27FC236}">
                <a16:creationId xmlns:a16="http://schemas.microsoft.com/office/drawing/2014/main" id="{C7655785-4B79-4701-A41E-D0006FB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text-408-415">
            <a:extLst xmlns:a="http://schemas.openxmlformats.org/drawingml/2006/main">
              <a:ext uri="{FF2B5EF4-FFF2-40B4-BE49-F238E27FC236}">
                <a16:creationId xmlns:a16="http://schemas.microsoft.com/office/drawing/2014/main" id="{C781F937-2D55-4654-92EB-35E6CB8B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rect-574-412">
            <a:extLst xmlns:a="http://schemas.openxmlformats.org/drawingml/2006/main">
              <a:ext uri="{FF2B5EF4-FFF2-40B4-BE49-F238E27FC236}">
                <a16:creationId xmlns:a16="http://schemas.microsoft.com/office/drawing/2014/main" id="{93F4E3B9-4E6B-47E7-A853-50F9CB66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0" name="text-574-415">
            <a:extLst xmlns:a="http://schemas.openxmlformats.org/drawingml/2006/main">
              <a:ext uri="{FF2B5EF4-FFF2-40B4-BE49-F238E27FC236}">
                <a16:creationId xmlns:a16="http://schemas.microsoft.com/office/drawing/2014/main" id="{28D098C6-20BE-4F52-859B-B07062C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1" name="rect-740-412">
            <a:extLst xmlns:a="http://schemas.openxmlformats.org/drawingml/2006/main">
              <a:ext uri="{FF2B5EF4-FFF2-40B4-BE49-F238E27FC236}">
                <a16:creationId xmlns:a16="http://schemas.microsoft.com/office/drawing/2014/main" id="{92098D36-9BC7-47AA-9ECF-10DA443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2" name="text-740-415">
            <a:extLst xmlns:a="http://schemas.openxmlformats.org/drawingml/2006/main">
              <a:ext uri="{FF2B5EF4-FFF2-40B4-BE49-F238E27FC236}">
                <a16:creationId xmlns:a16="http://schemas.microsoft.com/office/drawing/2014/main" id="{6A99105C-FA0E-47BA-B96D-7975F8F5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3" name="rect-906-412">
            <a:extLst xmlns:a="http://schemas.openxmlformats.org/drawingml/2006/main">
              <a:ext uri="{FF2B5EF4-FFF2-40B4-BE49-F238E27FC236}">
                <a16:creationId xmlns:a16="http://schemas.microsoft.com/office/drawing/2014/main" id="{E5894628-BAC0-4BCA-B1BA-9DFCACD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4" name="text-906-415">
            <a:extLst xmlns:a="http://schemas.openxmlformats.org/drawingml/2006/main">
              <a:ext uri="{FF2B5EF4-FFF2-40B4-BE49-F238E27FC236}">
                <a16:creationId xmlns:a16="http://schemas.microsoft.com/office/drawing/2014/main" id="{70DA1A8A-A91E-4D42-94EA-CEB9EB8F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5" name="rect-1072-412">
            <a:extLst xmlns:a="http://schemas.openxmlformats.org/drawingml/2006/main">
              <a:ext uri="{FF2B5EF4-FFF2-40B4-BE49-F238E27FC236}">
                <a16:creationId xmlns:a16="http://schemas.microsoft.com/office/drawing/2014/main" id="{66D507A1-6321-4480-95C6-B337382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6" name="text-1072-415">
            <a:extLst xmlns:a="http://schemas.openxmlformats.org/drawingml/2006/main">
              <a:ext uri="{FF2B5EF4-FFF2-40B4-BE49-F238E27FC236}">
                <a16:creationId xmlns:a16="http://schemas.microsoft.com/office/drawing/2014/main" id="{2E6C7B93-C691-4E20-AF7B-E7C2000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528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7" name="text-42-492">
            <a:extLst xmlns:a="http://schemas.openxmlformats.org/drawingml/2006/main">
              <a:ext uri="{FF2B5EF4-FFF2-40B4-BE49-F238E27FC236}">
                <a16:creationId xmlns:a16="http://schemas.microsoft.com/office/drawing/2014/main" id="{17B5190F-7D11-4340-85BA-87761196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Alibaba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3328CB-1980-4170-BF00-925B4BD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rect-408-490">
            <a:extLst xmlns:a="http://schemas.openxmlformats.org/drawingml/2006/main">
              <a:ext uri="{FF2B5EF4-FFF2-40B4-BE49-F238E27FC236}">
                <a16:creationId xmlns:a16="http://schemas.microsoft.com/office/drawing/2014/main" id="{3A1B5193-0AFF-4ED3-A65F-62DE5FE3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50" name="text-408-493">
            <a:extLst xmlns:a="http://schemas.openxmlformats.org/drawingml/2006/main">
              <a:ext uri="{FF2B5EF4-FFF2-40B4-BE49-F238E27FC236}">
                <a16:creationId xmlns:a16="http://schemas.microsoft.com/office/drawing/2014/main" id="{0368B06F-8F71-4341-B4BD-8A1C4AB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1" name="rect-574-490">
            <a:extLst xmlns:a="http://schemas.openxmlformats.org/drawingml/2006/main">
              <a:ext uri="{FF2B5EF4-FFF2-40B4-BE49-F238E27FC236}">
                <a16:creationId xmlns:a16="http://schemas.microsoft.com/office/drawing/2014/main" id="{0B0B940F-7F2F-475E-95F3-7C803FE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text-574-493">
            <a:extLst xmlns:a="http://schemas.openxmlformats.org/drawingml/2006/main">
              <a:ext uri="{FF2B5EF4-FFF2-40B4-BE49-F238E27FC236}">
                <a16:creationId xmlns:a16="http://schemas.microsoft.com/office/drawing/2014/main" id="{E2901906-E4DA-4D57-91D0-9991F37F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3" name="rect-740-490">
            <a:extLst xmlns:a="http://schemas.openxmlformats.org/drawingml/2006/main">
              <a:ext uri="{FF2B5EF4-FFF2-40B4-BE49-F238E27FC236}">
                <a16:creationId xmlns:a16="http://schemas.microsoft.com/office/drawing/2014/main" id="{8A031160-EB97-4F58-BBF8-CC6E083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4" name="text-740-493">
            <a:extLst xmlns:a="http://schemas.openxmlformats.org/drawingml/2006/main">
              <a:ext uri="{FF2B5EF4-FFF2-40B4-BE49-F238E27FC236}">
                <a16:creationId xmlns:a16="http://schemas.microsoft.com/office/drawing/2014/main" id="{7E4C5B74-54DF-4029-88DD-145F680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5" name="rect-906-490">
            <a:extLst xmlns:a="http://schemas.openxmlformats.org/drawingml/2006/main">
              <a:ext uri="{FF2B5EF4-FFF2-40B4-BE49-F238E27FC236}">
                <a16:creationId xmlns:a16="http://schemas.microsoft.com/office/drawing/2014/main" id="{7F297FE7-6BD2-44A5-9A7B-7560ABE8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6" name="text-906-493">
            <a:extLst xmlns:a="http://schemas.openxmlformats.org/drawingml/2006/main">
              <a:ext uri="{FF2B5EF4-FFF2-40B4-BE49-F238E27FC236}">
                <a16:creationId xmlns:a16="http://schemas.microsoft.com/office/drawing/2014/main" id="{474EDB41-CD0A-41AF-B53E-6FE0EEE9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7" name="rect-1072-490">
            <a:extLst xmlns:a="http://schemas.openxmlformats.org/drawingml/2006/main">
              <a:ext uri="{FF2B5EF4-FFF2-40B4-BE49-F238E27FC236}">
                <a16:creationId xmlns:a16="http://schemas.microsoft.com/office/drawing/2014/main" id="{DB6FDB13-123F-4F47-B47C-472C2D91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8" name="text-1072-493">
            <a:extLst xmlns:a="http://schemas.openxmlformats.org/drawingml/2006/main">
              <a:ext uri="{FF2B5EF4-FFF2-40B4-BE49-F238E27FC236}">
                <a16:creationId xmlns:a16="http://schemas.microsoft.com/office/drawing/2014/main" id="{E19FF408-66AA-4669-ACB3-974C941A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95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text-42-570">
            <a:extLst xmlns:a="http://schemas.openxmlformats.org/drawingml/2006/main">
              <a:ext uri="{FF2B5EF4-FFF2-40B4-BE49-F238E27FC236}">
                <a16:creationId xmlns:a16="http://schemas.microsoft.com/office/drawing/2014/main" id="{9C165321-B4C1-4436-9A07-70A6874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共同逻辑</a:t>
            </a:r>
          </a:p>
        </p:txBody>
      </p:sp>
      <p:sp>
        <p:nvSpPr>
          <p:cNvPr id="60" name="text-210-568">
            <a:extLst xmlns:a="http://schemas.openxmlformats.org/drawingml/2006/main">
              <a:ext uri="{FF2B5EF4-FFF2-40B4-BE49-F238E27FC236}">
                <a16:creationId xmlns:a16="http://schemas.microsoft.com/office/drawing/2014/main" id="{B72A3C87-4ACB-4BED-8CE7-67561D6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02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向下掌握供给成本，向上掌握用户入口，中间通过数据反馈形成持续优化闭环。</a:t>
            </a:r>
          </a:p>
        </p:txBody>
      </p:sp>
    </p:spTree>
    <p:extLst>
      <p:ext uri="{BB962C8B-B14F-4D97-AF65-F5344CB8AC3E}">
        <p14:creationId xmlns:p14="http://schemas.microsoft.com/office/powerpoint/2010/main" val="10103958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32D2FAB-6557-4F21-AE1D-E7F25975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跨层竞争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5842BC6F-E1C1-4451-9FBC-80CCDF49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层是价值重新分配的主战场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66CD1-61FD-42AD-8FE7-E15430C7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A413EDA-6ABE-40E2-A253-026666F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277AA2D-947E-4005-BB54-44CBEC5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模型厂商向上、应用厂商向下、平台厂商横向扩张，三股力量在 Agent 入口交汇。</a:t>
            </a:r>
          </a:p>
        </p:txBody>
      </p:sp>
      <p:sp>
        <p:nvSpPr>
          <p:cNvPr id="6" name="rect-42-258">
            <a:extLst xmlns:a="http://schemas.openxmlformats.org/drawingml/2006/main">
              <a:ext uri="{FF2B5EF4-FFF2-40B4-BE49-F238E27FC236}">
                <a16:creationId xmlns:a16="http://schemas.microsoft.com/office/drawing/2014/main" id="{E0339AB0-DFBA-495B-81A5-699084B8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5814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text-66-285">
            <a:extLst xmlns:a="http://schemas.openxmlformats.org/drawingml/2006/main">
              <a:ext uri="{FF2B5EF4-FFF2-40B4-BE49-F238E27FC236}">
                <a16:creationId xmlns:a16="http://schemas.microsoft.com/office/drawing/2014/main" id="{92BE5727-C283-45EF-B237-D13E0DAF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模型厂商向上</a:t>
            </a:r>
          </a:p>
        </p:txBody>
      </p:sp>
      <p:sp>
        <p:nvSpPr>
          <p:cNvPr id="8" name="text-66-350">
            <a:extLst xmlns:a="http://schemas.openxmlformats.org/drawingml/2006/main">
              <a:ext uri="{FF2B5EF4-FFF2-40B4-BE49-F238E27FC236}">
                <a16:creationId xmlns:a16="http://schemas.microsoft.com/office/drawing/2014/main" id="{006A813D-A42A-4070-A9E9-1218916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把模型、工具调用、协议和执行环境打包，直接承接用户任务。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328CD-1D9E-4413-95AD-11DF842B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66-484">
            <a:extLst xmlns:a="http://schemas.openxmlformats.org/drawingml/2006/main">
              <a:ext uri="{FF2B5EF4-FFF2-40B4-BE49-F238E27FC236}">
                <a16:creationId xmlns:a16="http://schemas.microsoft.com/office/drawing/2014/main" id="{F30954F3-C74F-4185-96F2-C2D4E38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胜负手：模型能力 + 开发者生态</a:t>
            </a:r>
          </a:p>
        </p:txBody>
      </p:sp>
      <p:sp>
        <p:nvSpPr>
          <p:cNvPr id="11" name="rect-452-258">
            <a:extLst xmlns:a="http://schemas.openxmlformats.org/drawingml/2006/main">
              <a:ext uri="{FF2B5EF4-FFF2-40B4-BE49-F238E27FC236}">
                <a16:creationId xmlns:a16="http://schemas.microsoft.com/office/drawing/2014/main" id="{92CF750F-7B86-4050-A4F1-4E2D575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5814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text-476-285">
            <a:extLst xmlns:a="http://schemas.openxmlformats.org/drawingml/2006/main">
              <a:ext uri="{FF2B5EF4-FFF2-40B4-BE49-F238E27FC236}">
                <a16:creationId xmlns:a16="http://schemas.microsoft.com/office/drawing/2014/main" id="{F7F64B24-A957-41DA-904E-6859ABC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应用厂商向下</a:t>
            </a:r>
          </a:p>
        </p:txBody>
      </p:sp>
      <p:sp>
        <p:nvSpPr>
          <p:cNvPr id="13" name="text-476-350">
            <a:extLst xmlns:a="http://schemas.openxmlformats.org/drawingml/2006/main">
              <a:ext uri="{FF2B5EF4-FFF2-40B4-BE49-F238E27FC236}">
                <a16:creationId xmlns:a16="http://schemas.microsoft.com/office/drawing/2014/main" id="{D41BA9E3-3D8F-4EBC-B805-789671F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把客户关系、行业流程和专有数据封装成垂直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DC42D-27EA-43B5-8128-87DCC06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476-484">
            <a:extLst xmlns:a="http://schemas.openxmlformats.org/drawingml/2006/main">
              <a:ext uri="{FF2B5EF4-FFF2-40B4-BE49-F238E27FC236}">
                <a16:creationId xmlns:a16="http://schemas.microsoft.com/office/drawing/2014/main" id="{5D939EF2-2DDB-43D2-A105-6CD6A5D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胜负手：场景深度 + 分发入口</a:t>
            </a:r>
          </a:p>
        </p:txBody>
      </p:sp>
      <p:sp>
        <p:nvSpPr>
          <p:cNvPr id="16" name="rect-862-258">
            <a:extLst xmlns:a="http://schemas.openxmlformats.org/drawingml/2006/main">
              <a:ext uri="{FF2B5EF4-FFF2-40B4-BE49-F238E27FC236}">
                <a16:creationId xmlns:a16="http://schemas.microsoft.com/office/drawing/2014/main" id="{6F2D21BC-6070-4A3A-8977-2C8CAD1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5814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7" name="text-886-285">
            <a:extLst xmlns:a="http://schemas.openxmlformats.org/drawingml/2006/main">
              <a:ext uri="{FF2B5EF4-FFF2-40B4-BE49-F238E27FC236}">
                <a16:creationId xmlns:a16="http://schemas.microsoft.com/office/drawing/2014/main" id="{9C5BB600-91DA-4125-BE32-CA2BFBF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14625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平台厂商横向</a:t>
            </a:r>
          </a:p>
        </p:txBody>
      </p:sp>
      <p:sp>
        <p:nvSpPr>
          <p:cNvPr id="18" name="text-886-350">
            <a:extLst xmlns:a="http://schemas.openxmlformats.org/drawingml/2006/main">
              <a:ext uri="{FF2B5EF4-FFF2-40B4-BE49-F238E27FC236}">
                <a16:creationId xmlns:a16="http://schemas.microsoft.com/office/drawing/2014/main" id="{244B851E-6E8E-4F6D-9802-8EA87A7C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312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提供构建、治理、观测、权限与多 Agent 协作的 Agent OS。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3A85B-DEF4-45DA-B704-53D573F6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86-484">
            <a:extLst xmlns:a="http://schemas.openxmlformats.org/drawingml/2006/main">
              <a:ext uri="{FF2B5EF4-FFF2-40B4-BE49-F238E27FC236}">
                <a16:creationId xmlns:a16="http://schemas.microsoft.com/office/drawing/2014/main" id="{E938FF38-2395-42EB-9F8C-4A553A1D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01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胜负手：标准 + 控制面 + 数据连接</a:t>
            </a:r>
          </a:p>
        </p:txBody>
      </p:sp>
      <p:sp>
        <p:nvSpPr>
          <p:cNvPr id="21" name="rect-42-564">
            <a:extLst xmlns:a="http://schemas.openxmlformats.org/drawingml/2006/main">
              <a:ext uri="{FF2B5EF4-FFF2-40B4-BE49-F238E27FC236}">
                <a16:creationId xmlns:a16="http://schemas.microsoft.com/office/drawing/2014/main" id="{9EBBA759-A9AC-4F0F-AC1F-82CB394E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2" name="text-64-578">
            <a:extLst xmlns:a="http://schemas.openxmlformats.org/drawingml/2006/main">
              <a:ext uri="{FF2B5EF4-FFF2-40B4-BE49-F238E27FC236}">
                <a16:creationId xmlns:a16="http://schemas.microsoft.com/office/drawing/2014/main" id="{36A7266D-7CCB-4288-844F-3C18BCEA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对企业而言，关键不是押注单一 Agent，而是保留模型可替换、工具可组合、权限可审计的架构选择权。</a:t>
            </a:r>
          </a:p>
        </p:txBody>
      </p:sp>
    </p:spTree>
    <p:extLst>
      <p:ext uri="{BB962C8B-B14F-4D97-AF65-F5344CB8AC3E}">
        <p14:creationId xmlns:p14="http://schemas.microsoft.com/office/powerpoint/2010/main" val="1642141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42-24">
            <a:extLst xmlns:a="http://schemas.openxmlformats.org/drawingml/2006/main">
              <a:ext uri="{FF2B5EF4-FFF2-40B4-BE49-F238E27FC236}">
                <a16:creationId xmlns:a16="http://schemas.microsoft.com/office/drawing/2014/main" id="{063DB175-EED2-48AD-9B98-308EC678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767C5D5-23E8-4948-ADE8-C459117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企业将沿四级成熟度，从助手走向自主运营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739D7-DF4E-433B-930C-4FD757F9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A8D86535-AD9D-487A-B134-67C174BB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ADFB4-A62B-4E3C-80FE-69631D20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rect-68-286">
            <a:extLst xmlns:a="http://schemas.openxmlformats.org/drawingml/2006/main">
              <a:ext uri="{FF2B5EF4-FFF2-40B4-BE49-F238E27FC236}">
                <a16:creationId xmlns:a16="http://schemas.microsoft.com/office/drawing/2014/main" id="{FA14B519-4741-4F20-A406-EE870E4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text-68-295">
            <a:extLst xmlns:a="http://schemas.openxmlformats.org/drawingml/2006/main">
              <a:ext uri="{FF2B5EF4-FFF2-40B4-BE49-F238E27FC236}">
                <a16:creationId xmlns:a16="http://schemas.microsoft.com/office/drawing/2014/main" id="{5A91A82C-BBDC-431C-BB2E-4CFA6DB3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-42-190">
            <a:extLst xmlns:a="http://schemas.openxmlformats.org/drawingml/2006/main">
              <a:ext uri="{FF2B5EF4-FFF2-40B4-BE49-F238E27FC236}">
                <a16:creationId xmlns:a16="http://schemas.microsoft.com/office/drawing/2014/main" id="{56BE0590-0484-46A8-B166-E570B55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L1 助手化</a:t>
            </a:r>
          </a:p>
        </p:txBody>
      </p:sp>
      <p:sp>
        <p:nvSpPr>
          <p:cNvPr id="9" name="text-42-360">
            <a:extLst xmlns:a="http://schemas.openxmlformats.org/drawingml/2006/main">
              <a:ext uri="{FF2B5EF4-FFF2-40B4-BE49-F238E27FC236}">
                <a16:creationId xmlns:a16="http://schemas.microsoft.com/office/drawing/2014/main" id="{E9667B3E-B57B-427F-B0E4-2794227B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单点生成与问答</a:t>
            </a:r>
          </a:p>
        </p:txBody>
      </p:sp>
      <p:sp>
        <p:nvSpPr>
          <p:cNvPr id="10" name="text-42-444">
            <a:extLst xmlns:a="http://schemas.openxmlformats.org/drawingml/2006/main">
              <a:ext uri="{FF2B5EF4-FFF2-40B4-BE49-F238E27FC236}">
                <a16:creationId xmlns:a16="http://schemas.microsoft.com/office/drawing/2014/main" id="{8DB0630E-60E0-4FBD-8652-E6174D6F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人负责判断与执行</a:t>
            </a:r>
          </a:p>
        </p:txBody>
      </p:sp>
      <p:sp>
        <p:nvSpPr>
          <p:cNvPr id="11" name="rect-366-286">
            <a:extLst xmlns:a="http://schemas.openxmlformats.org/drawingml/2006/main">
              <a:ext uri="{FF2B5EF4-FFF2-40B4-BE49-F238E27FC236}">
                <a16:creationId xmlns:a16="http://schemas.microsoft.com/office/drawing/2014/main" id="{C96A7BD9-4ECF-41DC-A7F3-4F6FE40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text-366-295">
            <a:extLst xmlns:a="http://schemas.openxmlformats.org/drawingml/2006/main">
              <a:ext uri="{FF2B5EF4-FFF2-40B4-BE49-F238E27FC236}">
                <a16:creationId xmlns:a16="http://schemas.microsoft.com/office/drawing/2014/main" id="{007C7980-19EA-462F-99CB-21845CB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-340-190">
            <a:extLst xmlns:a="http://schemas.openxmlformats.org/drawingml/2006/main">
              <a:ext uri="{FF2B5EF4-FFF2-40B4-BE49-F238E27FC236}">
                <a16:creationId xmlns:a16="http://schemas.microsoft.com/office/drawing/2014/main" id="{5E0CCC52-E04A-41E5-B698-A862A615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L2 流程嵌入</a:t>
            </a:r>
          </a:p>
        </p:txBody>
      </p:sp>
      <p:sp>
        <p:nvSpPr>
          <p:cNvPr id="14" name="text-340-360">
            <a:extLst xmlns:a="http://schemas.openxmlformats.org/drawingml/2006/main">
              <a:ext uri="{FF2B5EF4-FFF2-40B4-BE49-F238E27FC236}">
                <a16:creationId xmlns:a16="http://schemas.microsoft.com/office/drawing/2014/main" id="{8A7AE715-F431-4AE4-A7BA-1DF9E09B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在一个流程内检索、生成、建议</a:t>
            </a:r>
          </a:p>
        </p:txBody>
      </p:sp>
      <p:sp>
        <p:nvSpPr>
          <p:cNvPr id="15" name="text-340-444">
            <a:extLst xmlns:a="http://schemas.openxmlformats.org/drawingml/2006/main">
              <a:ext uri="{FF2B5EF4-FFF2-40B4-BE49-F238E27FC236}">
                <a16:creationId xmlns:a16="http://schemas.microsoft.com/office/drawing/2014/main" id="{F8004B95-A073-4EFF-A2FD-2B15063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系统可写回，人负责审批</a:t>
            </a:r>
          </a:p>
        </p:txBody>
      </p:sp>
      <p:sp>
        <p:nvSpPr>
          <p:cNvPr id="16" name="rect-664-286">
            <a:extLst xmlns:a="http://schemas.openxmlformats.org/drawingml/2006/main">
              <a:ext uri="{FF2B5EF4-FFF2-40B4-BE49-F238E27FC236}">
                <a16:creationId xmlns:a16="http://schemas.microsoft.com/office/drawing/2014/main" id="{85670088-45BF-4C20-A6ED-0288988A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text-664-295">
            <a:extLst xmlns:a="http://schemas.openxmlformats.org/drawingml/2006/main">
              <a:ext uri="{FF2B5EF4-FFF2-40B4-BE49-F238E27FC236}">
                <a16:creationId xmlns:a16="http://schemas.microsoft.com/office/drawing/2014/main" id="{662F331E-EE6F-45E3-B2A2-4EDE3479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-638-190">
            <a:extLst xmlns:a="http://schemas.openxmlformats.org/drawingml/2006/main">
              <a:ext uri="{FF2B5EF4-FFF2-40B4-BE49-F238E27FC236}">
                <a16:creationId xmlns:a16="http://schemas.microsoft.com/office/drawing/2014/main" id="{32A6FF9C-526A-4636-AEFC-B6A6AC69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L3 跨系统 Agent</a:t>
            </a:r>
          </a:p>
        </p:txBody>
      </p:sp>
      <p:sp>
        <p:nvSpPr>
          <p:cNvPr id="19" name="text-638-360">
            <a:extLst xmlns:a="http://schemas.openxmlformats.org/drawingml/2006/main">
              <a:ext uri="{FF2B5EF4-FFF2-40B4-BE49-F238E27FC236}">
                <a16:creationId xmlns:a16="http://schemas.microsoft.com/office/drawing/2014/main" id="{52A30A99-AF38-4EF1-8E98-CD4B7F06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跨数据与工具完成端到端任务</a:t>
            </a:r>
          </a:p>
        </p:txBody>
      </p:sp>
      <p:sp>
        <p:nvSpPr>
          <p:cNvPr id="20" name="text-638-444">
            <a:extLst xmlns:a="http://schemas.openxmlformats.org/drawingml/2006/main">
              <a:ext uri="{FF2B5EF4-FFF2-40B4-BE49-F238E27FC236}">
                <a16:creationId xmlns:a16="http://schemas.microsoft.com/office/drawing/2014/main" id="{B0B7D699-1A84-4735-82A3-5DD8C60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异常与高风险节点人工介入</a:t>
            </a:r>
          </a:p>
        </p:txBody>
      </p:sp>
      <p:sp>
        <p:nvSpPr>
          <p:cNvPr id="21" name="rect-962-286">
            <a:extLst xmlns:a="http://schemas.openxmlformats.org/drawingml/2006/main">
              <a:ext uri="{FF2B5EF4-FFF2-40B4-BE49-F238E27FC236}">
                <a16:creationId xmlns:a16="http://schemas.microsoft.com/office/drawing/2014/main" id="{FAF6E9D6-5F65-421F-A207-7809283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text-962-295">
            <a:extLst xmlns:a="http://schemas.openxmlformats.org/drawingml/2006/main">
              <a:ext uri="{FF2B5EF4-FFF2-40B4-BE49-F238E27FC236}">
                <a16:creationId xmlns:a16="http://schemas.microsoft.com/office/drawing/2014/main" id="{BA9108D8-15E8-41B1-89DC-0F3E84F5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-936-190">
            <a:extLst xmlns:a="http://schemas.openxmlformats.org/drawingml/2006/main">
              <a:ext uri="{FF2B5EF4-FFF2-40B4-BE49-F238E27FC236}">
                <a16:creationId xmlns:a16="http://schemas.microsoft.com/office/drawing/2014/main" id="{6BED2E5F-2851-4564-A3C1-12E49B0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L4 自主运营</a:t>
            </a:r>
          </a:p>
        </p:txBody>
      </p:sp>
      <p:sp>
        <p:nvSpPr>
          <p:cNvPr id="24" name="text-936-360">
            <a:extLst xmlns:a="http://schemas.openxmlformats.org/drawingml/2006/main">
              <a:ext uri="{FF2B5EF4-FFF2-40B4-BE49-F238E27FC236}">
                <a16:creationId xmlns:a16="http://schemas.microsoft.com/office/drawing/2014/main" id="{4D28E63B-127F-49B2-8F19-DA5C550C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多 Agent 协作、持续优化目标</a:t>
            </a:r>
          </a:p>
        </p:txBody>
      </p:sp>
      <p:sp>
        <p:nvSpPr>
          <p:cNvPr id="25" name="text-936-444">
            <a:extLst xmlns:a="http://schemas.openxmlformats.org/drawingml/2006/main">
              <a:ext uri="{FF2B5EF4-FFF2-40B4-BE49-F238E27FC236}">
                <a16:creationId xmlns:a16="http://schemas.microsoft.com/office/drawing/2014/main" id="{8CE16176-478A-4FCA-8E96-F878BCE6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人管理策略、边界与结果</a:t>
            </a:r>
          </a:p>
        </p:txBody>
      </p:sp>
      <p:sp>
        <p:nvSpPr>
          <p:cNvPr id="26" name="text-42-580">
            <a:extLst xmlns:a="http://schemas.openxmlformats.org/drawingml/2006/main">
              <a:ext uri="{FF2B5EF4-FFF2-40B4-BE49-F238E27FC236}">
                <a16:creationId xmlns:a16="http://schemas.microsoft.com/office/drawing/2014/main" id="{8F1E2885-A6D6-442C-872B-AE7C0A7D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演进原则</a:t>
            </a:r>
          </a:p>
        </p:txBody>
      </p:sp>
      <p:sp>
        <p:nvSpPr>
          <p:cNvPr id="27" name="text-170-576">
            <a:extLst xmlns:a="http://schemas.openxmlformats.org/drawingml/2006/main">
              <a:ext uri="{FF2B5EF4-FFF2-40B4-BE49-F238E27FC236}">
                <a16:creationId xmlns:a16="http://schemas.microsoft.com/office/drawing/2014/main" id="{447835FC-2B22-47E4-8BC2-956D637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每升一级，都必须同步提升数据语义、工具接口、评测体系、权限治理和组织责任，而不是只增加模型自主性。</a:t>
            </a:r>
          </a:p>
        </p:txBody>
      </p:sp>
    </p:spTree>
    <p:extLst>
      <p:ext uri="{BB962C8B-B14F-4D97-AF65-F5344CB8AC3E}">
        <p14:creationId xmlns:p14="http://schemas.microsoft.com/office/powerpoint/2010/main" val="10661155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24C8A695-DE37-44DA-A3A1-E858E60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A9D4816-B154-4A39-ABFA-9175DF3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企业目标架构应把“智能面”叠加在既有业务与数据之上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F95A3-945C-4675-A519-8CF2CBE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2592A5C-5C9C-4954-8319-90331AA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rect-42-156">
            <a:extLst xmlns:a="http://schemas.openxmlformats.org/drawingml/2006/main">
              <a:ext uri="{FF2B5EF4-FFF2-40B4-BE49-F238E27FC236}">
                <a16:creationId xmlns:a16="http://schemas.microsoft.com/office/drawing/2014/main" id="{5E59FCF0-EAB0-4F19-8CA4-42E5C67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text-62-169">
            <a:extLst xmlns:a="http://schemas.openxmlformats.org/drawingml/2006/main">
              <a:ext uri="{FF2B5EF4-FFF2-40B4-BE49-F238E27FC236}">
                <a16:creationId xmlns:a16="http://schemas.microsoft.com/office/drawing/2014/main" id="{75464400-0E5B-4FC2-B8AB-3A3533F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交互与场景面</a:t>
            </a:r>
          </a:p>
        </p:txBody>
      </p:sp>
      <p:sp>
        <p:nvSpPr>
          <p:cNvPr id="7" name="text-260-170">
            <a:extLst xmlns:a="http://schemas.openxmlformats.org/drawingml/2006/main">
              <a:ext uri="{FF2B5EF4-FFF2-40B4-BE49-F238E27FC236}">
                <a16:creationId xmlns:a16="http://schemas.microsoft.com/office/drawing/2014/main" id="{FE538B35-7DAA-4C61-B920-800ACD0C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员工助手 · 客户触点 · 垂直应用 · API</a:t>
            </a:r>
          </a:p>
        </p:txBody>
      </p:sp>
      <p:sp>
        <p:nvSpPr>
          <p:cNvPr id="8" name="rect-42-226">
            <a:extLst xmlns:a="http://schemas.openxmlformats.org/drawingml/2006/main">
              <a:ext uri="{FF2B5EF4-FFF2-40B4-BE49-F238E27FC236}">
                <a16:creationId xmlns:a16="http://schemas.microsoft.com/office/drawing/2014/main" id="{1A941986-9390-40E0-9071-358D885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62-239">
            <a:extLst xmlns:a="http://schemas.openxmlformats.org/drawingml/2006/main">
              <a:ext uri="{FF2B5EF4-FFF2-40B4-BE49-F238E27FC236}">
                <a16:creationId xmlns:a16="http://schemas.microsoft.com/office/drawing/2014/main" id="{E2079441-0C5F-49EB-AECB-E328057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编排面</a:t>
            </a:r>
          </a:p>
        </p:txBody>
      </p:sp>
      <p:sp>
        <p:nvSpPr>
          <p:cNvPr id="10" name="text-260-240">
            <a:extLst xmlns:a="http://schemas.openxmlformats.org/drawingml/2006/main">
              <a:ext uri="{FF2B5EF4-FFF2-40B4-BE49-F238E27FC236}">
                <a16:creationId xmlns:a16="http://schemas.microsoft.com/office/drawing/2014/main" id="{83C08523-F88C-4C27-B001-38DEE9D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规划 · 路由 · 记忆 · 工具调用 · 多 Agent 协作 · 审批</a:t>
            </a:r>
          </a:p>
        </p:txBody>
      </p:sp>
      <p:sp>
        <p:nvSpPr>
          <p:cNvPr id="11" name="rect-42-296">
            <a:extLst xmlns:a="http://schemas.openxmlformats.org/drawingml/2006/main">
              <a:ext uri="{FF2B5EF4-FFF2-40B4-BE49-F238E27FC236}">
                <a16:creationId xmlns:a16="http://schemas.microsoft.com/office/drawing/2014/main" id="{CA1B035A-659C-455A-AB35-65D6011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2" name="text-62-309">
            <a:extLst xmlns:a="http://schemas.openxmlformats.org/drawingml/2006/main">
              <a:ext uri="{FF2B5EF4-FFF2-40B4-BE49-F238E27FC236}">
                <a16:creationId xmlns:a16="http://schemas.microsoft.com/office/drawing/2014/main" id="{256DC694-E611-40F1-92AC-AEB4F20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模型服务面</a:t>
            </a:r>
          </a:p>
        </p:txBody>
      </p:sp>
      <p:sp>
        <p:nvSpPr>
          <p:cNvPr id="13" name="text-260-310">
            <a:extLst xmlns:a="http://schemas.openxmlformats.org/drawingml/2006/main">
              <a:ext uri="{FF2B5EF4-FFF2-40B4-BE49-F238E27FC236}">
                <a16:creationId xmlns:a16="http://schemas.microsoft.com/office/drawing/2014/main" id="{0F914815-013C-4933-A706-E7529E2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模型网关 · 多模型路由 · Prompt/Context · 评测 · 成本控制</a:t>
            </a:r>
          </a:p>
        </p:txBody>
      </p:sp>
      <p:sp>
        <p:nvSpPr>
          <p:cNvPr id="14" name="rect-42-366">
            <a:extLst xmlns:a="http://schemas.openxmlformats.org/drawingml/2006/main">
              <a:ext uri="{FF2B5EF4-FFF2-40B4-BE49-F238E27FC236}">
                <a16:creationId xmlns:a16="http://schemas.microsoft.com/office/drawing/2014/main" id="{AA570E97-88C9-4CEA-92C7-2DDE508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5" name="text-62-379">
            <a:extLst xmlns:a="http://schemas.openxmlformats.org/drawingml/2006/main">
              <a:ext uri="{FF2B5EF4-FFF2-40B4-BE49-F238E27FC236}">
                <a16:creationId xmlns:a16="http://schemas.microsoft.com/office/drawing/2014/main" id="{F7BEB9D4-250B-41FD-B7AB-072F97E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9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数据与知识面</a:t>
            </a:r>
          </a:p>
        </p:txBody>
      </p:sp>
      <p:sp>
        <p:nvSpPr>
          <p:cNvPr id="16" name="text-260-380">
            <a:extLst xmlns:a="http://schemas.openxmlformats.org/drawingml/2006/main">
              <a:ext uri="{FF2B5EF4-FFF2-40B4-BE49-F238E27FC236}">
                <a16:creationId xmlns:a16="http://schemas.microsoft.com/office/drawing/2014/main" id="{D67994B1-D51F-4A5F-90F0-32FE7CED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语义层 · RAG · 向量/知识库 · 主数据 · 权限 · 血缘</a:t>
            </a:r>
          </a:p>
        </p:txBody>
      </p:sp>
      <p:sp>
        <p:nvSpPr>
          <p:cNvPr id="17" name="rect-42-436">
            <a:extLst xmlns:a="http://schemas.openxmlformats.org/drawingml/2006/main">
              <a:ext uri="{FF2B5EF4-FFF2-40B4-BE49-F238E27FC236}">
                <a16:creationId xmlns:a16="http://schemas.microsoft.com/office/drawing/2014/main" id="{AC69BCEA-183F-487C-9031-5FA73E1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8" name="text-62-449">
            <a:extLst xmlns:a="http://schemas.openxmlformats.org/drawingml/2006/main">
              <a:ext uri="{FF2B5EF4-FFF2-40B4-BE49-F238E27FC236}">
                <a16:creationId xmlns:a16="http://schemas.microsoft.com/office/drawing/2014/main" id="{00A3D51D-B39F-42B6-8DCF-C7F0335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工具与系统面</a:t>
            </a:r>
          </a:p>
        </p:txBody>
      </p:sp>
      <p:sp>
        <p:nvSpPr>
          <p:cNvPr id="19" name="text-260-450">
            <a:extLst xmlns:a="http://schemas.openxmlformats.org/drawingml/2006/main">
              <a:ext uri="{FF2B5EF4-FFF2-40B4-BE49-F238E27FC236}">
                <a16:creationId xmlns:a16="http://schemas.microsoft.com/office/drawing/2014/main" id="{9FD0CCAC-7300-4C3B-91C4-8A2A53A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CRM · ERP · SCM · OA · 研发平台 · 自动化接口</a:t>
            </a:r>
          </a:p>
        </p:txBody>
      </p:sp>
      <p:sp>
        <p:nvSpPr>
          <p:cNvPr id="20" name="rect-42-506">
            <a:extLst xmlns:a="http://schemas.openxmlformats.org/drawingml/2006/main">
              <a:ext uri="{FF2B5EF4-FFF2-40B4-BE49-F238E27FC236}">
                <a16:creationId xmlns:a16="http://schemas.microsoft.com/office/drawing/2014/main" id="{89EDFEED-6848-48B1-BD59-42BCCA8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1" name="text-62-519">
            <a:extLst xmlns:a="http://schemas.openxmlformats.org/drawingml/2006/main">
              <a:ext uri="{FF2B5EF4-FFF2-40B4-BE49-F238E27FC236}">
                <a16:creationId xmlns:a16="http://schemas.microsoft.com/office/drawing/2014/main" id="{EFB8C285-B690-4C93-8DA3-957FA14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基础设施面</a:t>
            </a:r>
          </a:p>
        </p:txBody>
      </p:sp>
      <p:sp>
        <p:nvSpPr>
          <p:cNvPr id="22" name="text-260-520">
            <a:extLst xmlns:a="http://schemas.openxmlformats.org/drawingml/2006/main">
              <a:ext uri="{FF2B5EF4-FFF2-40B4-BE49-F238E27FC236}">
                <a16:creationId xmlns:a16="http://schemas.microsoft.com/office/drawing/2014/main" id="{64F11231-3113-4F0C-9E5A-E47A04E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云/边/端算力 · 芯片 · 网络 · 数据中心 · 能源</a:t>
            </a:r>
          </a:p>
        </p:txBody>
      </p:sp>
      <p:sp>
        <p:nvSpPr>
          <p:cNvPr id="23" name="rect-42-596">
            <a:extLst xmlns:a="http://schemas.openxmlformats.org/drawingml/2006/main">
              <a:ext uri="{FF2B5EF4-FFF2-40B4-BE49-F238E27FC236}">
                <a16:creationId xmlns:a16="http://schemas.microsoft.com/office/drawing/2014/main" id="{57EDA7A1-A4FE-4A85-B113-D07B75F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4" name="text-56-602">
            <a:extLst xmlns:a="http://schemas.openxmlformats.org/drawingml/2006/main">
              <a:ext uri="{FF2B5EF4-FFF2-40B4-BE49-F238E27FC236}">
                <a16:creationId xmlns:a16="http://schemas.microsoft.com/office/drawing/2014/main" id="{2A2934F1-4C77-415A-9478-9653AA8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横向治理：身份与权限｜安全与合规｜可观测性｜质量评测｜成本与配额｜审计与责任</a:t>
            </a:r>
          </a:p>
        </p:txBody>
      </p:sp>
    </p:spTree>
    <p:extLst>
      <p:ext uri="{BB962C8B-B14F-4D97-AF65-F5344CB8AC3E}">
        <p14:creationId xmlns:p14="http://schemas.microsoft.com/office/powerpoint/2010/main" val="1918253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42-24">
            <a:extLst xmlns:a="http://schemas.openxmlformats.org/drawingml/2006/main">
              <a:ext uri="{FF2B5EF4-FFF2-40B4-BE49-F238E27FC236}">
                <a16:creationId xmlns:a16="http://schemas.microsoft.com/office/drawing/2014/main" id="{D7041537-D4C2-4737-B484-6C2ADC9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052E9368-1B1C-405F-80CC-ADA5548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场景选择要同时看业务价值与可规模化条件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711B0-99E0-4372-AC84-53FAABF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3CB41F4-FCB4-4AA3-9EC3-8384386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rect-172-176">
            <a:extLst xmlns:a="http://schemas.openxmlformats.org/drawingml/2006/main">
              <a:ext uri="{FF2B5EF4-FFF2-40B4-BE49-F238E27FC236}">
                <a16:creationId xmlns:a16="http://schemas.microsoft.com/office/drawing/2014/main" id="{C288D44A-688B-4108-BEEB-DADD792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7640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rect-387-176">
            <a:extLst xmlns:a="http://schemas.openxmlformats.org/drawingml/2006/main">
              <a:ext uri="{FF2B5EF4-FFF2-40B4-BE49-F238E27FC236}">
                <a16:creationId xmlns:a16="http://schemas.microsoft.com/office/drawing/2014/main" id="{60B45283-C2D9-4AED-8F52-87DB04D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7640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rect-172-391">
            <a:extLst xmlns:a="http://schemas.openxmlformats.org/drawingml/2006/main">
              <a:ext uri="{FF2B5EF4-FFF2-40B4-BE49-F238E27FC236}">
                <a16:creationId xmlns:a16="http://schemas.microsoft.com/office/drawing/2014/main" id="{B43DE523-83BF-4F80-AE17-68F0B9F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solidFill>
              <a:srgbClr val="F8F8F8"/>
            </a:solidFill>
            <a:prstDash val="solid"/>
          </a:ln>
        </p:spPr>
      </p:sp>
      <p:sp>
        <p:nvSpPr>
          <p:cNvPr id="8" name="rect-387-391">
            <a:extLst xmlns:a="http://schemas.openxmlformats.org/drawingml/2006/main">
              <a:ext uri="{FF2B5EF4-FFF2-40B4-BE49-F238E27FC236}">
                <a16:creationId xmlns:a16="http://schemas.microsoft.com/office/drawing/2014/main" id="{35A593AF-F3BF-4740-B5E8-75E6293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24275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9ABEE-B018-4895-8500-FA1E5CD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764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855D-20BA-4EE1-B19B-1599338C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text-192-198">
            <a:extLst xmlns:a="http://schemas.openxmlformats.org/drawingml/2006/main">
              <a:ext uri="{FF2B5EF4-FFF2-40B4-BE49-F238E27FC236}">
                <a16:creationId xmlns:a16="http://schemas.microsoft.com/office/drawing/2014/main" id="{A4839CB8-6AD6-4BCC-8667-CD3E211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85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战略孵化</a:t>
            </a:r>
          </a:p>
        </p:txBody>
      </p:sp>
      <p:sp>
        <p:nvSpPr>
          <p:cNvPr id="12" name="text-407-198">
            <a:extLst xmlns:a="http://schemas.openxmlformats.org/drawingml/2006/main">
              <a:ext uri="{FF2B5EF4-FFF2-40B4-BE49-F238E27FC236}">
                <a16:creationId xmlns:a16="http://schemas.microsoft.com/office/drawing/2014/main" id="{216ED188-A0AE-4B98-9DFD-C0EAFA0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85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优先突破</a:t>
            </a:r>
          </a:p>
        </p:txBody>
      </p:sp>
      <p:sp>
        <p:nvSpPr>
          <p:cNvPr id="13" name="text-192-414">
            <a:extLst xmlns:a="http://schemas.openxmlformats.org/drawingml/2006/main">
              <a:ext uri="{FF2B5EF4-FFF2-40B4-BE49-F238E27FC236}">
                <a16:creationId xmlns:a16="http://schemas.microsoft.com/office/drawing/2014/main" id="{5B3237C4-1ACC-4CC9-AE1E-2AC7567C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43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谨慎投入</a:t>
            </a:r>
          </a:p>
        </p:txBody>
      </p:sp>
      <p:sp>
        <p:nvSpPr>
          <p:cNvPr id="14" name="text-407-414">
            <a:extLst xmlns:a="http://schemas.openxmlformats.org/drawingml/2006/main">
              <a:ext uri="{FF2B5EF4-FFF2-40B4-BE49-F238E27FC236}">
                <a16:creationId xmlns:a16="http://schemas.microsoft.com/office/drawing/2014/main" id="{F93BCD2F-779A-4132-95EE-7D63AB19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943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快速复制</a:t>
            </a:r>
          </a:p>
        </p:txBody>
      </p:sp>
      <p:sp>
        <p:nvSpPr>
          <p:cNvPr id="15" name="text-50-180">
            <a:extLst xmlns:a="http://schemas.openxmlformats.org/drawingml/2006/main">
              <a:ext uri="{FF2B5EF4-FFF2-40B4-BE49-F238E27FC236}">
                <a16:creationId xmlns:a16="http://schemas.microsoft.com/office/drawing/2014/main" id="{F2DD4E56-1DFF-4C1C-ADBB-8960378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高业务价值</a:t>
            </a:r>
          </a:p>
        </p:txBody>
      </p:sp>
      <p:sp>
        <p:nvSpPr>
          <p:cNvPr id="16" name="text-50-566">
            <a:extLst xmlns:a="http://schemas.openxmlformats.org/drawingml/2006/main">
              <a:ext uri="{FF2B5EF4-FFF2-40B4-BE49-F238E27FC236}">
                <a16:creationId xmlns:a16="http://schemas.microsoft.com/office/drawing/2014/main" id="{66981E67-3EDE-4AEB-8304-44C3397F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低业务价值</a:t>
            </a:r>
          </a:p>
        </p:txBody>
      </p:sp>
      <p:sp>
        <p:nvSpPr>
          <p:cNvPr id="17" name="text-172-620">
            <a:extLst xmlns:a="http://schemas.openxmlformats.org/drawingml/2006/main">
              <a:ext uri="{FF2B5EF4-FFF2-40B4-BE49-F238E27FC236}">
                <a16:creationId xmlns:a16="http://schemas.microsoft.com/office/drawing/2014/main" id="{BFFDE066-24E0-41B5-8DFB-03D0F73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低可规模化</a:t>
            </a:r>
          </a:p>
        </p:txBody>
      </p:sp>
      <p:sp>
        <p:nvSpPr>
          <p:cNvPr id="18" name="text-442-620">
            <a:extLst xmlns:a="http://schemas.openxmlformats.org/drawingml/2006/main">
              <a:ext uri="{FF2B5EF4-FFF2-40B4-BE49-F238E27FC236}">
                <a16:creationId xmlns:a16="http://schemas.microsoft.com/office/drawing/2014/main" id="{FC422A87-29C9-4DD0-BA17-12F553D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高可规模化</a:t>
            </a:r>
          </a:p>
        </p:txBody>
      </p:sp>
      <p:sp>
        <p:nvSpPr>
          <p:cNvPr id="19" name="text-680-176">
            <a:extLst xmlns:a="http://schemas.openxmlformats.org/drawingml/2006/main">
              <a:ext uri="{FF2B5EF4-FFF2-40B4-BE49-F238E27FC236}">
                <a16:creationId xmlns:a16="http://schemas.microsoft.com/office/drawing/2014/main" id="{161BA970-99F9-4F61-9433-B7DF2496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四项筛选标准</a:t>
            </a:r>
          </a:p>
        </p:txBody>
      </p:sp>
      <p:sp>
        <p:nvSpPr>
          <p:cNvPr id="20" name="text-680-248">
            <a:extLst xmlns:a="http://schemas.openxmlformats.org/drawingml/2006/main">
              <a:ext uri="{FF2B5EF4-FFF2-40B4-BE49-F238E27FC236}">
                <a16:creationId xmlns:a16="http://schemas.microsoft.com/office/drawing/2014/main" id="{0840F4CC-0FAC-44CB-9710-B786AD5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1" name="text-738-242">
            <a:extLst xmlns:a="http://schemas.openxmlformats.org/drawingml/2006/main">
              <a:ext uri="{FF2B5EF4-FFF2-40B4-BE49-F238E27FC236}">
                <a16:creationId xmlns:a16="http://schemas.microsoft.com/office/drawing/2014/main" id="{D53EB7BD-BFC7-4BE2-9B39-7D4E0E93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价值：收入、成本、周期、质量或风险改善是否显著？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9CDCB-3830-4DDA-98BC-3C63D79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680-334">
            <a:extLst xmlns:a="http://schemas.openxmlformats.org/drawingml/2006/main">
              <a:ext uri="{FF2B5EF4-FFF2-40B4-BE49-F238E27FC236}">
                <a16:creationId xmlns:a16="http://schemas.microsoft.com/office/drawing/2014/main" id="{C50AB549-D2EE-4E40-B74C-05DB542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text-738-328">
            <a:extLst xmlns:a="http://schemas.openxmlformats.org/drawingml/2006/main">
              <a:ext uri="{FF2B5EF4-FFF2-40B4-BE49-F238E27FC236}">
                <a16:creationId xmlns:a16="http://schemas.microsoft.com/office/drawing/2014/main" id="{C6BB902B-02E8-4928-AAFF-C8E7B43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数据：是否有可信、授权、可追溯的上下文？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AFF55-DA72-4A3C-996D-86E336CB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DA3F817E-2B3D-447C-B41D-123E4897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7" name="text-738-414">
            <a:extLst xmlns:a="http://schemas.openxmlformats.org/drawingml/2006/main">
              <a:ext uri="{FF2B5EF4-FFF2-40B4-BE49-F238E27FC236}">
                <a16:creationId xmlns:a16="http://schemas.microsoft.com/office/drawing/2014/main" id="{281146D0-A38F-400E-8FB8-E9EEFE7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流程：任务边界是否清晰，异常能否被识别和升级？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7DAA2-7918-4CF3-B09E-21712AF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680-506">
            <a:extLst xmlns:a="http://schemas.openxmlformats.org/drawingml/2006/main">
              <a:ext uri="{FF2B5EF4-FFF2-40B4-BE49-F238E27FC236}">
                <a16:creationId xmlns:a16="http://schemas.microsoft.com/office/drawing/2014/main" id="{7B61A74B-01F8-40E4-B13C-35D8405A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text-738-500">
            <a:extLst xmlns:a="http://schemas.openxmlformats.org/drawingml/2006/main">
              <a:ext uri="{FF2B5EF4-FFF2-40B4-BE49-F238E27FC236}">
                <a16:creationId xmlns:a16="http://schemas.microsoft.com/office/drawing/2014/main" id="{51A82DA8-40DE-4D4D-9A53-40F4A7F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复制：能否通过模板、工具和语义层跨部门复用？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A3E57-E29B-4C37-8899-F751BCF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86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5019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2-24">
            <a:extLst xmlns:a="http://schemas.openxmlformats.org/drawingml/2006/main">
              <a:ext uri="{FF2B5EF4-FFF2-40B4-BE49-F238E27FC236}">
                <a16:creationId xmlns:a16="http://schemas.microsoft.com/office/drawing/2014/main" id="{4C048307-0602-4152-8668-B750F2E9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D734379-20BB-4A51-B18A-0C3DDDA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规模化需要产品、平台、数据、治理四条线协同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BB2D2-2F70-4F01-9AE6-86EB088E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9C6BAFB5-99E3-4DC8-AF4E-2552E66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text-42-176">
            <a:extLst xmlns:a="http://schemas.openxmlformats.org/drawingml/2006/main">
              <a:ext uri="{FF2B5EF4-FFF2-40B4-BE49-F238E27FC236}">
                <a16:creationId xmlns:a16="http://schemas.microsoft.com/office/drawing/2014/main" id="{99EFAA61-7B5C-4635-9098-328E3690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业务产品线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421E8-F893-4EB2-ACDD-BE88A2F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7" name="text-42-266">
            <a:extLst xmlns:a="http://schemas.openxmlformats.org/drawingml/2006/main">
              <a:ext uri="{FF2B5EF4-FFF2-40B4-BE49-F238E27FC236}">
                <a16:creationId xmlns:a16="http://schemas.microsoft.com/office/drawing/2014/main" id="{9F3AE9E9-4F6D-45CC-9BF2-3A16D4E7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定义价值目标、流程边界、用户体验和采用机制；对业务结果负责。</a:t>
            </a:r>
          </a:p>
        </p:txBody>
      </p:sp>
      <p:sp>
        <p:nvSpPr>
          <p:cNvPr id="8" name="text-42-474">
            <a:extLst xmlns:a="http://schemas.openxmlformats.org/drawingml/2006/main">
              <a:ext uri="{FF2B5EF4-FFF2-40B4-BE49-F238E27FC236}">
                <a16:creationId xmlns:a16="http://schemas.microsoft.com/office/drawing/2014/main" id="{7E76F800-3B33-4FAF-8740-087205D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Owner：业务负责人</a:t>
            </a:r>
          </a:p>
        </p:txBody>
      </p:sp>
      <p:sp>
        <p:nvSpPr>
          <p:cNvPr id="9" name="text-342-176">
            <a:extLst xmlns:a="http://schemas.openxmlformats.org/drawingml/2006/main">
              <a:ext uri="{FF2B5EF4-FFF2-40B4-BE49-F238E27FC236}">
                <a16:creationId xmlns:a16="http://schemas.microsoft.com/office/drawing/2014/main" id="{4CD033F2-D372-4213-870D-E6FAE7DA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平台线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4B3F5-C9E1-49BA-8A29-5734296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text-342-266">
            <a:extLst xmlns:a="http://schemas.openxmlformats.org/drawingml/2006/main">
              <a:ext uri="{FF2B5EF4-FFF2-40B4-BE49-F238E27FC236}">
                <a16:creationId xmlns:a16="http://schemas.microsoft.com/office/drawing/2014/main" id="{BBC224A0-04F7-430F-A913-6F4190CA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提供模型网关、Agent 编排、工具注册、评测、观测和成本管理。</a:t>
            </a:r>
          </a:p>
        </p:txBody>
      </p:sp>
      <p:sp>
        <p:nvSpPr>
          <p:cNvPr id="12" name="text-342-474">
            <a:extLst xmlns:a="http://schemas.openxmlformats.org/drawingml/2006/main">
              <a:ext uri="{FF2B5EF4-FFF2-40B4-BE49-F238E27FC236}">
                <a16:creationId xmlns:a16="http://schemas.microsoft.com/office/drawing/2014/main" id="{7BAEF782-72F5-460E-AB95-AB758E24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Owner：平台负责人</a:t>
            </a:r>
          </a:p>
        </p:txBody>
      </p:sp>
      <p:sp>
        <p:nvSpPr>
          <p:cNvPr id="13" name="text-642-176">
            <a:extLst xmlns:a="http://schemas.openxmlformats.org/drawingml/2006/main">
              <a:ext uri="{FF2B5EF4-FFF2-40B4-BE49-F238E27FC236}">
                <a16:creationId xmlns:a16="http://schemas.microsoft.com/office/drawing/2014/main" id="{EC9C0CC7-F016-4B0B-871F-DFA4316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数据产品线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E2139-1C0A-4C79-BE74-08A5572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5" name="text-642-266">
            <a:extLst xmlns:a="http://schemas.openxmlformats.org/drawingml/2006/main">
              <a:ext uri="{FF2B5EF4-FFF2-40B4-BE49-F238E27FC236}">
                <a16:creationId xmlns:a16="http://schemas.microsoft.com/office/drawing/2014/main" id="{DD1F6FBD-48CD-4603-96A5-C642BBC8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建设语义层、知识产品、数据契约、质量与权限；对上下文可信负责。</a:t>
            </a:r>
          </a:p>
        </p:txBody>
      </p:sp>
      <p:sp>
        <p:nvSpPr>
          <p:cNvPr id="16" name="text-642-474">
            <a:extLst xmlns:a="http://schemas.openxmlformats.org/drawingml/2006/main">
              <a:ext uri="{FF2B5EF4-FFF2-40B4-BE49-F238E27FC236}">
                <a16:creationId xmlns:a16="http://schemas.microsoft.com/office/drawing/2014/main" id="{6F564067-0C16-4C91-9963-32268887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Owner：数据负责人</a:t>
            </a:r>
          </a:p>
        </p:txBody>
      </p:sp>
      <p:sp>
        <p:nvSpPr>
          <p:cNvPr id="17" name="text-942-176">
            <a:extLst xmlns:a="http://schemas.openxmlformats.org/drawingml/2006/main">
              <a:ext uri="{FF2B5EF4-FFF2-40B4-BE49-F238E27FC236}">
                <a16:creationId xmlns:a16="http://schemas.microsoft.com/office/drawing/2014/main" id="{7778FEBB-CD7E-4965-9798-5692AC60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风险治理线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33A47-5273-4C67-8A1B-CAE03B20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9" name="text-942-266">
            <a:extLst xmlns:a="http://schemas.openxmlformats.org/drawingml/2006/main">
              <a:ext uri="{FF2B5EF4-FFF2-40B4-BE49-F238E27FC236}">
                <a16:creationId xmlns:a16="http://schemas.microsoft.com/office/drawing/2014/main" id="{E177EF5C-CE2C-4CD7-81C9-0CDCC1F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2438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制定分级授权、红线、审计、隐私、安全与事件响应；对风险边界负责。</a:t>
            </a:r>
          </a:p>
        </p:txBody>
      </p:sp>
      <p:sp>
        <p:nvSpPr>
          <p:cNvPr id="20" name="text-942-474">
            <a:extLst xmlns:a="http://schemas.openxmlformats.org/drawingml/2006/main">
              <a:ext uri="{FF2B5EF4-FFF2-40B4-BE49-F238E27FC236}">
                <a16:creationId xmlns:a16="http://schemas.microsoft.com/office/drawing/2014/main" id="{6CD45A5D-A5DE-4DA4-AF16-38C1A5E0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Owner：风控/安全负责人</a:t>
            </a:r>
          </a:p>
        </p:txBody>
      </p:sp>
      <p:sp>
        <p:nvSpPr>
          <p:cNvPr id="21" name="rect-42-548">
            <a:extLst xmlns:a="http://schemas.openxmlformats.org/drawingml/2006/main">
              <a:ext uri="{FF2B5EF4-FFF2-40B4-BE49-F238E27FC236}">
                <a16:creationId xmlns:a16="http://schemas.microsoft.com/office/drawing/2014/main" id="{05E7CC45-0EA0-4EF3-BBE2-E09D291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10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2" name="text-66-566">
            <a:extLst xmlns:a="http://schemas.openxmlformats.org/drawingml/2006/main">
              <a:ext uri="{FF2B5EF4-FFF2-40B4-BE49-F238E27FC236}">
                <a16:creationId xmlns:a16="http://schemas.microsoft.com/office/drawing/2014/main" id="{9B4BDB5B-61DA-49FA-BA41-A4E6E81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55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共同节奏：以场景为单位建立“上线—评测—观测—复盘—扩展”闭环；平台标准由真实场景反向沉淀。</a:t>
            </a:r>
          </a:p>
        </p:txBody>
      </p:sp>
    </p:spTree>
    <p:extLst>
      <p:ext uri="{BB962C8B-B14F-4D97-AF65-F5344CB8AC3E}">
        <p14:creationId xmlns:p14="http://schemas.microsoft.com/office/powerpoint/2010/main" val="683593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42-24">
            <a:extLst xmlns:a="http://schemas.openxmlformats.org/drawingml/2006/main">
              <a:ext uri="{FF2B5EF4-FFF2-40B4-BE49-F238E27FC236}">
                <a16:creationId xmlns:a16="http://schemas.microsoft.com/office/drawing/2014/main" id="{F5C70AAD-C274-425C-ADCB-C1C37D4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企业落地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39ECD3F4-659E-4140-A10C-7B5C098F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治理的核心不是限制能力，而是建立可控的授权链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D334-99BD-44AC-BDB3-033B142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1B33AE8-2A88-4885-BD17-7C0C4081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051CD-5D83-46C8-A77F-613191F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rect-42-214">
            <a:extLst xmlns:a="http://schemas.openxmlformats.org/drawingml/2006/main">
              <a:ext uri="{FF2B5EF4-FFF2-40B4-BE49-F238E27FC236}">
                <a16:creationId xmlns:a16="http://schemas.microsoft.com/office/drawing/2014/main" id="{99F77814-6C43-408C-91DA-74824C6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text-42-235">
            <a:extLst xmlns:a="http://schemas.openxmlformats.org/drawingml/2006/main">
              <a:ext uri="{FF2B5EF4-FFF2-40B4-BE49-F238E27FC236}">
                <a16:creationId xmlns:a16="http://schemas.microsoft.com/office/drawing/2014/main" id="{428F653B-6B46-4A88-B3CD-3035379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56C17-CB36-4DB6-803A-6C091FA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rect-210-214">
            <a:extLst xmlns:a="http://schemas.openxmlformats.org/drawingml/2006/main">
              <a:ext uri="{FF2B5EF4-FFF2-40B4-BE49-F238E27FC236}">
                <a16:creationId xmlns:a16="http://schemas.microsoft.com/office/drawing/2014/main" id="{355F039B-448D-43AB-A513-FABBF58F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text-210-235">
            <a:extLst xmlns:a="http://schemas.openxmlformats.org/drawingml/2006/main">
              <a:ext uri="{FF2B5EF4-FFF2-40B4-BE49-F238E27FC236}">
                <a16:creationId xmlns:a16="http://schemas.microsoft.com/office/drawing/2014/main" id="{F5E6C555-D03D-4B59-BC66-F84838F8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意图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23D73-147D-4390-8079-227C8199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rect-378-214">
            <a:extLst xmlns:a="http://schemas.openxmlformats.org/drawingml/2006/main">
              <a:ext uri="{FF2B5EF4-FFF2-40B4-BE49-F238E27FC236}">
                <a16:creationId xmlns:a16="http://schemas.microsoft.com/office/drawing/2014/main" id="{BAEADF7F-682D-4331-A7BA-D7CD288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text-378-235">
            <a:extLst xmlns:a="http://schemas.openxmlformats.org/drawingml/2006/main">
              <a:ext uri="{FF2B5EF4-FFF2-40B4-BE49-F238E27FC236}">
                <a16:creationId xmlns:a16="http://schemas.microsoft.com/office/drawing/2014/main" id="{B549444A-D1B4-4AF5-8BDD-2063AB9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07EBA-68D8-42F6-A2D2-F9002E7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rect-546-214">
            <a:extLst xmlns:a="http://schemas.openxmlformats.org/drawingml/2006/main">
              <a:ext uri="{FF2B5EF4-FFF2-40B4-BE49-F238E27FC236}">
                <a16:creationId xmlns:a16="http://schemas.microsoft.com/office/drawing/2014/main" id="{6D21E837-E43A-4D68-B10A-1F9F18A2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-546-235">
            <a:extLst xmlns:a="http://schemas.openxmlformats.org/drawingml/2006/main">
              <a:ext uri="{FF2B5EF4-FFF2-40B4-BE49-F238E27FC236}">
                <a16:creationId xmlns:a16="http://schemas.microsoft.com/office/drawing/2014/main" id="{09ED4F17-1D74-4B8D-92D0-D7001B6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BF5F6-C4DB-4203-B052-30AA6E9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8" name="rect-714-214">
            <a:extLst xmlns:a="http://schemas.openxmlformats.org/drawingml/2006/main">
              <a:ext uri="{FF2B5EF4-FFF2-40B4-BE49-F238E27FC236}">
                <a16:creationId xmlns:a16="http://schemas.microsoft.com/office/drawing/2014/main" id="{3DA6600A-ADEB-4D20-BE70-982BA64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9" name="text-714-235">
            <a:extLst xmlns:a="http://schemas.openxmlformats.org/drawingml/2006/main">
              <a:ext uri="{FF2B5EF4-FFF2-40B4-BE49-F238E27FC236}">
                <a16:creationId xmlns:a16="http://schemas.microsoft.com/office/drawing/2014/main" id="{C5236214-373D-4429-8CBE-3EF97A3F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70983-9853-4BED-9829-80A111C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rect-882-214">
            <a:extLst xmlns:a="http://schemas.openxmlformats.org/drawingml/2006/main">
              <a:ext uri="{FF2B5EF4-FFF2-40B4-BE49-F238E27FC236}">
                <a16:creationId xmlns:a16="http://schemas.microsoft.com/office/drawing/2014/main" id="{26399E6D-0194-426D-9290-2DE7510D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2" name="text-882-235">
            <a:extLst xmlns:a="http://schemas.openxmlformats.org/drawingml/2006/main">
              <a:ext uri="{FF2B5EF4-FFF2-40B4-BE49-F238E27FC236}">
                <a16:creationId xmlns:a16="http://schemas.microsoft.com/office/drawing/2014/main" id="{2F7E8B9E-54D8-4B73-8479-6042CA0F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3" name="rect-1050-214">
            <a:extLst xmlns:a="http://schemas.openxmlformats.org/drawingml/2006/main">
              <a:ext uri="{FF2B5EF4-FFF2-40B4-BE49-F238E27FC236}">
                <a16:creationId xmlns:a16="http://schemas.microsoft.com/office/drawing/2014/main" id="{1DC82860-0DC7-4FFA-BD8A-96395498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4" name="text-1050-235">
            <a:extLst xmlns:a="http://schemas.openxmlformats.org/drawingml/2006/main">
              <a:ext uri="{FF2B5EF4-FFF2-40B4-BE49-F238E27FC236}">
                <a16:creationId xmlns:a16="http://schemas.microsoft.com/office/drawing/2014/main" id="{8D097BB8-A48C-4741-BB1B-25D946C2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38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审计</a:t>
            </a:r>
          </a:p>
        </p:txBody>
      </p:sp>
      <p:sp>
        <p:nvSpPr>
          <p:cNvPr id="25" name="text-42-374">
            <a:extLst xmlns:a="http://schemas.openxmlformats.org/drawingml/2006/main">
              <a:ext uri="{FF2B5EF4-FFF2-40B4-BE49-F238E27FC236}">
                <a16:creationId xmlns:a16="http://schemas.microsoft.com/office/drawing/2014/main" id="{56425298-12E2-48FB-92A7-DE80717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事前：边界</a:t>
            </a:r>
          </a:p>
        </p:txBody>
      </p:sp>
      <p:sp>
        <p:nvSpPr>
          <p:cNvPr id="26" name="text-42-430">
            <a:extLst xmlns:a="http://schemas.openxmlformats.org/drawingml/2006/main">
              <a:ext uri="{FF2B5EF4-FFF2-40B4-BE49-F238E27FC236}">
                <a16:creationId xmlns:a16="http://schemas.microsoft.com/office/drawing/2014/main" id="{D6E94F33-4224-460A-AE05-16BEC6F3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按角色、数据敏感度、工具风险和金额设置权限；高风险动作必须审批。</a:t>
            </a:r>
          </a:p>
        </p:txBody>
      </p:sp>
      <p:sp>
        <p:nvSpPr>
          <p:cNvPr id="27" name="text-440-374">
            <a:extLst xmlns:a="http://schemas.openxmlformats.org/drawingml/2006/main">
              <a:ext uri="{FF2B5EF4-FFF2-40B4-BE49-F238E27FC236}">
                <a16:creationId xmlns:a16="http://schemas.microsoft.com/office/drawing/2014/main" id="{B86270E9-122D-4CCD-8C36-79899F38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事中：控制</a:t>
            </a:r>
          </a:p>
        </p:txBody>
      </p:sp>
      <p:sp>
        <p:nvSpPr>
          <p:cNvPr id="28" name="text-440-430">
            <a:extLst xmlns:a="http://schemas.openxmlformats.org/drawingml/2006/main">
              <a:ext uri="{FF2B5EF4-FFF2-40B4-BE49-F238E27FC236}">
                <a16:creationId xmlns:a16="http://schemas.microsoft.com/office/drawing/2014/main" id="{6E222EBB-A58B-431F-9C69-73821D80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对工具调用、参数、上下文、异常和成本实时观测；支持暂停、回滚与人工接管。</a:t>
            </a:r>
          </a:p>
        </p:txBody>
      </p:sp>
      <p:sp>
        <p:nvSpPr>
          <p:cNvPr id="29" name="text-838-374">
            <a:extLst xmlns:a="http://schemas.openxmlformats.org/drawingml/2006/main">
              <a:ext uri="{FF2B5EF4-FFF2-40B4-BE49-F238E27FC236}">
                <a16:creationId xmlns:a16="http://schemas.microsoft.com/office/drawing/2014/main" id="{9D755C8C-6D60-4DD9-BBE1-C4B2B54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事后：追责</a:t>
            </a:r>
          </a:p>
        </p:txBody>
      </p:sp>
      <p:sp>
        <p:nvSpPr>
          <p:cNvPr id="30" name="text-838-430">
            <a:extLst xmlns:a="http://schemas.openxmlformats.org/drawingml/2006/main">
              <a:ext uri="{FF2B5EF4-FFF2-40B4-BE49-F238E27FC236}">
                <a16:creationId xmlns:a16="http://schemas.microsoft.com/office/drawing/2014/main" id="{93157638-A331-4A09-BA05-19EB0FE2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保留输入、计划、调用、输出与审批记录；用评测和事件复盘持续更新策略。</a:t>
            </a:r>
          </a:p>
        </p:txBody>
      </p:sp>
      <p:sp>
        <p:nvSpPr>
          <p:cNvPr id="31" name="text-42-592">
            <a:extLst xmlns:a="http://schemas.openxmlformats.org/drawingml/2006/main">
              <a:ext uri="{FF2B5EF4-FFF2-40B4-BE49-F238E27FC236}">
                <a16:creationId xmlns:a16="http://schemas.microsoft.com/office/drawing/2014/main" id="{4A2E79A8-E1B0-4455-B740-1D48A36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最低治理基线：最小权限｜敏感数据隔离｜高风险人工确认｜全链路日志｜可回滚｜持续评测</a:t>
            </a:r>
          </a:p>
        </p:txBody>
      </p:sp>
    </p:spTree>
    <p:extLst>
      <p:ext uri="{BB962C8B-B14F-4D97-AF65-F5344CB8AC3E}">
        <p14:creationId xmlns:p14="http://schemas.microsoft.com/office/powerpoint/2010/main" val="11386975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3E40363D-4237-4676-AE0B-09939CD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行动路线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0863B1CE-39E4-4520-A3C9-BBFDCD6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12 个月路线图：先建立可验证闭环，再扩展自主性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51AED-51FB-4F5E-AAE1-08FD838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6B7F9A46-CB81-4226-A6B1-83D4F577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25B15-6C5A-47FF-9812-89D12D9B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rect-64-238">
            <a:extLst xmlns:a="http://schemas.openxmlformats.org/drawingml/2006/main">
              <a:ext uri="{FF2B5EF4-FFF2-40B4-BE49-F238E27FC236}">
                <a16:creationId xmlns:a16="http://schemas.microsoft.com/office/drawing/2014/main" id="{1D9E39C0-2BE3-429D-86DB-03B5561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text-64-247">
            <a:extLst xmlns:a="http://schemas.openxmlformats.org/drawingml/2006/main">
              <a:ext uri="{FF2B5EF4-FFF2-40B4-BE49-F238E27FC236}">
                <a16:creationId xmlns:a16="http://schemas.microsoft.com/office/drawing/2014/main" id="{550498F1-944E-4D0F-B2C1-3E951EA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-42-166">
            <a:extLst xmlns:a="http://schemas.openxmlformats.org/drawingml/2006/main">
              <a:ext uri="{FF2B5EF4-FFF2-40B4-BE49-F238E27FC236}">
                <a16:creationId xmlns:a16="http://schemas.microsoft.com/office/drawing/2014/main" id="{474BE5F5-BB8A-4B6F-8D38-1002B2F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0–3 个月</a:t>
            </a:r>
          </a:p>
        </p:txBody>
      </p:sp>
      <p:sp>
        <p:nvSpPr>
          <p:cNvPr id="9" name="text-42-328">
            <a:extLst xmlns:a="http://schemas.openxmlformats.org/drawingml/2006/main">
              <a:ext uri="{FF2B5EF4-FFF2-40B4-BE49-F238E27FC236}">
                <a16:creationId xmlns:a16="http://schemas.microsoft.com/office/drawing/2014/main" id="{E9F3B04B-CB2C-4219-9761-B720D08F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识别 3–5 个高价值场景；建立模型网关、数据接入和基础评测；上线人机协同试点。</a:t>
            </a:r>
          </a:p>
        </p:txBody>
      </p:sp>
      <p:sp>
        <p:nvSpPr>
          <p:cNvPr id="10" name="rect-364-238">
            <a:extLst xmlns:a="http://schemas.openxmlformats.org/drawingml/2006/main">
              <a:ext uri="{FF2B5EF4-FFF2-40B4-BE49-F238E27FC236}">
                <a16:creationId xmlns:a16="http://schemas.microsoft.com/office/drawing/2014/main" id="{20ADB7A8-261A-4AE4-85C4-37EB2A8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text-364-247">
            <a:extLst xmlns:a="http://schemas.openxmlformats.org/drawingml/2006/main">
              <a:ext uri="{FF2B5EF4-FFF2-40B4-BE49-F238E27FC236}">
                <a16:creationId xmlns:a16="http://schemas.microsoft.com/office/drawing/2014/main" id="{68512056-63A3-42D3-8177-F9C67744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text-342-166">
            <a:extLst xmlns:a="http://schemas.openxmlformats.org/drawingml/2006/main">
              <a:ext uri="{FF2B5EF4-FFF2-40B4-BE49-F238E27FC236}">
                <a16:creationId xmlns:a16="http://schemas.microsoft.com/office/drawing/2014/main" id="{A0AEBEFA-AFE0-4F84-9436-77399A3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3–6 个月</a:t>
            </a:r>
          </a:p>
        </p:txBody>
      </p:sp>
      <p:sp>
        <p:nvSpPr>
          <p:cNvPr id="13" name="text-342-328">
            <a:extLst xmlns:a="http://schemas.openxmlformats.org/drawingml/2006/main">
              <a:ext uri="{FF2B5EF4-FFF2-40B4-BE49-F238E27FC236}">
                <a16:creationId xmlns:a16="http://schemas.microsoft.com/office/drawing/2014/main" id="{C4AE61E6-63BB-4CD0-BF52-9B6EBF11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沉淀语义层与工具目录；把试点嵌入流程；建立权限、日志、成本与质量看板。</a:t>
            </a:r>
          </a:p>
        </p:txBody>
      </p:sp>
      <p:sp>
        <p:nvSpPr>
          <p:cNvPr id="14" name="rect-664-238">
            <a:extLst xmlns:a="http://schemas.openxmlformats.org/drawingml/2006/main">
              <a:ext uri="{FF2B5EF4-FFF2-40B4-BE49-F238E27FC236}">
                <a16:creationId xmlns:a16="http://schemas.microsoft.com/office/drawing/2014/main" id="{1ACA3FA7-019D-495A-A6DA-7C53443A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-664-247">
            <a:extLst xmlns:a="http://schemas.openxmlformats.org/drawingml/2006/main">
              <a:ext uri="{FF2B5EF4-FFF2-40B4-BE49-F238E27FC236}">
                <a16:creationId xmlns:a16="http://schemas.microsoft.com/office/drawing/2014/main" id="{208A8D20-DC7F-47E5-AE4A-149CA2C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text-642-166">
            <a:extLst xmlns:a="http://schemas.openxmlformats.org/drawingml/2006/main">
              <a:ext uri="{FF2B5EF4-FFF2-40B4-BE49-F238E27FC236}">
                <a16:creationId xmlns:a16="http://schemas.microsoft.com/office/drawing/2014/main" id="{DFFED773-50F7-44D3-8A42-351D952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6–9 个月</a:t>
            </a:r>
          </a:p>
        </p:txBody>
      </p:sp>
      <p:sp>
        <p:nvSpPr>
          <p:cNvPr id="17" name="text-642-328">
            <a:extLst xmlns:a="http://schemas.openxmlformats.org/drawingml/2006/main">
              <a:ext uri="{FF2B5EF4-FFF2-40B4-BE49-F238E27FC236}">
                <a16:creationId xmlns:a16="http://schemas.microsoft.com/office/drawing/2014/main" id="{D23F34F2-0A7E-4E3E-850A-4E508E7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扩展跨系统 Agent；复用场景模板；引入异常恢复、人工接管和持续评测。</a:t>
            </a:r>
          </a:p>
        </p:txBody>
      </p:sp>
      <p:sp>
        <p:nvSpPr>
          <p:cNvPr id="18" name="rect-964-238">
            <a:extLst xmlns:a="http://schemas.openxmlformats.org/drawingml/2006/main">
              <a:ext uri="{FF2B5EF4-FFF2-40B4-BE49-F238E27FC236}">
                <a16:creationId xmlns:a16="http://schemas.microsoft.com/office/drawing/2014/main" id="{89AD2631-16C7-43B7-894B-A6388F04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-964-247">
            <a:extLst xmlns:a="http://schemas.openxmlformats.org/drawingml/2006/main">
              <a:ext uri="{FF2B5EF4-FFF2-40B4-BE49-F238E27FC236}">
                <a16:creationId xmlns:a16="http://schemas.microsoft.com/office/drawing/2014/main" id="{CCE43CB8-2050-44D6-8F92-1FAF4FAC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52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text-942-166">
            <a:extLst xmlns:a="http://schemas.openxmlformats.org/drawingml/2006/main">
              <a:ext uri="{FF2B5EF4-FFF2-40B4-BE49-F238E27FC236}">
                <a16:creationId xmlns:a16="http://schemas.microsoft.com/office/drawing/2014/main" id="{8BC56567-8840-4C6A-908B-D06C3349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81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9–12 个月</a:t>
            </a:r>
          </a:p>
        </p:txBody>
      </p:sp>
      <p:sp>
        <p:nvSpPr>
          <p:cNvPr id="21" name="text-942-328">
            <a:extLst xmlns:a="http://schemas.openxmlformats.org/drawingml/2006/main">
              <a:ext uri="{FF2B5EF4-FFF2-40B4-BE49-F238E27FC236}">
                <a16:creationId xmlns:a16="http://schemas.microsoft.com/office/drawing/2014/main" id="{A74727B0-F936-447B-B8FD-533CD55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形成多 Agent 协作；按业务指标优化；建立平台化运营和年度投资组合机制。</a:t>
            </a:r>
          </a:p>
        </p:txBody>
      </p:sp>
      <p:sp>
        <p:nvSpPr>
          <p:cNvPr id="22" name="rect-42-550">
            <a:extLst xmlns:a="http://schemas.openxmlformats.org/drawingml/2006/main">
              <a:ext uri="{FF2B5EF4-FFF2-40B4-BE49-F238E27FC236}">
                <a16:creationId xmlns:a16="http://schemas.microsoft.com/office/drawing/2014/main" id="{77FEA1E4-963F-4033-A95A-AA5BA30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3" name="text-64-570">
            <a:extLst xmlns:a="http://schemas.openxmlformats.org/drawingml/2006/main">
              <a:ext uri="{FF2B5EF4-FFF2-40B4-BE49-F238E27FC236}">
                <a16:creationId xmlns:a16="http://schemas.microsoft.com/office/drawing/2014/main" id="{1F3F956F-D3A5-4A65-94DE-5B7F730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阶段门</a:t>
            </a:r>
          </a:p>
        </p:txBody>
      </p:sp>
      <p:sp>
        <p:nvSpPr>
          <p:cNvPr id="24" name="text-172-566">
            <a:extLst xmlns:a="http://schemas.openxmlformats.org/drawingml/2006/main">
              <a:ext uri="{FF2B5EF4-FFF2-40B4-BE49-F238E27FC236}">
                <a16:creationId xmlns:a16="http://schemas.microsoft.com/office/drawing/2014/main" id="{477A2365-15A0-4FCD-A91A-857F4E4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984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只有当价值、质量、风险、成本四项指标同时达标，才提升自主性或扩大到下一批场景。</a:t>
            </a:r>
          </a:p>
        </p:txBody>
      </p:sp>
    </p:spTree>
    <p:extLst>
      <p:ext uri="{BB962C8B-B14F-4D97-AF65-F5344CB8AC3E}">
        <p14:creationId xmlns:p14="http://schemas.microsoft.com/office/powerpoint/2010/main" val="8355414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89E6E835-F4D2-4CB3-B696-E27C06B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行动路线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B433EB0-B155-41CA-91AE-66E6D95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管理层需要尽快作出五个关键选择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EA11-618F-4447-851E-C21621D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10569824-E840-4293-B395-16DED6C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text-42-156">
            <a:extLst xmlns:a="http://schemas.openxmlformats.org/drawingml/2006/main">
              <a:ext uri="{FF2B5EF4-FFF2-40B4-BE49-F238E27FC236}">
                <a16:creationId xmlns:a16="http://schemas.microsoft.com/office/drawing/2014/main" id="{B521E06E-6635-4384-998F-48A84E9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120-156">
            <a:extLst xmlns:a="http://schemas.openxmlformats.org/drawingml/2006/main">
              <a:ext uri="{FF2B5EF4-FFF2-40B4-BE49-F238E27FC236}">
                <a16:creationId xmlns:a16="http://schemas.microsoft.com/office/drawing/2014/main" id="{92FF0F57-DAF4-4FFD-9078-350EBE4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价值锚点</a:t>
            </a:r>
          </a:p>
        </p:txBody>
      </p:sp>
      <p:sp>
        <p:nvSpPr>
          <p:cNvPr id="7" name="text-360-156">
            <a:extLst xmlns:a="http://schemas.openxmlformats.org/drawingml/2006/main">
              <a:ext uri="{FF2B5EF4-FFF2-40B4-BE49-F238E27FC236}">
                <a16:creationId xmlns:a16="http://schemas.microsoft.com/office/drawing/2014/main" id="{0E50E634-1230-4772-B54C-4FB058B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85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以业务结果而非模型参数定义投资优先级。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FD55-8CEC-4E31-A06C-7824367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42-250">
            <a:extLst xmlns:a="http://schemas.openxmlformats.org/drawingml/2006/main">
              <a:ext uri="{FF2B5EF4-FFF2-40B4-BE49-F238E27FC236}">
                <a16:creationId xmlns:a16="http://schemas.microsoft.com/office/drawing/2014/main" id="{FD1EF7F4-C704-4E59-9E85-3C994F9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120-250">
            <a:extLst xmlns:a="http://schemas.openxmlformats.org/drawingml/2006/main">
              <a:ext uri="{FF2B5EF4-FFF2-40B4-BE49-F238E27FC236}">
                <a16:creationId xmlns:a16="http://schemas.microsoft.com/office/drawing/2014/main" id="{9CEB5133-43DB-4BC4-B2C9-A83CDBC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架构边界</a:t>
            </a:r>
          </a:p>
        </p:txBody>
      </p:sp>
      <p:sp>
        <p:nvSpPr>
          <p:cNvPr id="11" name="text-360-250">
            <a:extLst xmlns:a="http://schemas.openxmlformats.org/drawingml/2006/main">
              <a:ext uri="{FF2B5EF4-FFF2-40B4-BE49-F238E27FC236}">
                <a16:creationId xmlns:a16="http://schemas.microsoft.com/office/drawing/2014/main" id="{0ADFCFF1-93B8-4CD7-A473-D3DB658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选择可替换模型、可组合工具、可审计权限的开放架构。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41337-DFFB-46F3-AF9E-5EC212C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42-344">
            <a:extLst xmlns:a="http://schemas.openxmlformats.org/drawingml/2006/main">
              <a:ext uri="{FF2B5EF4-FFF2-40B4-BE49-F238E27FC236}">
                <a16:creationId xmlns:a16="http://schemas.microsoft.com/office/drawing/2014/main" id="{D085A78F-9099-4C22-A4EF-CB59FC0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120-344">
            <a:extLst xmlns:a="http://schemas.openxmlformats.org/drawingml/2006/main">
              <a:ext uri="{FF2B5EF4-FFF2-40B4-BE49-F238E27FC236}">
                <a16:creationId xmlns:a16="http://schemas.microsoft.com/office/drawing/2014/main" id="{0819F1B4-10AA-4765-BD2F-445A926C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数据责任</a:t>
            </a:r>
          </a:p>
        </p:txBody>
      </p:sp>
      <p:sp>
        <p:nvSpPr>
          <p:cNvPr id="15" name="text-360-344">
            <a:extLst xmlns:a="http://schemas.openxmlformats.org/drawingml/2006/main">
              <a:ext uri="{FF2B5EF4-FFF2-40B4-BE49-F238E27FC236}">
                <a16:creationId xmlns:a16="http://schemas.microsoft.com/office/drawing/2014/main" id="{773969A4-54BD-4062-934F-CDB1B2ED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把语义、质量、权限与知识更新明确到业务 Owner。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8DE5-EF35-4A78-BBC5-30804CF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42-438">
            <a:extLst xmlns:a="http://schemas.openxmlformats.org/drawingml/2006/main">
              <a:ext uri="{FF2B5EF4-FFF2-40B4-BE49-F238E27FC236}">
                <a16:creationId xmlns:a16="http://schemas.microsoft.com/office/drawing/2014/main" id="{AC431764-A475-4494-A053-EC431B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120-438">
            <a:extLst xmlns:a="http://schemas.openxmlformats.org/drawingml/2006/main">
              <a:ext uri="{FF2B5EF4-FFF2-40B4-BE49-F238E27FC236}">
                <a16:creationId xmlns:a16="http://schemas.microsoft.com/office/drawing/2014/main" id="{48DA5DCD-2ED8-4F3A-93C4-45C731E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自主性边界</a:t>
            </a:r>
          </a:p>
        </p:txBody>
      </p:sp>
      <p:sp>
        <p:nvSpPr>
          <p:cNvPr id="19" name="text-360-438">
            <a:extLst xmlns:a="http://schemas.openxmlformats.org/drawingml/2006/main">
              <a:ext uri="{FF2B5EF4-FFF2-40B4-BE49-F238E27FC236}">
                <a16:creationId xmlns:a16="http://schemas.microsoft.com/office/drawing/2014/main" id="{7C47710A-D387-404E-BDE0-777A61F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按风险分级决定哪些任务自动执行、哪些必须人工批准。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C3E46-ACD5-4C6E-B6D5-CF2A351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42-532">
            <a:extLst xmlns:a="http://schemas.openxmlformats.org/drawingml/2006/main">
              <a:ext uri="{FF2B5EF4-FFF2-40B4-BE49-F238E27FC236}">
                <a16:creationId xmlns:a16="http://schemas.microsoft.com/office/drawing/2014/main" id="{F5540B40-0FC0-426F-9887-9686198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120-532">
            <a:extLst xmlns:a="http://schemas.openxmlformats.org/drawingml/2006/main">
              <a:ext uri="{FF2B5EF4-FFF2-40B4-BE49-F238E27FC236}">
                <a16:creationId xmlns:a16="http://schemas.microsoft.com/office/drawing/2014/main" id="{89B5549B-6181-43AE-8A2F-8942DDF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规模化机制</a:t>
            </a:r>
          </a:p>
        </p:txBody>
      </p:sp>
      <p:sp>
        <p:nvSpPr>
          <p:cNvPr id="23" name="text-360-532">
            <a:extLst xmlns:a="http://schemas.openxmlformats.org/drawingml/2006/main">
              <a:ext uri="{FF2B5EF4-FFF2-40B4-BE49-F238E27FC236}">
                <a16:creationId xmlns:a16="http://schemas.microsoft.com/office/drawing/2014/main" id="{BFE45DD2-2DDE-4EDF-A6F2-8038CDC2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用平台标准、场景模板和评测基线推动跨部门复制。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04222-58D3-4A55-8DBC-CA860BD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70567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-38">
            <a:extLst xmlns:a="http://schemas.openxmlformats.org/drawingml/2006/main">
              <a:ext uri="{FF2B5EF4-FFF2-40B4-BE49-F238E27FC236}">
                <a16:creationId xmlns:a16="http://schemas.microsoft.com/office/drawing/2014/main" id="{05049523-C522-45F4-8285-666780B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行业证据更新 · 2026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42409CD4-61D1-422F-8744-A03471E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补充证据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与行业观察</a:t>
            </a:r>
          </a:p>
        </p:txBody>
      </p:sp>
      <p:sp>
        <p:nvSpPr>
          <p:cNvPr id="3" name="text-42-500">
            <a:extLst xmlns:a="http://schemas.openxmlformats.org/drawingml/2006/main">
              <a:ext uri="{FF2B5EF4-FFF2-40B4-BE49-F238E27FC236}">
                <a16:creationId xmlns:a16="http://schemas.microsoft.com/office/drawing/2014/main" id="{2302B002-B502-4517-AF48-DF22536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用最新公开数据检验六层架构，并补足标准、政策与落地指标</a:t>
            </a:r>
          </a:p>
        </p:txBody>
      </p:sp>
      <p:sp>
        <p:nvSpPr>
          <p:cNvPr id="4" name="rect-1050-38">
            <a:extLst xmlns:a="http://schemas.openxmlformats.org/drawingml/2006/main">
              <a:ext uri="{FF2B5EF4-FFF2-40B4-BE49-F238E27FC236}">
                <a16:creationId xmlns:a16="http://schemas.microsoft.com/office/drawing/2014/main" id="{A358BA5D-4787-4EFE-BA83-0942F5F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7907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rect-1050-431">
            <a:extLst xmlns:a="http://schemas.openxmlformats.org/drawingml/2006/main">
              <a:ext uri="{FF2B5EF4-FFF2-40B4-BE49-F238E27FC236}">
                <a16:creationId xmlns:a16="http://schemas.microsoft.com/office/drawing/2014/main" id="{74FFEA7C-FA7B-4D99-8311-1B2BBEE8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05275"/>
            <a:ext cx="17907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ext-1080-466">
            <a:extLst xmlns:a="http://schemas.openxmlformats.org/drawingml/2006/main">
              <a:ext uri="{FF2B5EF4-FFF2-40B4-BE49-F238E27FC236}">
                <a16:creationId xmlns:a16="http://schemas.microsoft.com/office/drawing/2014/main" id="{24DCA7BE-C85C-4B02-A55F-E8EC250A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量化证据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开放标准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监管要求</a:t>
            </a:r>
          </a:p>
        </p:txBody>
      </p:sp>
    </p:spTree>
    <p:extLst>
      <p:ext uri="{BB962C8B-B14F-4D97-AF65-F5344CB8AC3E}">
        <p14:creationId xmlns:p14="http://schemas.microsoft.com/office/powerpoint/2010/main" val="18532097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EA7154-E630-4174-94BB-FD4F335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证据与行业观察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C184BD00-CB49-4E6D-9C35-0D58371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已进入广泛采用期，但 Agent 仍处于早期规模化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58F9-1CB0-418A-8DFF-1D7FC0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93FE6B9-2BDE-4DC6-8CCE-2CFAFD3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92434ACE-07F3-4D79-94D7-42E4912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企业 AI 的主要矛盾已从“是否采用”转向“能否可靠地嵌入流程并兑现结果”。</a:t>
            </a:r>
          </a:p>
        </p:txBody>
      </p:sp>
      <p:sp>
        <p:nvSpPr>
          <p:cNvPr id="6" name="rect-42-300">
            <a:extLst xmlns:a="http://schemas.openxmlformats.org/drawingml/2006/main">
              <a:ext uri="{FF2B5EF4-FFF2-40B4-BE49-F238E27FC236}">
                <a16:creationId xmlns:a16="http://schemas.microsoft.com/office/drawing/2014/main" id="{6DB88961-4EE7-4B75-8A56-5A3FC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text-66-320">
            <a:extLst xmlns:a="http://schemas.openxmlformats.org/drawingml/2006/main">
              <a:ext uri="{FF2B5EF4-FFF2-40B4-BE49-F238E27FC236}">
                <a16:creationId xmlns:a16="http://schemas.microsoft.com/office/drawing/2014/main" id="{2A4D6BF5-9F4C-459C-9DC1-1E2127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66-380">
            <a:extLst xmlns:a="http://schemas.openxmlformats.org/drawingml/2006/main">
              <a:ext uri="{FF2B5EF4-FFF2-40B4-BE49-F238E27FC236}">
                <a16:creationId xmlns:a16="http://schemas.microsoft.com/office/drawing/2014/main" id="{423EDF92-AB64-4C91-BDC7-A45F67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88% 已采用</a:t>
            </a:r>
          </a:p>
        </p:txBody>
      </p:sp>
      <p:sp>
        <p:nvSpPr>
          <p:cNvPr id="9" name="text-66-446">
            <a:extLst xmlns:a="http://schemas.openxmlformats.org/drawingml/2006/main">
              <a:ext uri="{FF2B5EF4-FFF2-40B4-BE49-F238E27FC236}">
                <a16:creationId xmlns:a16="http://schemas.microsoft.com/office/drawing/2014/main" id="{B5F36B90-B30B-4AB6-A678-9C5C1F3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2025年，88%的受访组织已采用 AI；70%已在至少一个职能使用生成式 AI。</a:t>
            </a:r>
          </a:p>
        </p:txBody>
      </p:sp>
      <p:sp>
        <p:nvSpPr>
          <p:cNvPr id="10" name="rect-452-300">
            <a:extLst xmlns:a="http://schemas.openxmlformats.org/drawingml/2006/main">
              <a:ext uri="{FF2B5EF4-FFF2-40B4-BE49-F238E27FC236}">
                <a16:creationId xmlns:a16="http://schemas.microsoft.com/office/drawing/2014/main" id="{8EE92EFD-FFAE-4737-A89A-EA65BDE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1F02160E-6789-4FC5-9F39-AB03AC9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476-380">
            <a:extLst xmlns:a="http://schemas.openxmlformats.org/drawingml/2006/main">
              <a:ext uri="{FF2B5EF4-FFF2-40B4-BE49-F238E27FC236}">
                <a16:creationId xmlns:a16="http://schemas.microsoft.com/office/drawing/2014/main" id="{2624525F-70D1-4EB1-8689-15928D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仍是个位数</a:t>
            </a:r>
          </a:p>
        </p:txBody>
      </p:sp>
      <p:sp>
        <p:nvSpPr>
          <p:cNvPr id="13" name="text-476-446">
            <a:extLst xmlns:a="http://schemas.openxmlformats.org/drawingml/2006/main">
              <a:ext uri="{FF2B5EF4-FFF2-40B4-BE49-F238E27FC236}">
                <a16:creationId xmlns:a16="http://schemas.microsoft.com/office/drawing/2014/main" id="{633D2BE6-8B49-41B7-A207-756BFDA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Agent 在绝大多数业务职能中的部署率仍为个位数，生产化远落后于试用。</a:t>
            </a:r>
          </a:p>
        </p:txBody>
      </p:sp>
      <p:sp>
        <p:nvSpPr>
          <p:cNvPr id="14" name="rect-862-300">
            <a:extLst xmlns:a="http://schemas.openxmlformats.org/drawingml/2006/main">
              <a:ext uri="{FF2B5EF4-FFF2-40B4-BE49-F238E27FC236}">
                <a16:creationId xmlns:a16="http://schemas.microsoft.com/office/drawing/2014/main" id="{726BEE0C-BD0A-469E-AD75-4D09EE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5" name="text-886-320">
            <a:extLst xmlns:a="http://schemas.openxmlformats.org/drawingml/2006/main">
              <a:ext uri="{FF2B5EF4-FFF2-40B4-BE49-F238E27FC236}">
                <a16:creationId xmlns:a16="http://schemas.microsoft.com/office/drawing/2014/main" id="{70111953-5A28-4FC3-8658-66983B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886-380">
            <a:extLst xmlns:a="http://schemas.openxmlformats.org/drawingml/2006/main">
              <a:ext uri="{FF2B5EF4-FFF2-40B4-BE49-F238E27FC236}">
                <a16:creationId xmlns:a16="http://schemas.microsoft.com/office/drawing/2014/main" id="{CC3775DA-BB5A-4C28-A853-5BAAB25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362 起事故</a:t>
            </a:r>
          </a:p>
        </p:txBody>
      </p:sp>
      <p:sp>
        <p:nvSpPr>
          <p:cNvPr id="17" name="text-886-446">
            <a:extLst xmlns:a="http://schemas.openxmlformats.org/drawingml/2006/main">
              <a:ext uri="{FF2B5EF4-FFF2-40B4-BE49-F238E27FC236}">
                <a16:creationId xmlns:a16="http://schemas.microsoft.com/office/drawing/2014/main" id="{695334F0-1DAB-4453-8744-227A4B9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2025年记录的 AI 事故由2024年的233起升至362起，治理压力同步上升。</a:t>
            </a:r>
          </a:p>
        </p:txBody>
      </p:sp>
    </p:spTree>
    <p:extLst>
      <p:ext uri="{BB962C8B-B14F-4D97-AF65-F5344CB8AC3E}">
        <p14:creationId xmlns:p14="http://schemas.microsoft.com/office/powerpoint/2010/main" val="6569965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FC07B5D-B122-4F1C-954E-CD84668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证据与行业观察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E48E192-9628-4D42-8FAB-82522D3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能源将成为 AI 扩张速度的第一约束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5DFA-AF60-4CDD-837D-4A0A2B2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464F85B-FEDD-46ED-B379-FBEDE19F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FB05E847-B226-4997-8DFF-C7B290F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效率持续提升，但需求规模、Agent 使用与基础设施投资推动总用电继续上升。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797A-D5DC-47AC-B3F0-BD789140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text-42-294">
            <a:extLst xmlns:a="http://schemas.openxmlformats.org/drawingml/2006/main">
              <a:ext uri="{FF2B5EF4-FFF2-40B4-BE49-F238E27FC236}">
                <a16:creationId xmlns:a16="http://schemas.microsoft.com/office/drawing/2014/main" id="{4D8BB993-8DB3-4C0A-878E-B08A285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950 TWh</a:t>
            </a:r>
          </a:p>
        </p:txBody>
      </p:sp>
      <p:sp>
        <p:nvSpPr>
          <p:cNvPr id="8" name="text-42-350">
            <a:extLst xmlns:a="http://schemas.openxmlformats.org/drawingml/2006/main">
              <a:ext uri="{FF2B5EF4-FFF2-40B4-BE49-F238E27FC236}">
                <a16:creationId xmlns:a16="http://schemas.microsoft.com/office/drawing/2014/main" id="{5373DF63-C4DB-44AA-800A-2392EE93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IEA预计数据中心用电：485 TWh（2025）→约950 TWh（2030），接近翻倍。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EEEC5-89F5-4098-AE4D-98C8212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0" name="text-442-294">
            <a:extLst xmlns:a="http://schemas.openxmlformats.org/drawingml/2006/main">
              <a:ext uri="{FF2B5EF4-FFF2-40B4-BE49-F238E27FC236}">
                <a16:creationId xmlns:a16="http://schemas.microsoft.com/office/drawing/2014/main" id="{8C9C028E-464F-41CD-B05F-621F20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3×</a:t>
            </a:r>
          </a:p>
        </p:txBody>
      </p:sp>
      <p:sp>
        <p:nvSpPr>
          <p:cNvPr id="11" name="text-442-350">
            <a:extLst xmlns:a="http://schemas.openxmlformats.org/drawingml/2006/main">
              <a:ext uri="{FF2B5EF4-FFF2-40B4-BE49-F238E27FC236}">
                <a16:creationId xmlns:a16="http://schemas.microsoft.com/office/drawing/2014/main" id="{9F7E0AD7-5A6E-49C5-A6B6-F59A0B1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AI专用数据中心2030年用电约为2025年的3倍。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D7579-CDA9-4290-BC2B-AC5F32C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4"/>
            </a:solidFill>
            <a:prstDash val="solid"/>
          </a:ln>
        </p:spPr>
      </p:sp>
      <p:sp>
        <p:nvSpPr>
          <p:cNvPr id="13" name="text-842-294">
            <a:extLst xmlns:a="http://schemas.openxmlformats.org/drawingml/2006/main">
              <a:ext uri="{FF2B5EF4-FFF2-40B4-BE49-F238E27FC236}">
                <a16:creationId xmlns:a16="http://schemas.microsoft.com/office/drawing/2014/main" id="{0E6BB69A-5B36-4B75-B58B-AFB02A1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17%</a:t>
            </a:r>
          </a:p>
        </p:txBody>
      </p:sp>
      <p:sp>
        <p:nvSpPr>
          <p:cNvPr id="14" name="text-842-350">
            <a:extLst xmlns:a="http://schemas.openxmlformats.org/drawingml/2006/main">
              <a:ext uri="{FF2B5EF4-FFF2-40B4-BE49-F238E27FC236}">
                <a16:creationId xmlns:a16="http://schemas.microsoft.com/office/drawing/2014/main" id="{F78591A2-2F18-4C5C-8FF8-87E83169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276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2025年数据中心用电同比增长17%，显著高于全球总用电3%的增速。</a:t>
            </a:r>
          </a:p>
        </p:txBody>
      </p:sp>
      <p:sp>
        <p:nvSpPr>
          <p:cNvPr id="15" name="rect-42-550">
            <a:extLst xmlns:a="http://schemas.openxmlformats.org/drawingml/2006/main">
              <a:ext uri="{FF2B5EF4-FFF2-40B4-BE49-F238E27FC236}">
                <a16:creationId xmlns:a16="http://schemas.microsoft.com/office/drawing/2014/main" id="{8439777F-CD44-4680-A1D6-124AA7C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text-66-569">
            <a:extLst xmlns:a="http://schemas.openxmlformats.org/drawingml/2006/main">
              <a:ext uri="{FF2B5EF4-FFF2-40B4-BE49-F238E27FC236}">
                <a16:creationId xmlns:a16="http://schemas.microsoft.com/office/drawing/2014/main" id="{2ECBEA9D-C299-4178-9688-D3EAC2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管理含义</a:t>
            </a:r>
          </a:p>
        </p:txBody>
      </p:sp>
      <p:sp>
        <p:nvSpPr>
          <p:cNvPr id="17" name="text-210-563">
            <a:extLst xmlns:a="http://schemas.openxmlformats.org/drawingml/2006/main">
              <a:ext uri="{FF2B5EF4-FFF2-40B4-BE49-F238E27FC236}">
                <a16:creationId xmlns:a16="http://schemas.microsoft.com/office/drawing/2014/main" id="{960B114C-7998-42D6-992C-251213E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电力可获得性、并网周期、能源设备/芯片供应链与融资能力，将共同决定算力落地节奏。</a:t>
            </a:r>
          </a:p>
        </p:txBody>
      </p:sp>
    </p:spTree>
    <p:extLst>
      <p:ext uri="{BB962C8B-B14F-4D97-AF65-F5344CB8AC3E}">
        <p14:creationId xmlns:p14="http://schemas.microsoft.com/office/powerpoint/2010/main" val="2940288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2-24">
            <a:extLst xmlns:a="http://schemas.openxmlformats.org/drawingml/2006/main">
              <a:ext uri="{FF2B5EF4-FFF2-40B4-BE49-F238E27FC236}">
                <a16:creationId xmlns:a16="http://schemas.microsoft.com/office/drawing/2014/main" id="{FAEA7154-E630-4174-94BB-FD4F335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证据与行业观察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C184BD00-CB49-4E6D-9C35-0D58371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模型更强、更便宜，但可靠性仍呈“锯齿状前沿”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58F9-1CB0-418A-8DFF-1D7FC0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93FE6B9-2BDE-4DC6-8CCE-2CFAFD3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92434ACE-07F3-4D79-94D7-42E4912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性能趋同与成本下降，正在把竞争焦点推向可靠性、场景适配和端到端交付。</a:t>
            </a:r>
          </a:p>
        </p:txBody>
      </p:sp>
      <p:sp>
        <p:nvSpPr>
          <p:cNvPr id="6" name="rect-42-300">
            <a:extLst xmlns:a="http://schemas.openxmlformats.org/drawingml/2006/main">
              <a:ext uri="{FF2B5EF4-FFF2-40B4-BE49-F238E27FC236}">
                <a16:creationId xmlns:a16="http://schemas.microsoft.com/office/drawing/2014/main" id="{6DB88961-4EE7-4B75-8A56-5A3FC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7" name="text-66-320">
            <a:extLst xmlns:a="http://schemas.openxmlformats.org/drawingml/2006/main">
              <a:ext uri="{FF2B5EF4-FFF2-40B4-BE49-F238E27FC236}">
                <a16:creationId xmlns:a16="http://schemas.microsoft.com/office/drawing/2014/main" id="{2A4D6BF5-9F4C-459C-9DC1-1E2127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66-380">
            <a:extLst xmlns:a="http://schemas.openxmlformats.org/drawingml/2006/main">
              <a:ext uri="{FF2B5EF4-FFF2-40B4-BE49-F238E27FC236}">
                <a16:creationId xmlns:a16="http://schemas.microsoft.com/office/drawing/2014/main" id="{423EDF92-AB64-4C91-BDC7-A45F67C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推理成本 ↓280×</a:t>
            </a:r>
          </a:p>
        </p:txBody>
      </p:sp>
      <p:sp>
        <p:nvSpPr>
          <p:cNvPr id="9" name="text-66-446">
            <a:extLst xmlns:a="http://schemas.openxmlformats.org/drawingml/2006/main">
              <a:ext uri="{FF2B5EF4-FFF2-40B4-BE49-F238E27FC236}">
                <a16:creationId xmlns:a16="http://schemas.microsoft.com/office/drawing/2014/main" id="{B5F36B90-B30B-4AB6-A678-9C5C1F3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2022.11—2024.10，达到 GPT‑3.5 水平的推理成本下降超过280倍。</a:t>
            </a:r>
          </a:p>
        </p:txBody>
      </p:sp>
      <p:sp>
        <p:nvSpPr>
          <p:cNvPr id="10" name="rect-452-300">
            <a:extLst xmlns:a="http://schemas.openxmlformats.org/drawingml/2006/main">
              <a:ext uri="{FF2B5EF4-FFF2-40B4-BE49-F238E27FC236}">
                <a16:creationId xmlns:a16="http://schemas.microsoft.com/office/drawing/2014/main" id="{8EE92EFD-FFAE-4737-A89A-EA65BDE0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text-476-320">
            <a:extLst xmlns:a="http://schemas.openxmlformats.org/drawingml/2006/main">
              <a:ext uri="{FF2B5EF4-FFF2-40B4-BE49-F238E27FC236}">
                <a16:creationId xmlns:a16="http://schemas.microsoft.com/office/drawing/2014/main" id="{1F02160E-6789-4FC5-9F39-AB03AC9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476-380">
            <a:extLst xmlns:a="http://schemas.openxmlformats.org/drawingml/2006/main">
              <a:ext uri="{FF2B5EF4-FFF2-40B4-BE49-F238E27FC236}">
                <a16:creationId xmlns:a16="http://schemas.microsoft.com/office/drawing/2014/main" id="{2624525F-70D1-4EB1-8689-15928D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成功率 ≈66%</a:t>
            </a:r>
          </a:p>
        </p:txBody>
      </p:sp>
      <p:sp>
        <p:nvSpPr>
          <p:cNvPr id="13" name="text-476-446">
            <a:extLst xmlns:a="http://schemas.openxmlformats.org/drawingml/2006/main">
              <a:ext uri="{FF2B5EF4-FFF2-40B4-BE49-F238E27FC236}">
                <a16:creationId xmlns:a16="http://schemas.microsoft.com/office/drawing/2014/main" id="{633D2BE6-8B49-41B7-A207-756BFDA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OSWorld任务成功率由12%升至约66%，但结构化基准上仍约三分之一失败。</a:t>
            </a:r>
          </a:p>
        </p:txBody>
      </p:sp>
      <p:sp>
        <p:nvSpPr>
          <p:cNvPr id="14" name="rect-862-300">
            <a:extLst xmlns:a="http://schemas.openxmlformats.org/drawingml/2006/main">
              <a:ext uri="{FF2B5EF4-FFF2-40B4-BE49-F238E27FC236}">
                <a16:creationId xmlns:a16="http://schemas.microsoft.com/office/drawing/2014/main" id="{726BEE0C-BD0A-469E-AD75-4D09EE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5" name="text-886-320">
            <a:extLst xmlns:a="http://schemas.openxmlformats.org/drawingml/2006/main">
              <a:ext uri="{FF2B5EF4-FFF2-40B4-BE49-F238E27FC236}">
                <a16:creationId xmlns:a16="http://schemas.microsoft.com/office/drawing/2014/main" id="{70111953-5A28-4FC3-8658-66983B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886-380">
            <a:extLst xmlns:a="http://schemas.openxmlformats.org/drawingml/2006/main">
              <a:ext uri="{FF2B5EF4-FFF2-40B4-BE49-F238E27FC236}">
                <a16:creationId xmlns:a16="http://schemas.microsoft.com/office/drawing/2014/main" id="{CC3775DA-BB5A-4C28-A853-5BAAB25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中美差距 ≈2.7%</a:t>
            </a:r>
          </a:p>
        </p:txBody>
      </p:sp>
      <p:sp>
        <p:nvSpPr>
          <p:cNvPr id="17" name="text-886-446">
            <a:extLst xmlns:a="http://schemas.openxmlformats.org/drawingml/2006/main">
              <a:ext uri="{FF2B5EF4-FFF2-40B4-BE49-F238E27FC236}">
                <a16:creationId xmlns:a16="http://schemas.microsoft.com/office/drawing/2014/main" id="{695334F0-1DAB-4453-8744-227A4B9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截至2026年3月，美国与中国头部模型的性能差距已缩至约2.7%。</a:t>
            </a:r>
          </a:p>
        </p:txBody>
      </p:sp>
    </p:spTree>
    <p:extLst>
      <p:ext uri="{BB962C8B-B14F-4D97-AF65-F5344CB8AC3E}">
        <p14:creationId xmlns:p14="http://schemas.microsoft.com/office/powerpoint/2010/main" val="6569965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7357E1-9B7C-4A29-998F-06130C4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开放标准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F7A5B830-EB41-49DD-9C00-1577793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标准正把“点对点集成”改造成可组合生态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8521-0CAB-41DB-BF6C-D14282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EDA3AFA-73CB-4EEB-965B-A966470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5" name="rect-42-158">
            <a:extLst xmlns:a="http://schemas.openxmlformats.org/drawingml/2006/main">
              <a:ext uri="{FF2B5EF4-FFF2-40B4-BE49-F238E27FC236}">
                <a16:creationId xmlns:a16="http://schemas.microsoft.com/office/drawing/2014/main" id="{2A5CD1A9-A462-41AC-A264-3BE250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6" name="text-56-169">
            <a:extLst xmlns:a="http://schemas.openxmlformats.org/drawingml/2006/main">
              <a:ext uri="{FF2B5EF4-FFF2-40B4-BE49-F238E27FC236}">
                <a16:creationId xmlns:a16="http://schemas.microsoft.com/office/drawing/2014/main" id="{641CE246-E93D-480D-B2A9-9FC6579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标准 / 控制面</a:t>
            </a:r>
          </a:p>
        </p:txBody>
      </p:sp>
      <p:sp>
        <p:nvSpPr>
          <p:cNvPr id="7" name="rect-260-158">
            <a:extLst xmlns:a="http://schemas.openxmlformats.org/drawingml/2006/main">
              <a:ext uri="{FF2B5EF4-FFF2-40B4-BE49-F238E27FC236}">
                <a16:creationId xmlns:a16="http://schemas.microsoft.com/office/drawing/2014/main" id="{EB21B0EE-B117-4C76-AD8E-C4A5335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8" name="text-274-169">
            <a:extLst xmlns:a="http://schemas.openxmlformats.org/drawingml/2006/main">
              <a:ext uri="{FF2B5EF4-FFF2-40B4-BE49-F238E27FC236}">
                <a16:creationId xmlns:a16="http://schemas.microsoft.com/office/drawing/2014/main" id="{3C4BC141-B13E-464E-8217-ECF2943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097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连接对象</a:t>
            </a:r>
          </a:p>
        </p:txBody>
      </p:sp>
      <p:sp>
        <p:nvSpPr>
          <p:cNvPr id="9" name="rect-550-158">
            <a:extLst xmlns:a="http://schemas.openxmlformats.org/drawingml/2006/main">
              <a:ext uri="{FF2B5EF4-FFF2-40B4-BE49-F238E27FC236}">
                <a16:creationId xmlns:a16="http://schemas.microsoft.com/office/drawing/2014/main" id="{20BF511E-B129-4277-9E69-BF47AC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0" name="text-564-169">
            <a:extLst xmlns:a="http://schemas.openxmlformats.org/drawingml/2006/main">
              <a:ext uri="{FF2B5EF4-FFF2-40B4-BE49-F238E27FC236}">
                <a16:creationId xmlns:a16="http://schemas.microsoft.com/office/drawing/2014/main" id="{59748DA9-E042-482B-9A13-E2553E9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9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核心作用</a:t>
            </a:r>
          </a:p>
        </p:txBody>
      </p:sp>
      <p:sp>
        <p:nvSpPr>
          <p:cNvPr id="11" name="rect-860-158">
            <a:extLst xmlns:a="http://schemas.openxmlformats.org/drawingml/2006/main">
              <a:ext uri="{FF2B5EF4-FFF2-40B4-BE49-F238E27FC236}">
                <a16:creationId xmlns:a16="http://schemas.microsoft.com/office/drawing/2014/main" id="{57718846-7D29-4661-A178-1BBDCEB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2" name="text-874-169">
            <a:extLst xmlns:a="http://schemas.openxmlformats.org/drawingml/2006/main">
              <a:ext uri="{FF2B5EF4-FFF2-40B4-BE49-F238E27FC236}">
                <a16:creationId xmlns:a16="http://schemas.microsoft.com/office/drawing/2014/main" id="{32007CBD-B1D2-4930-823A-0CBC8D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治理与企业含义</a:t>
            </a:r>
          </a:p>
        </p:txBody>
      </p:sp>
      <p:sp>
        <p:nvSpPr>
          <p:cNvPr id="13" name="rect-42-204">
            <a:extLst xmlns:a="http://schemas.openxmlformats.org/drawingml/2006/main">
              <a:ext uri="{FF2B5EF4-FFF2-40B4-BE49-F238E27FC236}">
                <a16:creationId xmlns:a16="http://schemas.microsoft.com/office/drawing/2014/main" id="{399070BA-2C74-49E8-A2FC-188EFC9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56-219">
            <a:extLst xmlns:a="http://schemas.openxmlformats.org/drawingml/2006/main">
              <a:ext uri="{FF2B5EF4-FFF2-40B4-BE49-F238E27FC236}">
                <a16:creationId xmlns:a16="http://schemas.microsoft.com/office/drawing/2014/main" id="{E2AA266D-1611-4A24-9A5D-AE77A19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MCP</a:t>
            </a:r>
          </a:p>
        </p:txBody>
      </p:sp>
      <p:sp>
        <p:nvSpPr>
          <p:cNvPr id="15" name="rect-260-204">
            <a:extLst xmlns:a="http://schemas.openxmlformats.org/drawingml/2006/main">
              <a:ext uri="{FF2B5EF4-FFF2-40B4-BE49-F238E27FC236}">
                <a16:creationId xmlns:a16="http://schemas.microsoft.com/office/drawing/2014/main" id="{8B2BC283-6E2A-4763-A444-5D01F92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274-219">
            <a:extLst xmlns:a="http://schemas.openxmlformats.org/drawingml/2006/main">
              <a:ext uri="{FF2B5EF4-FFF2-40B4-BE49-F238E27FC236}">
                <a16:creationId xmlns:a16="http://schemas.microsoft.com/office/drawing/2014/main" id="{A176321B-FE16-4CBE-9783-9223574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859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↔ 工具/数据</a:t>
            </a:r>
          </a:p>
        </p:txBody>
      </p:sp>
      <p:sp>
        <p:nvSpPr>
          <p:cNvPr id="17" name="rect-550-204">
            <a:extLst xmlns:a="http://schemas.openxmlformats.org/drawingml/2006/main">
              <a:ext uri="{FF2B5EF4-FFF2-40B4-BE49-F238E27FC236}">
                <a16:creationId xmlns:a16="http://schemas.microsoft.com/office/drawing/2014/main" id="{F779746D-1E29-4D5F-A4F2-4914B75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564-219">
            <a:extLst xmlns:a="http://schemas.openxmlformats.org/drawingml/2006/main">
              <a:ext uri="{FF2B5EF4-FFF2-40B4-BE49-F238E27FC236}">
                <a16:creationId xmlns:a16="http://schemas.microsoft.com/office/drawing/2014/main" id="{8D90D277-D16E-4F42-A565-419DBB9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统一发现、上下文与工具调用</a:t>
            </a:r>
          </a:p>
        </p:txBody>
      </p:sp>
      <p:sp>
        <p:nvSpPr>
          <p:cNvPr id="19" name="rect-860-204">
            <a:extLst xmlns:a="http://schemas.openxmlformats.org/drawingml/2006/main">
              <a:ext uri="{FF2B5EF4-FFF2-40B4-BE49-F238E27FC236}">
                <a16:creationId xmlns:a16="http://schemas.microsoft.com/office/drawing/2014/main" id="{F6AD60E9-EADD-4E1C-916B-02241BE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74-219">
            <a:extLst xmlns:a="http://schemas.openxmlformats.org/drawingml/2006/main">
              <a:ext uri="{FF2B5EF4-FFF2-40B4-BE49-F238E27FC236}">
                <a16:creationId xmlns:a16="http://schemas.microsoft.com/office/drawing/2014/main" id="{EB283C2D-D2C7-46AA-9E56-C72F95C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2025.12进入AAIF，走向中立治理</a:t>
            </a:r>
          </a:p>
        </p:txBody>
      </p:sp>
      <p:sp>
        <p:nvSpPr>
          <p:cNvPr id="21" name="rect-42-286">
            <a:extLst xmlns:a="http://schemas.openxmlformats.org/drawingml/2006/main">
              <a:ext uri="{FF2B5EF4-FFF2-40B4-BE49-F238E27FC236}">
                <a16:creationId xmlns:a16="http://schemas.microsoft.com/office/drawing/2014/main" id="{AE8B9B22-290B-4EF7-9CEA-87387E1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56-301">
            <a:extLst xmlns:a="http://schemas.openxmlformats.org/drawingml/2006/main">
              <a:ext uri="{FF2B5EF4-FFF2-40B4-BE49-F238E27FC236}">
                <a16:creationId xmlns:a16="http://schemas.microsoft.com/office/drawing/2014/main" id="{8E079C27-ACDB-4563-9103-E2422F8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A2A</a:t>
            </a:r>
          </a:p>
        </p:txBody>
      </p:sp>
      <p:sp>
        <p:nvSpPr>
          <p:cNvPr id="23" name="rect-260-286">
            <a:extLst xmlns:a="http://schemas.openxmlformats.org/drawingml/2006/main">
              <a:ext uri="{FF2B5EF4-FFF2-40B4-BE49-F238E27FC236}">
                <a16:creationId xmlns:a16="http://schemas.microsoft.com/office/drawing/2014/main" id="{3D6F228C-22E6-41EE-98E4-1213323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274-301">
            <a:extLst xmlns:a="http://schemas.openxmlformats.org/drawingml/2006/main">
              <a:ext uri="{FF2B5EF4-FFF2-40B4-BE49-F238E27FC236}">
                <a16:creationId xmlns:a16="http://schemas.microsoft.com/office/drawing/2014/main" id="{EC4917B6-31C7-431C-B13C-E9D591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↔ Agent</a:t>
            </a:r>
          </a:p>
        </p:txBody>
      </p:sp>
      <p:sp>
        <p:nvSpPr>
          <p:cNvPr id="25" name="rect-550-286">
            <a:extLst xmlns:a="http://schemas.openxmlformats.org/drawingml/2006/main">
              <a:ext uri="{FF2B5EF4-FFF2-40B4-BE49-F238E27FC236}">
                <a16:creationId xmlns:a16="http://schemas.microsoft.com/office/drawing/2014/main" id="{1B8F0ABF-8C42-47B1-80E8-A1FEB9E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564-301">
            <a:extLst xmlns:a="http://schemas.openxmlformats.org/drawingml/2006/main">
              <a:ext uri="{FF2B5EF4-FFF2-40B4-BE49-F238E27FC236}">
                <a16:creationId xmlns:a16="http://schemas.microsoft.com/office/drawing/2014/main" id="{308C01B7-F2B5-4491-AEE9-661312D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跨框架协作、能力发现与任务交接</a:t>
            </a:r>
          </a:p>
        </p:txBody>
      </p:sp>
      <p:sp>
        <p:nvSpPr>
          <p:cNvPr id="27" name="rect-860-286">
            <a:extLst xmlns:a="http://schemas.openxmlformats.org/drawingml/2006/main">
              <a:ext uri="{FF2B5EF4-FFF2-40B4-BE49-F238E27FC236}">
                <a16:creationId xmlns:a16="http://schemas.microsoft.com/office/drawing/2014/main" id="{D48DE941-C1F5-4D61-A1E1-767A7CF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874-301">
            <a:extLst xmlns:a="http://schemas.openxmlformats.org/drawingml/2006/main">
              <a:ext uri="{FF2B5EF4-FFF2-40B4-BE49-F238E27FC236}">
                <a16:creationId xmlns:a16="http://schemas.microsoft.com/office/drawing/2014/main" id="{0B35478D-8F98-4FC0-94C0-CD3AF20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2025.06进入Linux Foundation</a:t>
            </a:r>
          </a:p>
        </p:txBody>
      </p:sp>
      <p:sp>
        <p:nvSpPr>
          <p:cNvPr id="29" name="rect-42-368">
            <a:extLst xmlns:a="http://schemas.openxmlformats.org/drawingml/2006/main">
              <a:ext uri="{FF2B5EF4-FFF2-40B4-BE49-F238E27FC236}">
                <a16:creationId xmlns:a16="http://schemas.microsoft.com/office/drawing/2014/main" id="{95D424E1-BB2B-4FF6-8703-19E6203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56-383">
            <a:extLst xmlns:a="http://schemas.openxmlformats.org/drawingml/2006/main">
              <a:ext uri="{FF2B5EF4-FFF2-40B4-BE49-F238E27FC236}">
                <a16:creationId xmlns:a16="http://schemas.microsoft.com/office/drawing/2014/main" id="{2EFCDCB1-BFEE-43E2-AE1A-659419A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AGENTS.md</a:t>
            </a:r>
          </a:p>
        </p:txBody>
      </p:sp>
      <p:sp>
        <p:nvSpPr>
          <p:cNvPr id="31" name="rect-260-368">
            <a:extLst xmlns:a="http://schemas.openxmlformats.org/drawingml/2006/main">
              <a:ext uri="{FF2B5EF4-FFF2-40B4-BE49-F238E27FC236}">
                <a16:creationId xmlns:a16="http://schemas.microsoft.com/office/drawing/2014/main" id="{62D6FA47-235A-4BD4-8645-00C3214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-274-383">
            <a:extLst xmlns:a="http://schemas.openxmlformats.org/drawingml/2006/main">
              <a:ext uri="{FF2B5EF4-FFF2-40B4-BE49-F238E27FC236}">
                <a16:creationId xmlns:a16="http://schemas.microsoft.com/office/drawing/2014/main" id="{ED41ABD8-D6EA-457B-B7EB-C8B8194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开发Agent ↔ 代码库</a:t>
            </a:r>
          </a:p>
        </p:txBody>
      </p:sp>
      <p:sp>
        <p:nvSpPr>
          <p:cNvPr id="33" name="rect-550-368">
            <a:extLst xmlns:a="http://schemas.openxmlformats.org/drawingml/2006/main">
              <a:ext uri="{FF2B5EF4-FFF2-40B4-BE49-F238E27FC236}">
                <a16:creationId xmlns:a16="http://schemas.microsoft.com/office/drawing/2014/main" id="{35907954-76C5-441E-8B36-E724766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-564-383">
            <a:extLst xmlns:a="http://schemas.openxmlformats.org/drawingml/2006/main">
              <a:ext uri="{FF2B5EF4-FFF2-40B4-BE49-F238E27FC236}">
                <a16:creationId xmlns:a16="http://schemas.microsoft.com/office/drawing/2014/main" id="{96988396-5B92-4DB9-BD20-8A39F3E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传递项目级上下文、规则与操作边界</a:t>
            </a:r>
          </a:p>
        </p:txBody>
      </p:sp>
      <p:sp>
        <p:nvSpPr>
          <p:cNvPr id="35" name="rect-860-368">
            <a:extLst xmlns:a="http://schemas.openxmlformats.org/drawingml/2006/main">
              <a:ext uri="{FF2B5EF4-FFF2-40B4-BE49-F238E27FC236}">
                <a16:creationId xmlns:a16="http://schemas.microsoft.com/office/drawing/2014/main" id="{C62F248D-5AE1-4E12-BC7C-BBB4165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-874-383">
            <a:extLst xmlns:a="http://schemas.openxmlformats.org/drawingml/2006/main">
              <a:ext uri="{FF2B5EF4-FFF2-40B4-BE49-F238E27FC236}">
                <a16:creationId xmlns:a16="http://schemas.microsoft.com/office/drawing/2014/main" id="{4D0ADB50-F6EB-4D31-8347-FE45E1D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AAIF创始项目之一</a:t>
            </a:r>
          </a:p>
        </p:txBody>
      </p:sp>
      <p:sp>
        <p:nvSpPr>
          <p:cNvPr id="37" name="rect-42-450">
            <a:extLst xmlns:a="http://schemas.openxmlformats.org/drawingml/2006/main">
              <a:ext uri="{FF2B5EF4-FFF2-40B4-BE49-F238E27FC236}">
                <a16:creationId xmlns:a16="http://schemas.microsoft.com/office/drawing/2014/main" id="{C1D564E4-C965-465F-93DE-818CFA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-56-465">
            <a:extLst xmlns:a="http://schemas.openxmlformats.org/drawingml/2006/main">
              <a:ext uri="{FF2B5EF4-FFF2-40B4-BE49-F238E27FC236}">
                <a16:creationId xmlns:a16="http://schemas.microsoft.com/office/drawing/2014/main" id="{42C6723A-9675-43A9-85DC-A84B127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支付/商务协议</a:t>
            </a:r>
          </a:p>
        </p:txBody>
      </p:sp>
      <p:sp>
        <p:nvSpPr>
          <p:cNvPr id="39" name="rect-260-450">
            <a:extLst xmlns:a="http://schemas.openxmlformats.org/drawingml/2006/main">
              <a:ext uri="{FF2B5EF4-FFF2-40B4-BE49-F238E27FC236}">
                <a16:creationId xmlns:a16="http://schemas.microsoft.com/office/drawing/2014/main" id="{9C4647B4-B7ED-45DA-956F-1670898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-274-465">
            <a:extLst xmlns:a="http://schemas.openxmlformats.org/drawingml/2006/main">
              <a:ext uri="{FF2B5EF4-FFF2-40B4-BE49-F238E27FC236}">
                <a16:creationId xmlns:a16="http://schemas.microsoft.com/office/drawing/2014/main" id="{E80D01C0-ED11-44D1-A7BC-FA70CA2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Agent ↔ 商业系统</a:t>
            </a:r>
          </a:p>
        </p:txBody>
      </p:sp>
      <p:sp>
        <p:nvSpPr>
          <p:cNvPr id="41" name="rect-550-450">
            <a:extLst xmlns:a="http://schemas.openxmlformats.org/drawingml/2006/main">
              <a:ext uri="{FF2B5EF4-FFF2-40B4-BE49-F238E27FC236}">
                <a16:creationId xmlns:a16="http://schemas.microsoft.com/office/drawing/2014/main" id="{DDEE3BD4-081E-41E5-A498-151852C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-564-465">
            <a:extLst xmlns:a="http://schemas.openxmlformats.org/drawingml/2006/main">
              <a:ext uri="{FF2B5EF4-FFF2-40B4-BE49-F238E27FC236}">
                <a16:creationId xmlns:a16="http://schemas.microsoft.com/office/drawing/2014/main" id="{9AD256EA-A9D3-409C-93F1-EE71836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表达授权、意图、凭证与交易证明</a:t>
            </a:r>
          </a:p>
        </p:txBody>
      </p:sp>
      <p:sp>
        <p:nvSpPr>
          <p:cNvPr id="43" name="rect-860-450">
            <a:extLst xmlns:a="http://schemas.openxmlformats.org/drawingml/2006/main">
              <a:ext uri="{FF2B5EF4-FFF2-40B4-BE49-F238E27FC236}">
                <a16:creationId xmlns:a16="http://schemas.microsoft.com/office/drawing/2014/main" id="{AE86707F-4F2C-4EB4-85AA-97EC2E1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-874-465">
            <a:extLst xmlns:a="http://schemas.openxmlformats.org/drawingml/2006/main">
              <a:ext uri="{FF2B5EF4-FFF2-40B4-BE49-F238E27FC236}">
                <a16:creationId xmlns:a16="http://schemas.microsoft.com/office/drawing/2014/main" id="{7C3FEE19-F503-48B6-8B7E-D258BDE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将Agent扩展到可验证商业活动</a:t>
            </a:r>
          </a:p>
        </p:txBody>
      </p:sp>
      <p:sp>
        <p:nvSpPr>
          <p:cNvPr id="45" name="rect-42-532">
            <a:extLst xmlns:a="http://schemas.openxmlformats.org/drawingml/2006/main">
              <a:ext uri="{FF2B5EF4-FFF2-40B4-BE49-F238E27FC236}">
                <a16:creationId xmlns:a16="http://schemas.microsoft.com/office/drawing/2014/main" id="{1A72F068-F896-4FC9-85E5-F5EB18C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-56-547">
            <a:extLst xmlns:a="http://schemas.openxmlformats.org/drawingml/2006/main">
              <a:ext uri="{FF2B5EF4-FFF2-40B4-BE49-F238E27FC236}">
                <a16:creationId xmlns:a16="http://schemas.microsoft.com/office/drawing/2014/main" id="{1B097213-ECB4-407B-A969-914A64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企业控制面</a:t>
            </a:r>
          </a:p>
        </p:txBody>
      </p:sp>
      <p:sp>
        <p:nvSpPr>
          <p:cNvPr id="47" name="rect-260-532">
            <a:extLst xmlns:a="http://schemas.openxmlformats.org/drawingml/2006/main">
              <a:ext uri="{FF2B5EF4-FFF2-40B4-BE49-F238E27FC236}">
                <a16:creationId xmlns:a16="http://schemas.microsoft.com/office/drawing/2014/main" id="{0C130341-2D4D-4D0F-B295-96A30AE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-274-547">
            <a:extLst xmlns:a="http://schemas.openxmlformats.org/drawingml/2006/main">
              <a:ext uri="{FF2B5EF4-FFF2-40B4-BE49-F238E27FC236}">
                <a16:creationId xmlns:a16="http://schemas.microsoft.com/office/drawing/2014/main" id="{8DF430DD-906C-42D5-B0C7-38C4866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01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身份 ↔ 全链路</a:t>
            </a:r>
          </a:p>
        </p:txBody>
      </p:sp>
      <p:sp>
        <p:nvSpPr>
          <p:cNvPr id="49" name="rect-550-532">
            <a:extLst xmlns:a="http://schemas.openxmlformats.org/drawingml/2006/main">
              <a:ext uri="{FF2B5EF4-FFF2-40B4-BE49-F238E27FC236}">
                <a16:creationId xmlns:a16="http://schemas.microsoft.com/office/drawing/2014/main" id="{DB06326B-19A5-4D24-AB47-EC26499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-564-547">
            <a:extLst xmlns:a="http://schemas.openxmlformats.org/drawingml/2006/main">
              <a:ext uri="{FF2B5EF4-FFF2-40B4-BE49-F238E27FC236}">
                <a16:creationId xmlns:a16="http://schemas.microsoft.com/office/drawing/2014/main" id="{C0C4A734-AB6F-496A-80D3-56AEB59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权限、策略、观测、审计与回滚</a:t>
            </a:r>
          </a:p>
        </p:txBody>
      </p:sp>
      <p:sp>
        <p:nvSpPr>
          <p:cNvPr id="51" name="rect-860-532">
            <a:extLst xmlns:a="http://schemas.openxmlformats.org/drawingml/2006/main">
              <a:ext uri="{FF2B5EF4-FFF2-40B4-BE49-F238E27FC236}">
                <a16:creationId xmlns:a16="http://schemas.microsoft.com/office/drawing/2014/main" id="{90109D42-E289-433A-A035-5BC126B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-874-547">
            <a:extLst xmlns:a="http://schemas.openxmlformats.org/drawingml/2006/main">
              <a:ext uri="{FF2B5EF4-FFF2-40B4-BE49-F238E27FC236}">
                <a16:creationId xmlns:a16="http://schemas.microsoft.com/office/drawing/2014/main" id="{2384650C-E10F-4692-92B3-23DF94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0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开放协议不能替代企业安全边界</a:t>
            </a:r>
          </a:p>
        </p:txBody>
      </p:sp>
    </p:spTree>
    <p:extLst>
      <p:ext uri="{BB962C8B-B14F-4D97-AF65-F5344CB8AC3E}">
        <p14:creationId xmlns:p14="http://schemas.microsoft.com/office/powerpoint/2010/main" val="6206446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24C8A695-DE37-44DA-A3A1-E858E60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行业应用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8A9D4816-B154-4A39-ABFA-9175DF3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行业落地呈现六种共性模式：知识、代码、服务、运营、科学与决策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F95A3-945C-4675-A519-8CF2CBE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2592A5C-5C9C-4954-8319-90331AA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5" name="rect-42-156">
            <a:extLst xmlns:a="http://schemas.openxmlformats.org/drawingml/2006/main">
              <a:ext uri="{FF2B5EF4-FFF2-40B4-BE49-F238E27FC236}">
                <a16:creationId xmlns:a16="http://schemas.microsoft.com/office/drawing/2014/main" id="{5E59FCF0-EAB0-4F19-8CA4-42E5C67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text-62-169">
            <a:extLst xmlns:a="http://schemas.openxmlformats.org/drawingml/2006/main">
              <a:ext uri="{FF2B5EF4-FFF2-40B4-BE49-F238E27FC236}">
                <a16:creationId xmlns:a16="http://schemas.microsoft.com/office/drawing/2014/main" id="{75464400-0E5B-4FC2-B8AB-3A3533F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知识工作</a:t>
            </a:r>
          </a:p>
        </p:txBody>
      </p:sp>
      <p:sp>
        <p:nvSpPr>
          <p:cNvPr id="7" name="text-260-170">
            <a:extLst xmlns:a="http://schemas.openxmlformats.org/drawingml/2006/main">
              <a:ext uri="{FF2B5EF4-FFF2-40B4-BE49-F238E27FC236}">
                <a16:creationId xmlns:a16="http://schemas.microsoft.com/office/drawing/2014/main" id="{FE538B35-7DAA-4C61-B920-800ACD0C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搜索 · 摘要 · 写作 · 分析｜现实使用中约57%偏增能、43%偏自动化</a:t>
            </a:r>
          </a:p>
        </p:txBody>
      </p:sp>
      <p:sp>
        <p:nvSpPr>
          <p:cNvPr id="8" name="rect-42-226">
            <a:extLst xmlns:a="http://schemas.openxmlformats.org/drawingml/2006/main">
              <a:ext uri="{FF2B5EF4-FFF2-40B4-BE49-F238E27FC236}">
                <a16:creationId xmlns:a16="http://schemas.microsoft.com/office/drawing/2014/main" id="{1A941986-9390-40E0-9071-358D885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62-239">
            <a:extLst xmlns:a="http://schemas.openxmlformats.org/drawingml/2006/main">
              <a:ext uri="{FF2B5EF4-FFF2-40B4-BE49-F238E27FC236}">
                <a16:creationId xmlns:a16="http://schemas.microsoft.com/office/drawing/2014/main" id="{E2079441-0C5F-49EB-AECB-E328057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软件研发</a:t>
            </a:r>
          </a:p>
        </p:txBody>
      </p:sp>
      <p:sp>
        <p:nvSpPr>
          <p:cNvPr id="10" name="text-260-240">
            <a:extLst xmlns:a="http://schemas.openxmlformats.org/drawingml/2006/main">
              <a:ext uri="{FF2B5EF4-FFF2-40B4-BE49-F238E27FC236}">
                <a16:creationId xmlns:a16="http://schemas.microsoft.com/office/drawing/2014/main" id="{83C08523-F88C-4C27-B001-38DEE9D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代码生成 · 测试 · 迁移 · 运维｜研究汇总显示生产率提升约26%</a:t>
            </a:r>
          </a:p>
        </p:txBody>
      </p:sp>
      <p:sp>
        <p:nvSpPr>
          <p:cNvPr id="11" name="rect-42-296">
            <a:extLst xmlns:a="http://schemas.openxmlformats.org/drawingml/2006/main">
              <a:ext uri="{FF2B5EF4-FFF2-40B4-BE49-F238E27FC236}">
                <a16:creationId xmlns:a16="http://schemas.microsoft.com/office/drawing/2014/main" id="{CA1B035A-659C-455A-AB35-65D6011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2" name="text-62-309">
            <a:extLst xmlns:a="http://schemas.openxmlformats.org/drawingml/2006/main">
              <a:ext uri="{FF2B5EF4-FFF2-40B4-BE49-F238E27FC236}">
                <a16:creationId xmlns:a16="http://schemas.microsoft.com/office/drawing/2014/main" id="{256DC694-E611-40F1-92AC-AEB4F20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客户运营</a:t>
            </a:r>
          </a:p>
        </p:txBody>
      </p:sp>
      <p:sp>
        <p:nvSpPr>
          <p:cNvPr id="13" name="text-260-310">
            <a:extLst xmlns:a="http://schemas.openxmlformats.org/drawingml/2006/main">
              <a:ext uri="{FF2B5EF4-FFF2-40B4-BE49-F238E27FC236}">
                <a16:creationId xmlns:a16="http://schemas.microsoft.com/office/drawing/2014/main" id="{0F914815-013C-4933-A706-E7529E2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客服 · 销售 · 营销｜结构化、可测量、反馈快的任务最先兑现</a:t>
            </a:r>
          </a:p>
        </p:txBody>
      </p:sp>
      <p:sp>
        <p:nvSpPr>
          <p:cNvPr id="14" name="rect-42-366">
            <a:extLst xmlns:a="http://schemas.openxmlformats.org/drawingml/2006/main">
              <a:ext uri="{FF2B5EF4-FFF2-40B4-BE49-F238E27FC236}">
                <a16:creationId xmlns:a16="http://schemas.microsoft.com/office/drawing/2014/main" id="{AA570E97-88C9-4CEA-92C7-2DDE508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solidFill>
              <a:srgbClr val="E8EEF4"/>
            </a:solidFill>
            <a:prstDash val="solid"/>
          </a:ln>
        </p:spPr>
      </p:sp>
      <p:sp>
        <p:nvSpPr>
          <p:cNvPr id="15" name="text-62-379">
            <a:extLst xmlns:a="http://schemas.openxmlformats.org/drawingml/2006/main">
              <a:ext uri="{FF2B5EF4-FFF2-40B4-BE49-F238E27FC236}">
                <a16:creationId xmlns:a16="http://schemas.microsoft.com/office/drawing/2014/main" id="{F7BEB9D4-250B-41FD-B7AB-072F97E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9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产业运营</a:t>
            </a:r>
          </a:p>
        </p:txBody>
      </p:sp>
      <p:sp>
        <p:nvSpPr>
          <p:cNvPr id="16" name="text-260-380">
            <a:extLst xmlns:a="http://schemas.openxmlformats.org/drawingml/2006/main">
              <a:ext uri="{FF2B5EF4-FFF2-40B4-BE49-F238E27FC236}">
                <a16:creationId xmlns:a16="http://schemas.microsoft.com/office/drawing/2014/main" id="{D67994B1-D51F-4A5F-90F0-32FE7CED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质检 · 排产 · 供应链 · 设备维护｜需连接OT/IoT、规则与审批</a:t>
            </a:r>
          </a:p>
        </p:txBody>
      </p:sp>
      <p:sp>
        <p:nvSpPr>
          <p:cNvPr id="17" name="rect-42-436">
            <a:extLst xmlns:a="http://schemas.openxmlformats.org/drawingml/2006/main">
              <a:ext uri="{FF2B5EF4-FFF2-40B4-BE49-F238E27FC236}">
                <a16:creationId xmlns:a16="http://schemas.microsoft.com/office/drawing/2014/main" id="{AC69BCEA-183F-487C-9031-5FA73E1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8" name="text-62-449">
            <a:extLst xmlns:a="http://schemas.openxmlformats.org/drawingml/2006/main">
              <a:ext uri="{FF2B5EF4-FFF2-40B4-BE49-F238E27FC236}">
                <a16:creationId xmlns:a16="http://schemas.microsoft.com/office/drawing/2014/main" id="{00A3D51D-B39F-42B6-8DCF-C7F0335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科学与医疗</a:t>
            </a:r>
          </a:p>
        </p:txBody>
      </p:sp>
      <p:sp>
        <p:nvSpPr>
          <p:cNvPr id="19" name="text-260-450">
            <a:extLst xmlns:a="http://schemas.openxmlformats.org/drawingml/2006/main">
              <a:ext uri="{FF2B5EF4-FFF2-40B4-BE49-F238E27FC236}">
                <a16:creationId xmlns:a16="http://schemas.microsoft.com/office/drawing/2014/main" id="{9FD0CCAC-7300-4C3B-91C4-8A2A53A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文献 · 实验 · 诊疗辅助｜潜在价值高，但验证和责任要求更重</a:t>
            </a:r>
          </a:p>
        </p:txBody>
      </p:sp>
      <p:sp>
        <p:nvSpPr>
          <p:cNvPr id="20" name="rect-42-506">
            <a:extLst xmlns:a="http://schemas.openxmlformats.org/drawingml/2006/main">
              <a:ext uri="{FF2B5EF4-FFF2-40B4-BE49-F238E27FC236}">
                <a16:creationId xmlns:a16="http://schemas.microsoft.com/office/drawing/2014/main" id="{89EDFEED-6848-48B1-BD59-42BCCA8F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1" name="text-62-519">
            <a:extLst xmlns:a="http://schemas.openxmlformats.org/drawingml/2006/main">
              <a:ext uri="{FF2B5EF4-FFF2-40B4-BE49-F238E27FC236}">
                <a16:creationId xmlns:a16="http://schemas.microsoft.com/office/drawing/2014/main" id="{EFB8C285-B690-4C93-8DA3-957FA146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管理决策</a:t>
            </a:r>
          </a:p>
        </p:txBody>
      </p:sp>
      <p:sp>
        <p:nvSpPr>
          <p:cNvPr id="22" name="text-260-520">
            <a:extLst xmlns:a="http://schemas.openxmlformats.org/drawingml/2006/main">
              <a:ext uri="{FF2B5EF4-FFF2-40B4-BE49-F238E27FC236}">
                <a16:creationId xmlns:a16="http://schemas.microsoft.com/office/drawing/2014/main" id="{64F11231-3113-4F0C-9E5A-E47A04E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经营分析 · 资源配置 · 风险预警｜必须保留可解释的证据链</a:t>
            </a:r>
          </a:p>
        </p:txBody>
      </p:sp>
      <p:sp>
        <p:nvSpPr>
          <p:cNvPr id="23" name="rect-42-596">
            <a:extLst xmlns:a="http://schemas.openxmlformats.org/drawingml/2006/main">
              <a:ext uri="{FF2B5EF4-FFF2-40B4-BE49-F238E27FC236}">
                <a16:creationId xmlns:a16="http://schemas.microsoft.com/office/drawing/2014/main" id="{57EDA7A1-A4FE-4A85-B113-D07B75F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24" name="text-56-602">
            <a:extLst xmlns:a="http://schemas.openxmlformats.org/drawingml/2006/main">
              <a:ext uri="{FF2B5EF4-FFF2-40B4-BE49-F238E27FC236}">
                <a16:creationId xmlns:a16="http://schemas.microsoft.com/office/drawing/2014/main" id="{2A2934F1-4C77-415A-9478-9653AA8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规模化共性：明确任务边界｜建立可验证输出｜接入真实系统｜异常升级｜持续评测</a:t>
            </a:r>
          </a:p>
        </p:txBody>
      </p:sp>
    </p:spTree>
    <p:extLst>
      <p:ext uri="{BB962C8B-B14F-4D97-AF65-F5344CB8AC3E}">
        <p14:creationId xmlns:p14="http://schemas.microsoft.com/office/powerpoint/2010/main" val="19182538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7357E1-9B7C-4A29-998F-06130C4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政策与治理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F7A5B830-EB41-49DD-9C00-1577793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政策环境从原则走向目标、时间表与可操作要求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8521-0CAB-41DB-BF6C-D14282C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EDA3AFA-73CB-4EEB-965B-A966470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rect-42-158">
            <a:extLst xmlns:a="http://schemas.openxmlformats.org/drawingml/2006/main">
              <a:ext uri="{FF2B5EF4-FFF2-40B4-BE49-F238E27FC236}">
                <a16:creationId xmlns:a16="http://schemas.microsoft.com/office/drawing/2014/main" id="{2A5CD1A9-A462-41AC-A264-3BE250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6" name="text-56-169">
            <a:extLst xmlns:a="http://schemas.openxmlformats.org/drawingml/2006/main">
              <a:ext uri="{FF2B5EF4-FFF2-40B4-BE49-F238E27FC236}">
                <a16:creationId xmlns:a16="http://schemas.microsoft.com/office/drawing/2014/main" id="{641CE246-E93D-480D-B2A9-9FC6579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地区 / 框架</a:t>
            </a:r>
          </a:p>
        </p:txBody>
      </p:sp>
      <p:sp>
        <p:nvSpPr>
          <p:cNvPr id="7" name="rect-260-158">
            <a:extLst xmlns:a="http://schemas.openxmlformats.org/drawingml/2006/main">
              <a:ext uri="{FF2B5EF4-FFF2-40B4-BE49-F238E27FC236}">
                <a16:creationId xmlns:a16="http://schemas.microsoft.com/office/drawing/2014/main" id="{EB21B0EE-B117-4C76-AD8E-C4A5335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8" name="text-274-169">
            <a:extLst xmlns:a="http://schemas.openxmlformats.org/drawingml/2006/main">
              <a:ext uri="{FF2B5EF4-FFF2-40B4-BE49-F238E27FC236}">
                <a16:creationId xmlns:a16="http://schemas.microsoft.com/office/drawing/2014/main" id="{3C4BC141-B13E-464E-8217-ECF2943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0972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关键节点</a:t>
            </a:r>
          </a:p>
        </p:txBody>
      </p:sp>
      <p:sp>
        <p:nvSpPr>
          <p:cNvPr id="9" name="rect-550-158">
            <a:extLst xmlns:a="http://schemas.openxmlformats.org/drawingml/2006/main">
              <a:ext uri="{FF2B5EF4-FFF2-40B4-BE49-F238E27FC236}">
                <a16:creationId xmlns:a16="http://schemas.microsoft.com/office/drawing/2014/main" id="{20BF511E-B129-4277-9E69-BF47AC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0" name="text-564-169">
            <a:extLst xmlns:a="http://schemas.openxmlformats.org/drawingml/2006/main">
              <a:ext uri="{FF2B5EF4-FFF2-40B4-BE49-F238E27FC236}">
                <a16:creationId xmlns:a16="http://schemas.microsoft.com/office/drawing/2014/main" id="{59748DA9-E042-482B-9A13-E2553E9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97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核心要求</a:t>
            </a:r>
          </a:p>
        </p:txBody>
      </p:sp>
      <p:sp>
        <p:nvSpPr>
          <p:cNvPr id="11" name="rect-860-158">
            <a:extLst xmlns:a="http://schemas.openxmlformats.org/drawingml/2006/main">
              <a:ext uri="{FF2B5EF4-FFF2-40B4-BE49-F238E27FC236}">
                <a16:creationId xmlns:a16="http://schemas.microsoft.com/office/drawing/2014/main" id="{57718846-7D29-4661-A178-1BBDCEB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15171A"/>
            </a:solidFill>
            <a:prstDash val="solid"/>
          </a:ln>
        </p:spPr>
      </p:sp>
      <p:sp>
        <p:nvSpPr>
          <p:cNvPr id="12" name="text-874-169">
            <a:extLst xmlns:a="http://schemas.openxmlformats.org/drawingml/2006/main">
              <a:ext uri="{FF2B5EF4-FFF2-40B4-BE49-F238E27FC236}">
                <a16:creationId xmlns:a16="http://schemas.microsoft.com/office/drawing/2014/main" id="{32007CBD-B1D2-4930-823A-0CBC8D8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企业影响</a:t>
            </a:r>
          </a:p>
        </p:txBody>
      </p:sp>
      <p:sp>
        <p:nvSpPr>
          <p:cNvPr id="13" name="rect-42-204">
            <a:extLst xmlns:a="http://schemas.openxmlformats.org/drawingml/2006/main">
              <a:ext uri="{FF2B5EF4-FFF2-40B4-BE49-F238E27FC236}">
                <a16:creationId xmlns:a16="http://schemas.microsoft.com/office/drawing/2014/main" id="{399070BA-2C74-49E8-A2FC-188EFC9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56-219">
            <a:extLst xmlns:a="http://schemas.openxmlformats.org/drawingml/2006/main">
              <a:ext uri="{FF2B5EF4-FFF2-40B4-BE49-F238E27FC236}">
                <a16:creationId xmlns:a16="http://schemas.microsoft.com/office/drawing/2014/main" id="{E2AA266D-1611-4A24-9A5D-AE77A19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中国“AI+”</a:t>
            </a:r>
          </a:p>
        </p:txBody>
      </p:sp>
      <p:sp>
        <p:nvSpPr>
          <p:cNvPr id="15" name="rect-260-204">
            <a:extLst xmlns:a="http://schemas.openxmlformats.org/drawingml/2006/main">
              <a:ext uri="{FF2B5EF4-FFF2-40B4-BE49-F238E27FC236}">
                <a16:creationId xmlns:a16="http://schemas.microsoft.com/office/drawing/2014/main" id="{8B2BC283-6E2A-4763-A444-5D01F92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274-219">
            <a:extLst xmlns:a="http://schemas.openxmlformats.org/drawingml/2006/main">
              <a:ext uri="{FF2B5EF4-FFF2-40B4-BE49-F238E27FC236}">
                <a16:creationId xmlns:a16="http://schemas.microsoft.com/office/drawing/2014/main" id="{A176321B-FE16-4CBE-9783-9223574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859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2027 / 2030</a:t>
            </a:r>
          </a:p>
        </p:txBody>
      </p:sp>
      <p:sp>
        <p:nvSpPr>
          <p:cNvPr id="17" name="rect-550-204">
            <a:extLst xmlns:a="http://schemas.openxmlformats.org/drawingml/2006/main">
              <a:ext uri="{FF2B5EF4-FFF2-40B4-BE49-F238E27FC236}">
                <a16:creationId xmlns:a16="http://schemas.microsoft.com/office/drawing/2014/main" id="{F779746D-1E29-4D5F-A4F2-4914B75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564-219">
            <a:extLst xmlns:a="http://schemas.openxmlformats.org/drawingml/2006/main">
              <a:ext uri="{FF2B5EF4-FFF2-40B4-BE49-F238E27FC236}">
                <a16:creationId xmlns:a16="http://schemas.microsoft.com/office/drawing/2014/main" id="{8D90D277-D16E-4F42-A565-419DBB9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终端与智能体普及率&gt;70% / &gt;90%</a:t>
            </a:r>
          </a:p>
        </p:txBody>
      </p:sp>
      <p:sp>
        <p:nvSpPr>
          <p:cNvPr id="19" name="rect-860-204">
            <a:extLst xmlns:a="http://schemas.openxmlformats.org/drawingml/2006/main">
              <a:ext uri="{FF2B5EF4-FFF2-40B4-BE49-F238E27FC236}">
                <a16:creationId xmlns:a16="http://schemas.microsoft.com/office/drawing/2014/main" id="{F6AD60E9-EADD-4E1C-916B-02241BE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874-219">
            <a:extLst xmlns:a="http://schemas.openxmlformats.org/drawingml/2006/main">
              <a:ext uri="{FF2B5EF4-FFF2-40B4-BE49-F238E27FC236}">
                <a16:creationId xmlns:a16="http://schemas.microsoft.com/office/drawing/2014/main" id="{EB283C2D-D2C7-46AA-9E56-C72F95C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六大重点领域推进深度融合</a:t>
            </a:r>
          </a:p>
        </p:txBody>
      </p:sp>
      <p:sp>
        <p:nvSpPr>
          <p:cNvPr id="21" name="rect-42-286">
            <a:extLst xmlns:a="http://schemas.openxmlformats.org/drawingml/2006/main">
              <a:ext uri="{FF2B5EF4-FFF2-40B4-BE49-F238E27FC236}">
                <a16:creationId xmlns:a16="http://schemas.microsoft.com/office/drawing/2014/main" id="{AE8B9B22-290B-4EF7-9CEA-87387E1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56-301">
            <a:extLst xmlns:a="http://schemas.openxmlformats.org/drawingml/2006/main">
              <a:ext uri="{FF2B5EF4-FFF2-40B4-BE49-F238E27FC236}">
                <a16:creationId xmlns:a16="http://schemas.microsoft.com/office/drawing/2014/main" id="{8E079C27-ACDB-4563-9103-E2422F83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EU：GPAI / 透明</a:t>
            </a:r>
          </a:p>
        </p:txBody>
      </p:sp>
      <p:sp>
        <p:nvSpPr>
          <p:cNvPr id="23" name="rect-260-286">
            <a:extLst xmlns:a="http://schemas.openxmlformats.org/drawingml/2006/main">
              <a:ext uri="{FF2B5EF4-FFF2-40B4-BE49-F238E27FC236}">
                <a16:creationId xmlns:a16="http://schemas.microsoft.com/office/drawing/2014/main" id="{3D6F228C-22E6-41EE-98E4-1213323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274-301">
            <a:extLst xmlns:a="http://schemas.openxmlformats.org/drawingml/2006/main">
              <a:ext uri="{FF2B5EF4-FFF2-40B4-BE49-F238E27FC236}">
                <a16:creationId xmlns:a16="http://schemas.microsoft.com/office/drawing/2014/main" id="{EC4917B6-31C7-431C-B13C-E9D591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2025.08 / 2026.08</a:t>
            </a:r>
          </a:p>
        </p:txBody>
      </p:sp>
      <p:sp>
        <p:nvSpPr>
          <p:cNvPr id="25" name="rect-550-286">
            <a:extLst xmlns:a="http://schemas.openxmlformats.org/drawingml/2006/main">
              <a:ext uri="{FF2B5EF4-FFF2-40B4-BE49-F238E27FC236}">
                <a16:creationId xmlns:a16="http://schemas.microsoft.com/office/drawing/2014/main" id="{1B8F0ABF-8C42-47B1-80E8-A1FEB9E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564-301">
            <a:extLst xmlns:a="http://schemas.openxmlformats.org/drawingml/2006/main">
              <a:ext uri="{FF2B5EF4-FFF2-40B4-BE49-F238E27FC236}">
                <a16:creationId xmlns:a16="http://schemas.microsoft.com/office/drawing/2014/main" id="{308C01B7-F2B5-4491-AEE9-661312D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GPAI治理；AI交互与生成内容透明</a:t>
            </a:r>
          </a:p>
        </p:txBody>
      </p:sp>
      <p:sp>
        <p:nvSpPr>
          <p:cNvPr id="27" name="rect-860-286">
            <a:extLst xmlns:a="http://schemas.openxmlformats.org/drawingml/2006/main">
              <a:ext uri="{FF2B5EF4-FFF2-40B4-BE49-F238E27FC236}">
                <a16:creationId xmlns:a16="http://schemas.microsoft.com/office/drawing/2014/main" id="{D48DE941-C1F5-4D61-A1E1-767A7CF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874-301">
            <a:extLst xmlns:a="http://schemas.openxmlformats.org/drawingml/2006/main">
              <a:ext uri="{FF2B5EF4-FFF2-40B4-BE49-F238E27FC236}">
                <a16:creationId xmlns:a16="http://schemas.microsoft.com/office/drawing/2014/main" id="{0B35478D-8F98-4FC0-94C0-CD3AF20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建立模型清单、标识与披露机制</a:t>
            </a:r>
          </a:p>
        </p:txBody>
      </p:sp>
      <p:sp>
        <p:nvSpPr>
          <p:cNvPr id="29" name="rect-42-368">
            <a:extLst xmlns:a="http://schemas.openxmlformats.org/drawingml/2006/main">
              <a:ext uri="{FF2B5EF4-FFF2-40B4-BE49-F238E27FC236}">
                <a16:creationId xmlns:a16="http://schemas.microsoft.com/office/drawing/2014/main" id="{95D424E1-BB2B-4FF6-8703-19E6203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56-383">
            <a:extLst xmlns:a="http://schemas.openxmlformats.org/drawingml/2006/main">
              <a:ext uri="{FF2B5EF4-FFF2-40B4-BE49-F238E27FC236}">
                <a16:creationId xmlns:a16="http://schemas.microsoft.com/office/drawing/2014/main" id="{2EFCDCB1-BFEE-43E2-AE1A-659419A9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EU：高风险</a:t>
            </a:r>
          </a:p>
        </p:txBody>
      </p:sp>
      <p:sp>
        <p:nvSpPr>
          <p:cNvPr id="31" name="rect-260-368">
            <a:extLst xmlns:a="http://schemas.openxmlformats.org/drawingml/2006/main">
              <a:ext uri="{FF2B5EF4-FFF2-40B4-BE49-F238E27FC236}">
                <a16:creationId xmlns:a16="http://schemas.microsoft.com/office/drawing/2014/main" id="{62D6FA47-235A-4BD4-8645-00C3214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text-274-383">
            <a:extLst xmlns:a="http://schemas.openxmlformats.org/drawingml/2006/main">
              <a:ext uri="{FF2B5EF4-FFF2-40B4-BE49-F238E27FC236}">
                <a16:creationId xmlns:a16="http://schemas.microsoft.com/office/drawing/2014/main" id="{ED41ABD8-D6EA-457B-B7EB-C8B8194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2027.12 / 2028.08</a:t>
            </a:r>
          </a:p>
        </p:txBody>
      </p:sp>
      <p:sp>
        <p:nvSpPr>
          <p:cNvPr id="33" name="rect-550-368">
            <a:extLst xmlns:a="http://schemas.openxmlformats.org/drawingml/2006/main">
              <a:ext uri="{FF2B5EF4-FFF2-40B4-BE49-F238E27FC236}">
                <a16:creationId xmlns:a16="http://schemas.microsoft.com/office/drawing/2014/main" id="{35907954-76C5-441E-8B36-E724766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-564-383">
            <a:extLst xmlns:a="http://schemas.openxmlformats.org/drawingml/2006/main">
              <a:ext uri="{FF2B5EF4-FFF2-40B4-BE49-F238E27FC236}">
                <a16:creationId xmlns:a16="http://schemas.microsoft.com/office/drawing/2014/main" id="{96988396-5B92-4DB9-BD20-8A39F3E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风险评估、数据质量、日志、人类监督</a:t>
            </a:r>
          </a:p>
        </p:txBody>
      </p:sp>
      <p:sp>
        <p:nvSpPr>
          <p:cNvPr id="35" name="rect-860-368">
            <a:extLst xmlns:a="http://schemas.openxmlformats.org/drawingml/2006/main">
              <a:ext uri="{FF2B5EF4-FFF2-40B4-BE49-F238E27FC236}">
                <a16:creationId xmlns:a16="http://schemas.microsoft.com/office/drawing/2014/main" id="{C62F248D-5AE1-4E12-BC7C-BBB4165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-874-383">
            <a:extLst xmlns:a="http://schemas.openxmlformats.org/drawingml/2006/main">
              <a:ext uri="{FF2B5EF4-FFF2-40B4-BE49-F238E27FC236}">
                <a16:creationId xmlns:a16="http://schemas.microsoft.com/office/drawing/2014/main" id="{4D0ADB50-F6EB-4D31-8347-FE45E1D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对敏感场景实施分级准入</a:t>
            </a:r>
          </a:p>
        </p:txBody>
      </p:sp>
      <p:sp>
        <p:nvSpPr>
          <p:cNvPr id="37" name="rect-42-450">
            <a:extLst xmlns:a="http://schemas.openxmlformats.org/drawingml/2006/main">
              <a:ext uri="{FF2B5EF4-FFF2-40B4-BE49-F238E27FC236}">
                <a16:creationId xmlns:a16="http://schemas.microsoft.com/office/drawing/2014/main" id="{C1D564E4-C965-465F-93DE-818CFAD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text-56-465">
            <a:extLst xmlns:a="http://schemas.openxmlformats.org/drawingml/2006/main">
              <a:ext uri="{FF2B5EF4-FFF2-40B4-BE49-F238E27FC236}">
                <a16:creationId xmlns:a16="http://schemas.microsoft.com/office/drawing/2014/main" id="{42C6723A-9675-43A9-85DC-A84B127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NIST AI RMF</a:t>
            </a:r>
          </a:p>
        </p:txBody>
      </p:sp>
      <p:sp>
        <p:nvSpPr>
          <p:cNvPr id="39" name="rect-260-450">
            <a:extLst xmlns:a="http://schemas.openxmlformats.org/drawingml/2006/main">
              <a:ext uri="{FF2B5EF4-FFF2-40B4-BE49-F238E27FC236}">
                <a16:creationId xmlns:a16="http://schemas.microsoft.com/office/drawing/2014/main" id="{9C4647B4-B7ED-45DA-956F-16708985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text-274-465">
            <a:extLst xmlns:a="http://schemas.openxmlformats.org/drawingml/2006/main">
              <a:ext uri="{FF2B5EF4-FFF2-40B4-BE49-F238E27FC236}">
                <a16:creationId xmlns:a16="http://schemas.microsoft.com/office/drawing/2014/main" id="{E80D01C0-ED11-44D1-A7BC-FA70CA2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持续更新</a:t>
            </a:r>
          </a:p>
        </p:txBody>
      </p:sp>
      <p:sp>
        <p:nvSpPr>
          <p:cNvPr id="41" name="rect-550-450">
            <a:extLst xmlns:a="http://schemas.openxmlformats.org/drawingml/2006/main">
              <a:ext uri="{FF2B5EF4-FFF2-40B4-BE49-F238E27FC236}">
                <a16:creationId xmlns:a16="http://schemas.microsoft.com/office/drawing/2014/main" id="{DDEE3BD4-081E-41E5-A498-151852C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-564-465">
            <a:extLst xmlns:a="http://schemas.openxmlformats.org/drawingml/2006/main">
              <a:ext uri="{FF2B5EF4-FFF2-40B4-BE49-F238E27FC236}">
                <a16:creationId xmlns:a16="http://schemas.microsoft.com/office/drawing/2014/main" id="{9AD256EA-A9D3-409C-93F1-EE71836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Govern · Map · Measure · Manage</a:t>
            </a:r>
          </a:p>
        </p:txBody>
      </p:sp>
      <p:sp>
        <p:nvSpPr>
          <p:cNvPr id="43" name="rect-860-450">
            <a:extLst xmlns:a="http://schemas.openxmlformats.org/drawingml/2006/main">
              <a:ext uri="{FF2B5EF4-FFF2-40B4-BE49-F238E27FC236}">
                <a16:creationId xmlns:a16="http://schemas.microsoft.com/office/drawing/2014/main" id="{AE86707F-4F2C-4EB4-85AA-97EC2E1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text-874-465">
            <a:extLst xmlns:a="http://schemas.openxmlformats.org/drawingml/2006/main">
              <a:ext uri="{FF2B5EF4-FFF2-40B4-BE49-F238E27FC236}">
                <a16:creationId xmlns:a16="http://schemas.microsoft.com/office/drawing/2014/main" id="{7C3FEE19-F503-48B6-8B7E-D258BDE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用生命周期方法建立控制体系</a:t>
            </a:r>
          </a:p>
        </p:txBody>
      </p:sp>
      <p:sp>
        <p:nvSpPr>
          <p:cNvPr id="45" name="rect-42-532">
            <a:extLst xmlns:a="http://schemas.openxmlformats.org/drawingml/2006/main">
              <a:ext uri="{FF2B5EF4-FFF2-40B4-BE49-F238E27FC236}">
                <a16:creationId xmlns:a16="http://schemas.microsoft.com/office/drawing/2014/main" id="{1A72F068-F896-4FC9-85E5-F5EB18C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-56-547">
            <a:extLst xmlns:a="http://schemas.openxmlformats.org/drawingml/2006/main">
              <a:ext uri="{FF2B5EF4-FFF2-40B4-BE49-F238E27FC236}">
                <a16:creationId xmlns:a16="http://schemas.microsoft.com/office/drawing/2014/main" id="{1B097213-ECB4-407B-A969-914A64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企业治理基线</a:t>
            </a:r>
          </a:p>
        </p:txBody>
      </p:sp>
      <p:sp>
        <p:nvSpPr>
          <p:cNvPr id="47" name="rect-260-532">
            <a:extLst xmlns:a="http://schemas.openxmlformats.org/drawingml/2006/main">
              <a:ext uri="{FF2B5EF4-FFF2-40B4-BE49-F238E27FC236}">
                <a16:creationId xmlns:a16="http://schemas.microsoft.com/office/drawing/2014/main" id="{0C130341-2D4D-4D0F-B295-96A30AE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text-274-547">
            <a:extLst xmlns:a="http://schemas.openxmlformats.org/drawingml/2006/main">
              <a:ext uri="{FF2B5EF4-FFF2-40B4-BE49-F238E27FC236}">
                <a16:creationId xmlns:a16="http://schemas.microsoft.com/office/drawing/2014/main" id="{8DF430DD-906C-42D5-B0C7-38C4866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01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49" name="rect-550-532">
            <a:extLst xmlns:a="http://schemas.openxmlformats.org/drawingml/2006/main">
              <a:ext uri="{FF2B5EF4-FFF2-40B4-BE49-F238E27FC236}">
                <a16:creationId xmlns:a16="http://schemas.microsoft.com/office/drawing/2014/main" id="{DB06326B-19A5-4D24-AB47-EC26499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text-564-547">
            <a:extLst xmlns:a="http://schemas.openxmlformats.org/drawingml/2006/main">
              <a:ext uri="{FF2B5EF4-FFF2-40B4-BE49-F238E27FC236}">
                <a16:creationId xmlns:a16="http://schemas.microsoft.com/office/drawing/2014/main" id="{C0C4A734-AB6F-496A-80D3-56AEB59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身份、数据、评测、审计、事件响应</a:t>
            </a:r>
          </a:p>
        </p:txBody>
      </p:sp>
      <p:sp>
        <p:nvSpPr>
          <p:cNvPr id="51" name="rect-860-532">
            <a:extLst xmlns:a="http://schemas.openxmlformats.org/drawingml/2006/main">
              <a:ext uri="{FF2B5EF4-FFF2-40B4-BE49-F238E27FC236}">
                <a16:creationId xmlns:a16="http://schemas.microsoft.com/office/drawing/2014/main" id="{90109D42-E289-433A-A035-5BC126B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text-874-547">
            <a:extLst xmlns:a="http://schemas.openxmlformats.org/drawingml/2006/main">
              <a:ext uri="{FF2B5EF4-FFF2-40B4-BE49-F238E27FC236}">
                <a16:creationId xmlns:a16="http://schemas.microsoft.com/office/drawing/2014/main" id="{2384650C-E10F-4692-92B3-23DF943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0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将合规变成产品与平台能力</a:t>
            </a:r>
          </a:p>
        </p:txBody>
      </p:sp>
    </p:spTree>
    <p:extLst>
      <p:ext uri="{BB962C8B-B14F-4D97-AF65-F5344CB8AC3E}">
        <p14:creationId xmlns:p14="http://schemas.microsoft.com/office/powerpoint/2010/main" val="6206446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4">
            <a:extLst xmlns:a="http://schemas.openxmlformats.org/drawingml/2006/main">
              <a:ext uri="{FF2B5EF4-FFF2-40B4-BE49-F238E27FC236}">
                <a16:creationId xmlns:a16="http://schemas.microsoft.com/office/drawing/2014/main" id="{89E6E835-F4D2-4CB3-B696-E27C06BE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价值衡量</a:t>
            </a:r>
          </a:p>
        </p:txBody>
      </p:sp>
      <p:sp>
        <p:nvSpPr>
          <p:cNvPr id="2" name="text-42-55">
            <a:extLst xmlns:a="http://schemas.openxmlformats.org/drawingml/2006/main">
              <a:ext uri="{FF2B5EF4-FFF2-40B4-BE49-F238E27FC236}">
                <a16:creationId xmlns:a16="http://schemas.microsoft.com/office/drawing/2014/main" id="{7B433EB0-B155-41CA-91AE-66E6D95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行业智能化必须用五类指标共同验收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EA11-618F-4447-851E-C21621D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10569824-E840-4293-B395-16DED6C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5" name="text-42-156">
            <a:extLst xmlns:a="http://schemas.openxmlformats.org/drawingml/2006/main">
              <a:ext uri="{FF2B5EF4-FFF2-40B4-BE49-F238E27FC236}">
                <a16:creationId xmlns:a16="http://schemas.microsoft.com/office/drawing/2014/main" id="{B521E06E-6635-4384-998F-48A84E9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120-156">
            <a:extLst xmlns:a="http://schemas.openxmlformats.org/drawingml/2006/main">
              <a:ext uri="{FF2B5EF4-FFF2-40B4-BE49-F238E27FC236}">
                <a16:creationId xmlns:a16="http://schemas.microsoft.com/office/drawing/2014/main" id="{92FF0F57-DAF4-4FFD-9078-350EBE4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业务价值</a:t>
            </a:r>
          </a:p>
        </p:txBody>
      </p:sp>
      <p:sp>
        <p:nvSpPr>
          <p:cNvPr id="7" name="text-360-156">
            <a:extLst xmlns:a="http://schemas.openxmlformats.org/drawingml/2006/main">
              <a:ext uri="{FF2B5EF4-FFF2-40B4-BE49-F238E27FC236}">
                <a16:creationId xmlns:a16="http://schemas.microsoft.com/office/drawing/2014/main" id="{0E50E634-1230-4772-B54C-4FB058B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85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收入增量、单位成本、处理周期、产能或风险损失改善；设置基线与对照组。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FD55-8CEC-4E31-A06C-7824367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42-250">
            <a:extLst xmlns:a="http://schemas.openxmlformats.org/drawingml/2006/main">
              <a:ext uri="{FF2B5EF4-FFF2-40B4-BE49-F238E27FC236}">
                <a16:creationId xmlns:a16="http://schemas.microsoft.com/office/drawing/2014/main" id="{FD1EF7F4-C704-4E59-9E85-3C994F9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120-250">
            <a:extLst xmlns:a="http://schemas.openxmlformats.org/drawingml/2006/main">
              <a:ext uri="{FF2B5EF4-FFF2-40B4-BE49-F238E27FC236}">
                <a16:creationId xmlns:a16="http://schemas.microsoft.com/office/drawing/2014/main" id="{9CEB5133-43DB-4BC4-B2C9-A83CDBC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任务质量</a:t>
            </a:r>
          </a:p>
        </p:txBody>
      </p:sp>
      <p:sp>
        <p:nvSpPr>
          <p:cNvPr id="11" name="text-360-250">
            <a:extLst xmlns:a="http://schemas.openxmlformats.org/drawingml/2006/main">
              <a:ext uri="{FF2B5EF4-FFF2-40B4-BE49-F238E27FC236}">
                <a16:creationId xmlns:a16="http://schemas.microsoft.com/office/drawing/2014/main" id="{0ADFCFF1-93B8-4CD7-A473-D3DB658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正确率、完成率、人工返工率、异常升级率；用真实任务持续回归。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41337-DFFB-46F3-AF9E-5EC212C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42-344">
            <a:extLst xmlns:a="http://schemas.openxmlformats.org/drawingml/2006/main">
              <a:ext uri="{FF2B5EF4-FFF2-40B4-BE49-F238E27FC236}">
                <a16:creationId xmlns:a16="http://schemas.microsoft.com/office/drawing/2014/main" id="{D085A78F-9099-4C22-A4EF-CB59FC0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120-344">
            <a:extLst xmlns:a="http://schemas.openxmlformats.org/drawingml/2006/main">
              <a:ext uri="{FF2B5EF4-FFF2-40B4-BE49-F238E27FC236}">
                <a16:creationId xmlns:a16="http://schemas.microsoft.com/office/drawing/2014/main" id="{0819F1B4-10AA-4765-BD2F-445A926C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风险控制</a:t>
            </a:r>
          </a:p>
        </p:txBody>
      </p:sp>
      <p:sp>
        <p:nvSpPr>
          <p:cNvPr id="15" name="text-360-344">
            <a:extLst xmlns:a="http://schemas.openxmlformats.org/drawingml/2006/main">
              <a:ext uri="{FF2B5EF4-FFF2-40B4-BE49-F238E27FC236}">
                <a16:creationId xmlns:a16="http://schemas.microsoft.com/office/drawing/2014/main" id="{773969A4-54BD-4062-934F-CDB1B2ED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越权、敏感数据暴露、幻觉/误导、审计完整性，以及事件数量与严重度。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8DE5-EF35-4A78-BBC5-30804CF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42-438">
            <a:extLst xmlns:a="http://schemas.openxmlformats.org/drawingml/2006/main">
              <a:ext uri="{FF2B5EF4-FFF2-40B4-BE49-F238E27FC236}">
                <a16:creationId xmlns:a16="http://schemas.microsoft.com/office/drawing/2014/main" id="{AC431764-A475-4494-A053-EC431B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120-438">
            <a:extLst xmlns:a="http://schemas.openxmlformats.org/drawingml/2006/main">
              <a:ext uri="{FF2B5EF4-FFF2-40B4-BE49-F238E27FC236}">
                <a16:creationId xmlns:a16="http://schemas.microsoft.com/office/drawing/2014/main" id="{48DA5DCD-2ED8-4F3A-93C4-45C731E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单位经济性</a:t>
            </a:r>
          </a:p>
        </p:txBody>
      </p:sp>
      <p:sp>
        <p:nvSpPr>
          <p:cNvPr id="19" name="text-360-438">
            <a:extLst xmlns:a="http://schemas.openxmlformats.org/drawingml/2006/main">
              <a:ext uri="{FF2B5EF4-FFF2-40B4-BE49-F238E27FC236}">
                <a16:creationId xmlns:a16="http://schemas.microsoft.com/office/drawing/2014/main" id="{7C47710A-D387-404E-BDE0-777A61F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单任务推理与工具成本、延迟、资源利用率，以及规模化后的边际成本。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C3E46-ACD5-4C6E-B6D5-CF2A351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42-532">
            <a:extLst xmlns:a="http://schemas.openxmlformats.org/drawingml/2006/main">
              <a:ext uri="{FF2B5EF4-FFF2-40B4-BE49-F238E27FC236}">
                <a16:creationId xmlns:a16="http://schemas.microsoft.com/office/drawing/2014/main" id="{F5540B40-0FC0-426F-9887-9686198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120-532">
            <a:extLst xmlns:a="http://schemas.openxmlformats.org/drawingml/2006/main">
              <a:ext uri="{FF2B5EF4-FFF2-40B4-BE49-F238E27FC236}">
                <a16:creationId xmlns:a16="http://schemas.microsoft.com/office/drawing/2014/main" id="{89B5549B-6181-43AE-8A2F-8942DDF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采用与组织</a:t>
            </a:r>
          </a:p>
        </p:txBody>
      </p:sp>
      <p:sp>
        <p:nvSpPr>
          <p:cNvPr id="23" name="text-360-532">
            <a:extLst xmlns:a="http://schemas.openxmlformats.org/drawingml/2006/main">
              <a:ext uri="{FF2B5EF4-FFF2-40B4-BE49-F238E27FC236}">
                <a16:creationId xmlns:a16="http://schemas.microsoft.com/office/drawing/2014/main" id="{BFE45DD2-2DDE-4EDF-A6F2-8038CDC2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活跃用户、覆盖流程、人工接管、培训与满意度；避免只看调用量。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04222-58D3-4A55-8DBC-CA860BD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70567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2-40">
            <a:extLst xmlns:a="http://schemas.openxmlformats.org/drawingml/2006/main">
              <a:ext uri="{FF2B5EF4-FFF2-40B4-BE49-F238E27FC236}">
                <a16:creationId xmlns:a16="http://schemas.microsoft.com/office/drawing/2014/main" id="{E6F6DA18-AC85-45EF-AD1C-700F2AC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82589316-FBBE-4D36-A03B-5848C40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真正的行业智能化，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是让智能稳定地交付结果</a:t>
            </a:r>
          </a:p>
        </p:txBody>
      </p:sp>
      <p:sp>
        <p:nvSpPr>
          <p:cNvPr id="3" name="text-42-482">
            <a:extLst xmlns:a="http://schemas.openxmlformats.org/drawingml/2006/main">
              <a:ext uri="{FF2B5EF4-FFF2-40B4-BE49-F238E27FC236}">
                <a16:creationId xmlns:a16="http://schemas.microsoft.com/office/drawing/2014/main" id="{1C54ADD6-075E-4D7E-934D-743F0A9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竞争优势将来自三种能力的组合：底层资源可获得、企业语义可理解、业务流程可执行。</a:t>
            </a:r>
          </a:p>
        </p:txBody>
      </p:sp>
      <p:sp>
        <p:nvSpPr>
          <p:cNvPr id="4" name="rect-1038-40">
            <a:extLst xmlns:a="http://schemas.openxmlformats.org/drawingml/2006/main">
              <a:ext uri="{FF2B5EF4-FFF2-40B4-BE49-F238E27FC236}">
                <a16:creationId xmlns:a16="http://schemas.microsoft.com/office/drawing/2014/main" id="{86348C2E-E331-42F9-A476-16FCA56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1000"/>
            <a:ext cx="19050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text-1080-140">
            <a:extLst xmlns:a="http://schemas.openxmlformats.org/drawingml/2006/main">
              <a:ext uri="{FF2B5EF4-FFF2-40B4-BE49-F238E27FC236}">
                <a16:creationId xmlns:a16="http://schemas.microsoft.com/office/drawing/2014/main" id="{EF555C08-BF33-4F92-9D13-D806228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33500"/>
            <a:ext cx="1143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能源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算力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1446737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2026-08-04T09:54:23.3410000Z</dcterms:created>
  <dcterms:modified xsi:type="dcterms:W3CDTF">2026-08-04T09:54:23.3410000Z</dcterms:modified>
</coreProperties>
</file>