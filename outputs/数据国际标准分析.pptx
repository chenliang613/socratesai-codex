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0856c798d148a6" /><Relationship Type="http://schemas.openxmlformats.org/officeDocument/2006/relationships/extended-properties" Target="/docProps/app.xml" Id="Re40ff5674519439f" /><Relationship Type="http://schemas.openxmlformats.org/officeDocument/2006/relationships/officeDocument" Target="/ppt/presentation.xml" Id="R0117f8eeaad349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71706f4faf4a72"/>
  </p:sldMasterIdLst>
  <p:notesMasterIdLst>
    <p:notesMasterId xmlns:r="http://schemas.openxmlformats.org/officeDocument/2006/relationships" r:id="R9432460e5a2249c4"/>
  </p:notesMasterIdLst>
  <p:sldIdLst>
    <p:sldId xmlns:r="http://schemas.openxmlformats.org/officeDocument/2006/relationships" id="256" r:id="R45d25ebbc4e84509"/>
    <p:sldId xmlns:r="http://schemas.openxmlformats.org/officeDocument/2006/relationships" id="257" r:id="Rcdae92183ebb4312"/>
    <p:sldId xmlns:r="http://schemas.openxmlformats.org/officeDocument/2006/relationships" id="258" r:id="Rbbc385dc165f42e4"/>
    <p:sldId xmlns:r="http://schemas.openxmlformats.org/officeDocument/2006/relationships" id="259" r:id="R5072bbf722e14fda"/>
    <p:sldId xmlns:r="http://schemas.openxmlformats.org/officeDocument/2006/relationships" id="260" r:id="R657272735e5044f5"/>
    <p:sldId xmlns:r="http://schemas.openxmlformats.org/officeDocument/2006/relationships" id="261" r:id="R933069570e60403e"/>
    <p:sldId xmlns:r="http://schemas.openxmlformats.org/officeDocument/2006/relationships" id="262" r:id="R5ed4f9b1c8be4470"/>
    <p:sldId xmlns:r="http://schemas.openxmlformats.org/officeDocument/2006/relationships" id="263" r:id="Rad857149fc884a3f"/>
    <p:sldId xmlns:r="http://schemas.openxmlformats.org/officeDocument/2006/relationships" id="264" r:id="Rfd9371ffd9d246e1"/>
    <p:sldId xmlns:r="http://schemas.openxmlformats.org/officeDocument/2006/relationships" id="265" r:id="R6126232d386a4207"/>
    <p:sldId xmlns:r="http://schemas.openxmlformats.org/officeDocument/2006/relationships" id="266" r:id="Ra1206aa63d3c4a44"/>
    <p:sldId xmlns:r="http://schemas.openxmlformats.org/officeDocument/2006/relationships" id="267" r:id="R3beece003ad945f9"/>
    <p:sldId xmlns:r="http://schemas.openxmlformats.org/officeDocument/2006/relationships" id="268" r:id="Re5f781ff217644db"/>
    <p:sldId xmlns:r="http://schemas.openxmlformats.org/officeDocument/2006/relationships" id="269" r:id="R3e55e4d79a25431a"/>
    <p:sldId xmlns:r="http://schemas.openxmlformats.org/officeDocument/2006/relationships" id="270" r:id="Ra9f5d6f5c1284f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017fe2c7f64626" /><Relationship Type="http://schemas.openxmlformats.org/officeDocument/2006/relationships/slideMaster" Target="/ppt/slideMasters/slideMaster1.xml" Id="Rbe71706f4faf4a72" /><Relationship Type="http://schemas.openxmlformats.org/officeDocument/2006/relationships/notesMaster" Target="/ppt/notesMasters/notesMaster1.xml" Id="R9432460e5a2249c4" /><Relationship Type="http://schemas.openxmlformats.org/officeDocument/2006/relationships/presProps" Target="/ppt/presProps.xml" Id="R90220d5123fb4921" /><Relationship Type="http://schemas.openxmlformats.org/officeDocument/2006/relationships/tableStyles" Target="/ppt/tableStyles.xml" Id="R2ea27336f4ca4ad9" /><Relationship Type="http://schemas.openxmlformats.org/officeDocument/2006/relationships/slide" Target="/ppt/slides/slide1.xml" Id="R45d25ebbc4e84509" /><Relationship Type="http://schemas.openxmlformats.org/officeDocument/2006/relationships/slide" Target="/ppt/slides/slide2.xml" Id="Rcdae92183ebb4312" /><Relationship Type="http://schemas.openxmlformats.org/officeDocument/2006/relationships/slide" Target="/ppt/slides/slide3.xml" Id="Rbbc385dc165f42e4" /><Relationship Type="http://schemas.openxmlformats.org/officeDocument/2006/relationships/slide" Target="/ppt/slides/slide4.xml" Id="R5072bbf722e14fda" /><Relationship Type="http://schemas.openxmlformats.org/officeDocument/2006/relationships/slide" Target="/ppt/slides/slide5.xml" Id="R657272735e5044f5" /><Relationship Type="http://schemas.openxmlformats.org/officeDocument/2006/relationships/slide" Target="/ppt/slides/slide6.xml" Id="R933069570e60403e" /><Relationship Type="http://schemas.openxmlformats.org/officeDocument/2006/relationships/slide" Target="/ppt/slides/slide7.xml" Id="R5ed4f9b1c8be4470" /><Relationship Type="http://schemas.openxmlformats.org/officeDocument/2006/relationships/slide" Target="/ppt/slides/slide8.xml" Id="Rad857149fc884a3f" /><Relationship Type="http://schemas.openxmlformats.org/officeDocument/2006/relationships/slide" Target="/ppt/slides/slide9.xml" Id="Rfd9371ffd9d246e1" /><Relationship Type="http://schemas.openxmlformats.org/officeDocument/2006/relationships/slide" Target="/ppt/slides/slide10.xml" Id="R6126232d386a4207" /><Relationship Type="http://schemas.openxmlformats.org/officeDocument/2006/relationships/slide" Target="/ppt/slides/slide11.xml" Id="Ra1206aa63d3c4a44" /><Relationship Type="http://schemas.openxmlformats.org/officeDocument/2006/relationships/slide" Target="/ppt/slides/slide12.xml" Id="R3beece003ad945f9" /><Relationship Type="http://schemas.openxmlformats.org/officeDocument/2006/relationships/slide" Target="/ppt/slides/slide13.xml" Id="Re5f781ff217644db" /><Relationship Type="http://schemas.openxmlformats.org/officeDocument/2006/relationships/slide" Target="/ppt/slides/slide14.xml" Id="R3e55e4d79a25431a" /><Relationship Type="http://schemas.openxmlformats.org/officeDocument/2006/relationships/slide" Target="/ppt/slides/slide15.xml" Id="Ra9f5d6f5c1284f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2e823d8f724d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0a79649c464f1d" /><Relationship Type="http://schemas.openxmlformats.org/officeDocument/2006/relationships/notesMaster" Target="/ppt/notesMasters/notesMaster1.xml" Id="R64c0a5efb8494d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c79a0fa6b34a6e" /><Relationship Type="http://schemas.openxmlformats.org/officeDocument/2006/relationships/notesMaster" Target="/ppt/notesMasters/notesMaster1.xml" Id="R9050569d36994e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4f2c3b062d458e" /><Relationship Type="http://schemas.openxmlformats.org/officeDocument/2006/relationships/notesMaster" Target="/ppt/notesMasters/notesMaster1.xml" Id="R10fbbde950fe40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38bda2fbbb4f5d" /><Relationship Type="http://schemas.openxmlformats.org/officeDocument/2006/relationships/notesMaster" Target="/ppt/notesMasters/notesMaster1.xml" Id="R0eb6337edefc40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35a9354c47400c" /><Relationship Type="http://schemas.openxmlformats.org/officeDocument/2006/relationships/notesMaster" Target="/ppt/notesMasters/notesMaster1.xml" Id="R3bc1e0cab73649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55dd650e3db4b8c" /><Relationship Type="http://schemas.openxmlformats.org/officeDocument/2006/relationships/notesMaster" Target="/ppt/notesMasters/notesMaster1.xml" Id="Re524952e088545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5508d7059e54171" /><Relationship Type="http://schemas.openxmlformats.org/officeDocument/2006/relationships/notesMaster" Target="/ppt/notesMasters/notesMaster1.xml" Id="Rb7eb8280c9bf4b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ae9c1756a04868" /><Relationship Type="http://schemas.openxmlformats.org/officeDocument/2006/relationships/notesMaster" Target="/ppt/notesMasters/notesMaster1.xml" Id="R087171486ddd456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6bae7ed94ce4f63" /><Relationship Type="http://schemas.openxmlformats.org/officeDocument/2006/relationships/notesMaster" Target="/ppt/notesMasters/notesMaster1.xml" Id="Rd62228a9f7df4db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79355a1abb0400e" /><Relationship Type="http://schemas.openxmlformats.org/officeDocument/2006/relationships/notesMaster" Target="/ppt/notesMasters/notesMaster1.xml" Id="Ra27d52dfb92f47b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55940d6c13a4266" /><Relationship Type="http://schemas.openxmlformats.org/officeDocument/2006/relationships/notesMaster" Target="/ppt/notesMasters/notesMaster1.xml" Id="Rd7ae3d0bff6245d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7ad4b9494034351" /><Relationship Type="http://schemas.openxmlformats.org/officeDocument/2006/relationships/notesMaster" Target="/ppt/notesMasters/notesMaster1.xml" Id="Rb03844e0552d415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5750601847b4fc0" /><Relationship Type="http://schemas.openxmlformats.org/officeDocument/2006/relationships/notesMaster" Target="/ppt/notesMasters/notesMaster1.xml" Id="R03578de91f2a40f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38ef67f72224f65" /><Relationship Type="http://schemas.openxmlformats.org/officeDocument/2006/relationships/notesMaster" Target="/ppt/notesMasters/notesMaster1.xml" Id="R853e6b99433d46b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efc60bb1fec4ee6" /><Relationship Type="http://schemas.openxmlformats.org/officeDocument/2006/relationships/notesMaster" Target="/ppt/notesMasters/notesMaster1.xml" Id="Rbcbaf073055e44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https://www.iso.org/committee/45342.html</a:t>
            </a:r>
          </a:p>
          <a:p xmlns:a="http://schemas.openxmlformats.org/drawingml/2006/main">
            <a:r>
              <a:t>- https://www.iso.org/committee/601355.html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https://www.iso.org/committee/45342.html</a:t>
            </a:r>
          </a:p>
          <a:p xmlns:a="http://schemas.openxmlformats.org/drawingml/2006/main">
            <a:r>
              <a:t>- https://www.iso.org/committee/601355.html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https://www.iso.org/committee/45342/x/catalogue/</a:t>
            </a:r>
          </a:p>
          <a:p xmlns:a="http://schemas.openxmlformats.org/drawingml/2006/main">
            <a:r>
              <a:t>- https://www.iso.org/committee/601355/x/catalogue/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https://www.iso.org/committee/45342.html</a:t>
            </a:r>
          </a:p>
          <a:p xmlns:a="http://schemas.openxmlformats.org/drawingml/2006/main">
            <a:r>
              <a:t>- https://www.iso.org/committee/45342/x/catalogue/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https://www.iso.org/committee/45342/x/catalogue/</a:t>
            </a:r>
          </a:p>
          <a:p xmlns:a="http://schemas.openxmlformats.org/drawingml/2006/main">
            <a:r>
              <a:t>- https://www.iso.org/committee/45342/x/catalogue/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关键目录位置：ISO/IEC 11179-1:2023、11179-3:2023、11179-30:2023、11179-31:2023、11179-32:2023、11179-33:2023、11179-34:2024、11179-35:2023。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https://www.iso.org/committee/45342/x/catalogue/</a:t>
            </a:r>
          </a:p>
          <a:p xmlns:a="http://schemas.openxmlformats.org/drawingml/2006/main">
            <a:r>
              <a:t>- https://www.iso.org/standard/80327.html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https://www.iso.org/committee/45342/x/catalogue/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https://www.iso.org/committee/601355.html</a:t>
            </a:r>
          </a:p>
          <a:p xmlns:a="http://schemas.openxmlformats.org/drawingml/2006/main">
            <a:r>
              <a:t>- https://www.iso.org/committee/601355/x/catalogue/</a:t>
            </a:r>
          </a:p>
          <a:p xmlns:a="http://schemas.openxmlformats.org/drawingml/2006/main">
            <a:r>
              <a:t>- https://www.iso.org/cms/live/live/en/sites/isoorg/contents/data/standard/08/18/81848.html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https://www.iso.org/standard/79573.html</a:t>
            </a:r>
          </a:p>
          <a:p xmlns:a="http://schemas.openxmlformats.org/drawingml/2006/main">
            <a:r>
              <a:t>- https://www.iso.org/committee/601355/x/catalogue/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https://www.iso.org/committee/601355/x/catalogue/</a:t>
            </a:r>
          </a:p>
          <a:p xmlns:a="http://schemas.openxmlformats.org/drawingml/2006/main">
            <a:r>
              <a:t>- https://www.iso.org/cms/live/live/en/sites/isoorg/contents/data/standard/08/65/86589.html</a:t>
            </a:r>
          </a:p>
          <a:p xmlns:a="http://schemas.openxmlformats.org/drawingml/2006/main">
            <a:r>
              <a:t>- https://www.iso.org/cms/live/live/es/sites/isoorg/contents/data/standard/08/57/85772.html</a:t>
            </a:r>
          </a:p>
          <a:p xmlns:a="http://schemas.openxmlformats.org/drawingml/2006/main">
            <a:r>
              <a:t>- https://www.iso.org/cms/live/live/en/sites/isoorg/contents/data/standard/09/42/94290.html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https://www.iso.org/committee/45342.html</a:t>
            </a:r>
          </a:p>
          <a:p xmlns:a="http://schemas.openxmlformats.org/drawingml/2006/main">
            <a:r>
              <a:t>- https://www.iso.org/committee/601355.html</a:t>
            </a:r>
          </a:p>
          <a:p xmlns:a="http://schemas.openxmlformats.org/drawingml/2006/main">
            <a:r>
              <a:t>- https://www.iso.org/committee/45342/x/catalogue/</a:t>
            </a:r>
          </a:p>
          <a:p xmlns:a="http://schemas.openxmlformats.org/drawingml/2006/main">
            <a:r>
              <a:t>- https://www.iso.org/committee/601355/x/catalogue/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https://www.iso.org/committee/45342/x/catalogue/</a:t>
            </a:r>
          </a:p>
          <a:p xmlns:a="http://schemas.openxmlformats.org/drawingml/2006/main">
            <a:r>
              <a:t>- https://www.iso.org/committee/601355/x/catalogue/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https://www.iso.org/committee/45342/x/catalogue/</a:t>
            </a:r>
          </a:p>
          <a:p xmlns:a="http://schemas.openxmlformats.org/drawingml/2006/main">
            <a:r>
              <a:t>- https://www.iso.org/committee/601355/x/catalogue/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https://www.iso.org/committee/45342/x/catalogue/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https://www.iso.org/committee/45342.html</a:t>
            </a:r>
          </a:p>
          <a:p xmlns:a="http://schemas.openxmlformats.org/drawingml/2006/main">
            <a:r>
              <a:t>- https://www.iso.org/committee/45342/x/catalogue/</a:t>
            </a:r>
          </a:p>
          <a:p xmlns:a="http://schemas.openxmlformats.org/drawingml/2006/main">
            <a:r>
              <a:t>- https://www.iso.org/committee/601355.html</a:t>
            </a:r>
          </a:p>
          <a:p xmlns:a="http://schemas.openxmlformats.org/drawingml/2006/main">
            <a:r>
              <a:t>- https://www.iso.org/committee/601355/x/catalogue/</a:t>
            </a:r>
          </a:p>
          <a:p xmlns:a="http://schemas.openxmlformats.org/drawingml/2006/main">
            <a:r>
              <a:t>- https://www.iso.org/standard/79573.html</a:t>
            </a:r>
          </a:p>
          <a:p xmlns:a="http://schemas.openxmlformats.org/drawingml/2006/main">
            <a:r>
              <a:t>- https://www.iso.org/cms/live/live/en/sites/isoorg/contents/data/standard/08/18/81848.html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e7e720852a45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71200f56d74496" /><Relationship Type="http://schemas.openxmlformats.org/officeDocument/2006/relationships/slideLayout" Target="/ppt/slideLayouts/slideLayout1.xml" Id="R6c03c73e0b784c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03c73e0b784c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ba26a55b86410d" /><Relationship Type="http://schemas.openxmlformats.org/officeDocument/2006/relationships/notesSlide" Target="/ppt/notesSlides/notesSlide1.xml" Id="R4fd6afd522fc4e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8856ff96d14dcb" /><Relationship Type="http://schemas.openxmlformats.org/officeDocument/2006/relationships/notesSlide" Target="/ppt/notesSlides/notesSlide2.xml" Id="Rb1d5d847616b44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ec9e308bd84d6f" /><Relationship Type="http://schemas.openxmlformats.org/officeDocument/2006/relationships/notesSlide" Target="/ppt/notesSlides/notesSlide3.xml" Id="R47e5ae086d534c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c7813481424247" /><Relationship Type="http://schemas.openxmlformats.org/officeDocument/2006/relationships/notesSlide" Target="/ppt/notesSlides/notesSlide4.xml" Id="R2f2e14a5be3a46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de211a2214626" /><Relationship Type="http://schemas.openxmlformats.org/officeDocument/2006/relationships/notesSlide" Target="/ppt/notesSlides/notesSlide5.xml" Id="Rcc6609fb7ffc42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7cd82717d34ba0" /><Relationship Type="http://schemas.openxmlformats.org/officeDocument/2006/relationships/notesSlide" Target="/ppt/notesSlides/notesSlide6.xml" Id="R7e42e5866a5a4c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85b315a5324132" /><Relationship Type="http://schemas.openxmlformats.org/officeDocument/2006/relationships/notesSlide" Target="/ppt/notesSlides/notesSlide7.xml" Id="R11b75919b0244a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ebc55ea17044d8" /><Relationship Type="http://schemas.openxmlformats.org/officeDocument/2006/relationships/notesSlide" Target="/ppt/notesSlides/notesSlide8.xml" Id="R6bd26a656fad47f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8ebbbf595f40eb" /><Relationship Type="http://schemas.openxmlformats.org/officeDocument/2006/relationships/notesSlide" Target="/ppt/notesSlides/notesSlide9.xml" Id="R094e0164010e41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510f243bb14a45" /><Relationship Type="http://schemas.openxmlformats.org/officeDocument/2006/relationships/notesSlide" Target="/ppt/notesSlides/notesSlide10.xml" Id="Ra61c7d59f7ef473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e54413755d4c54" /><Relationship Type="http://schemas.openxmlformats.org/officeDocument/2006/relationships/notesSlide" Target="/ppt/notesSlides/notesSlide11.xml" Id="Ra95bcf12566549e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e05568a9104a73" /><Relationship Type="http://schemas.openxmlformats.org/officeDocument/2006/relationships/notesSlide" Target="/ppt/notesSlides/notesSlide12.xml" Id="Redf5f24383444d2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22064d19d44ae1" /><Relationship Type="http://schemas.openxmlformats.org/officeDocument/2006/relationships/notesSlide" Target="/ppt/notesSlides/notesSlide13.xml" Id="R862b764c127c4ee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5406bf48e94da6" /><Relationship Type="http://schemas.openxmlformats.org/officeDocument/2006/relationships/notesSlide" Target="/ppt/notesSlides/notesSlide14.xml" Id="Rb0435ef45e31489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c6e77e3cb14764" /><Relationship Type="http://schemas.openxmlformats.org/officeDocument/2006/relationships/notesSlide" Target="/ppt/notesSlides/notesSlide15.xml" Id="R8bbde6190e3745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F04833-81C8-4E6F-9CFB-3F881CE7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619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E3546F-1DFB-44F6-8F47-950655F2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3820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7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7DFF"/>
                </a:solidFill>
                <a:latin typeface="Arial"/>
                <a:ea typeface="Arial"/>
                <a:cs typeface="Arial"/>
              </a:rPr>
              <a:t>SC32 × SC38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75E6D4-7FA2-4AF9-A464-46334D3A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857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数据国际标准分析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77247A-71B5-4D42-8A57-7519117F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9527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5B6472"/>
                </a:solidFill>
                <a:latin typeface="Arial"/>
                <a:ea typeface="Arial"/>
                <a:cs typeface="Arial"/>
              </a:rPr>
              <a:t>从数据定义、语义注册到云上流动与共享的标准体系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A817B2-218C-4AA7-93BE-E27969BB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5238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C93A88-B25D-4D16-9F90-59744442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9600"/>
            <a:ext cx="457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ISO/IEC JTC 1</a:t>
            </a:r>
          </a:p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SC32 · Data management and interchange</a:t>
            </a:r>
          </a:p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SC38 · Cloud computing and distributed platforms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CC9CDB-9DC5-4F61-A717-AD34EF03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472"/>
                </a:solidFill>
                <a:latin typeface="Arial"/>
                <a:ea typeface="Arial"/>
                <a:cs typeface="Arial"/>
              </a:rPr>
              <a:t>资料基准：ISO 官方委员会范围与目录 · 2026-08-07</a:t>
            </a:r>
          </a:p>
        </p:txBody>
      </p:sp>
    </p:spTree>
    <p:extLst>
      <p:ext uri="{BB962C8B-B14F-4D97-AF65-F5344CB8AC3E}">
        <p14:creationId xmlns:p14="http://schemas.microsoft.com/office/powerpoint/2010/main" val="212502404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4E0A69-7551-4CAE-B695-B59917C4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7DFF"/>
                </a:solidFill>
                <a:latin typeface="Arial"/>
                <a:ea typeface="Arial"/>
                <a:cs typeface="Arial"/>
              </a:rPr>
              <a:t>国际标准分析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47332C-B84A-4E67-BB88-1AE942E9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两个委员会分工不同，但共同构成数据基础设施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060BAA-4D5C-45F2-B360-F67156B8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82C177-326A-48E2-9D70-758EA1E5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SC32 规定数据如何被定义、组织、交换与解释；SC38 规定数据如何在云与分布式平台中流动、共享与被治理。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229B9A-92EB-4165-A9E4-32380328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5143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CEA4C4-EA9F-4AFD-8524-0500FE59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4E9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4E93"/>
                </a:solidFill>
                <a:latin typeface="Arial"/>
                <a:ea typeface="Arial"/>
                <a:cs typeface="Arial"/>
              </a:rPr>
              <a:t>SC32 · DATA MANAGEMENT AND INTERCHANGE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B52929-E4BE-4E53-8708-D38357D4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 参考模型与框架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445C2D-D5B7-42E7-8F75-7B4400D2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 数据域、类型、结构及语义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C24667-7350-4301-A8A7-5F26104E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 持久存储、并发访问、数据交换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9CFCD1-1323-4DD5-B3C9-3233DB7A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 元数据注册与互操作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626ADC-FB60-49E4-A2AB-B3FF063F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5143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1E16A0-FF92-464F-B0AC-428D303C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DFF"/>
                </a:solidFill>
                <a:latin typeface="Arial"/>
                <a:ea typeface="Arial"/>
                <a:cs typeface="Arial"/>
              </a:rPr>
              <a:t>SC38 · CLOUD &amp; DISTRIBUTED PLATFORMS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FE56B8-89DB-4191-98BD-A32AD70F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 云计算与分布式平台基础概念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7A0B3F-6C28-4946-BAEC-7B81FB7C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2425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 云间 / 边缘 / 多云的交互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722813-0D8E-4B67-9B20-9178DA95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0525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 数据流、数据类别、数据使用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9136CA-5237-4D3C-AADF-11D8DFF9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8625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 共享协议、可移植性与数字主权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9E7F87-4E23-4BED-89F5-7363E0DE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B6472"/>
                </a:solidFill>
                <a:latin typeface="Arial"/>
                <a:ea typeface="Arial"/>
                <a:cs typeface="Arial"/>
              </a:rPr>
              <a:t>数据国际标准分析  ·  02</a:t>
            </a:r>
          </a:p>
        </p:txBody>
      </p:sp>
    </p:spTree>
    <p:extLst>
      <p:ext uri="{BB962C8B-B14F-4D97-AF65-F5344CB8AC3E}">
        <p14:creationId xmlns:p14="http://schemas.microsoft.com/office/powerpoint/2010/main" val="15272870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2826CB-5D0B-4265-BF47-C29DDA66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7DFF"/>
                </a:solidFill>
                <a:latin typeface="Arial"/>
                <a:ea typeface="Arial"/>
                <a:cs typeface="Arial"/>
              </a:rPr>
              <a:t>国际标准分析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27F666-2A02-4AC9-BDED-51500254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阅读标准目录，先看状态，再看编号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0B3063-727E-4A0D-8DC8-70972B4D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421883-C704-430F-86D5-F3C9D799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11827"/>
                </a:solidFill>
                <a:latin typeface="Arial"/>
                <a:ea typeface="Arial"/>
                <a:cs typeface="Arial"/>
              </a:rPr>
              <a:t>ISO 官方目录同时展示已发布、制定中、撤销与删除项目；对于工程选型，状态决定可引用性与落地风险。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92CF98-F8EA-4C47-8EFD-EF080C2B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3625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E9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F8CF07-BE6E-442E-8266-F41E2B0E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28875"/>
            <a:ext cx="1885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状态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EA5353-A859-40E2-9586-BE6921B4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33625"/>
            <a:ext cx="4857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E9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673B18-444A-4748-ABE8-FDBD5EB0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428875"/>
            <a:ext cx="4648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工程含义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FFE958-F7E8-46B9-8296-1C5ACEBF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33625"/>
            <a:ext cx="4438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E9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183318-B1E3-4A13-80BE-8A0AA172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28875"/>
            <a:ext cx="4229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建议动作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930891-091E-49CB-AADF-FEBA809F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0375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847351-0648-4CBF-87F5-265E3EDF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5625"/>
            <a:ext cx="1885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Published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2882FB-DCAF-4438-A8DF-306EF0EF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000375"/>
            <a:ext cx="4857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BA605E-1591-47FB-BF79-4DB8013B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95625"/>
            <a:ext cx="4648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可作为现行依据；仍需确认版本与修订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DAA211-87CD-4D7A-90C0-F3B96BF8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00375"/>
            <a:ext cx="4438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5D3B42-94C5-4776-8630-66A0454E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95625"/>
            <a:ext cx="4229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纳入企业标准基线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1DDD53-EBC1-4369-A69A-115EC91F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67125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8D04A9-5F5B-4FC0-992C-1F0699A8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62375"/>
            <a:ext cx="1885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Under development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6A5F58-F52E-41EE-B783-1163E7BD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667125"/>
            <a:ext cx="4857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A51229-DE1C-47BA-A702-16A45A78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62375"/>
            <a:ext cx="4648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方向性信号，内容与时间仍可能变化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8982CC-BB3A-44E7-9E1F-E50D247C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667125"/>
            <a:ext cx="4438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0CFCEE-1CC5-436A-BF0D-0E6B639C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762375"/>
            <a:ext cx="4229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跟踪、试点，不作硬性合规依据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8EB9D1-3FD9-4486-8BBD-66B06F50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33875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B786C5-F588-42CA-96C2-2B9C4CC4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29125"/>
            <a:ext cx="1885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Withdrawn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9AD555-8879-4C34-8AF1-64D8C474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333875"/>
            <a:ext cx="4857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5762DF-7C4F-4D01-9C99-488B293C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29125"/>
            <a:ext cx="4648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历史版本已被撤销或替代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667140-8CCF-486A-95E1-6DFBCA68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333875"/>
            <a:ext cx="4438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901C1F-BE49-40D7-A5F5-D47F3EF7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429125"/>
            <a:ext cx="4229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仅用于兼容性与演进分析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4D3205-C5A1-443D-A0C2-D9E26CF3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10299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406F03-64B9-4B6D-BFD8-AAAAE41E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666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300A9A-61C8-498A-B8B2-C1AD51B2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00700"/>
            <a:ext cx="1062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结论：标准体系是“版本化资产”，不能只维护一个编号清单。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753CEE-65B1-4B8E-ACE0-75AA9169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B6472"/>
                </a:solidFill>
                <a:latin typeface="Arial"/>
                <a:ea typeface="Arial"/>
                <a:cs typeface="Arial"/>
              </a:rPr>
              <a:t>数据国际标准分析  ·  03</a:t>
            </a:r>
          </a:p>
        </p:txBody>
      </p:sp>
    </p:spTree>
    <p:extLst>
      <p:ext uri="{BB962C8B-B14F-4D97-AF65-F5344CB8AC3E}">
        <p14:creationId xmlns:p14="http://schemas.microsoft.com/office/powerpoint/2010/main" val="183577042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91EBCA-3150-4A86-B11B-AE0645E1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7DFF"/>
                </a:solidFill>
                <a:latin typeface="Arial"/>
                <a:ea typeface="Arial"/>
                <a:cs typeface="Arial"/>
              </a:rPr>
              <a:t>国际标准分析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5714D8-A562-4384-831B-CBC11C03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SC32 的数据标准形成一条从语义到执行的链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435FA1-043F-4ACE-A625-05110C62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6FFB79-7C2C-4824-B93C-AF683F59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11827"/>
                </a:solidFill>
                <a:latin typeface="Arial"/>
                <a:ea typeface="Arial"/>
                <a:cs typeface="Arial"/>
              </a:rPr>
              <a:t>SC32 的价值不只是数据库语言；它把“数据是什么、如何命名、如何注册、如何交换、如何分析”连成一套可复用的基础层。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8C8EF5-7103-4292-AA2E-6F881990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14625"/>
            <a:ext cx="1905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D7A2B1-2693-458F-BCAC-36765338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05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C522A9-2228-4E32-8311-3F944222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57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语义与概念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C1A191-11F7-42FC-80D9-0D1D46FD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1955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B6472"/>
                </a:solidFill>
                <a:latin typeface="Arial"/>
                <a:ea typeface="Arial"/>
                <a:cs typeface="Arial"/>
              </a:rPr>
              <a:t>2382 · 5394 · 21838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AF77D5-DD6F-4043-8E3A-43A8ABD3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290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E7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E7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4C2258-1095-4F09-8098-0BD2F0FD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714625"/>
            <a:ext cx="1905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A1379E-715A-4185-9E46-3713CB89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05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95B2B4-6E5A-4920-B2EC-C0242FDE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33750"/>
            <a:ext cx="157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类型与标识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8CE078-5020-4F38-83C5-3853CDFB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01955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B6472"/>
                </a:solidFill>
                <a:latin typeface="Arial"/>
                <a:ea typeface="Arial"/>
                <a:cs typeface="Arial"/>
              </a:rPr>
              <a:t>11404 · 5218 · 6523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0CBC66-9097-4E0D-ACC3-CBDA6B09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290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E7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E7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B06F90-77A2-492C-81E1-0D197C39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14625"/>
            <a:ext cx="1905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400EF8-F505-4F5D-B117-5CCCFC46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905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7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797F6D-79AF-4F2E-995E-2A5C9A88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333750"/>
            <a:ext cx="157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元数据注册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C9B17B-D3B8-4325-9DDF-B33DFC45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01955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B6472"/>
                </a:solidFill>
                <a:latin typeface="Arial"/>
                <a:ea typeface="Arial"/>
                <a:cs typeface="Arial"/>
              </a:rPr>
              <a:t>11179 · 19763 · 20944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0E0E97-DA23-4E90-8746-10D56E9F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E7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E7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C09963-4536-40B2-95AD-F016DAB1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14625"/>
            <a:ext cx="1905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E10C87-2359-4935-BB63-A959B83A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05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2E535B-196A-4CE3-9146-A6E07CCC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33750"/>
            <a:ext cx="157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交换与数据库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B5BAA0-3A60-4E3B-B37F-473A99F8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1955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B6472"/>
                </a:solidFill>
                <a:latin typeface="Arial"/>
                <a:ea typeface="Arial"/>
                <a:cs typeface="Arial"/>
              </a:rPr>
              <a:t>9075 · 13249 · 14957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E3D897-B87E-43E3-A1A5-BA7B8304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290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E7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E7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47599F-2D55-4926-A9B2-18FE59CE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714625"/>
            <a:ext cx="1905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6D451A-2501-4774-A557-422A7860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905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09331E-8A40-4B91-9BF7-F4374F06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333750"/>
            <a:ext cx="157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使用与分析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4977C3-FFA2-4183-AFA4-F30C62D3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01955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B6472"/>
                </a:solidFill>
                <a:latin typeface="Arial"/>
                <a:ea typeface="Arial"/>
                <a:cs typeface="Arial"/>
              </a:rPr>
              <a:t>5207 · 5212 · 29075 · 39075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AA944D-84EC-482A-BD4A-9D8C9BC1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11029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C5AB5F-BCDF-4DE2-AC4A-41BFB07F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A7BE29-C8FA-46BF-A72D-2A5E8841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14950"/>
            <a:ext cx="1062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SC32 的核心产出是“可被不同系统共同理解的对象”：数据元素、概念系统、数据集、模型与查询语言。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7CD32C-6047-4543-97CB-288E3D47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B6472"/>
                </a:solidFill>
                <a:latin typeface="Arial"/>
                <a:ea typeface="Arial"/>
                <a:cs typeface="Arial"/>
              </a:rPr>
              <a:t>数据国际标准分析  ·  04</a:t>
            </a:r>
          </a:p>
        </p:txBody>
      </p:sp>
    </p:spTree>
    <p:extLst>
      <p:ext uri="{BB962C8B-B14F-4D97-AF65-F5344CB8AC3E}">
        <p14:creationId xmlns:p14="http://schemas.microsoft.com/office/powerpoint/2010/main" val="70940380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A11886-38E6-4B57-9A21-8F49B6F9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7DFF"/>
                </a:solidFill>
                <a:latin typeface="Arial"/>
                <a:ea typeface="Arial"/>
                <a:cs typeface="Arial"/>
              </a:rPr>
              <a:t>国际标准分析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EEDC69-5A78-4D77-9671-8AEDA035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SC32 的元数据主线已扩展到数据集、模型与可计算数据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380175-4230-41D1-A53A-EC880830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58BFA3-858C-48D4-B329-FF5AC380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11827"/>
                </a:solidFill>
                <a:latin typeface="Arial"/>
                <a:ea typeface="Arial"/>
                <a:cs typeface="Arial"/>
              </a:rPr>
              <a:t>ISO/IEC 11179:2023 及其配套系列，把注册对象从数据元素扩展到概念系统、数据集、可计算数据与模型。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71A2C7-AC04-4C61-9C72-19AF32D2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22860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E9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3AF96F-600A-49D5-B341-DCA4418E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207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系列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073B30-F53E-41DE-BA40-CB570094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62200"/>
            <a:ext cx="4000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E9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5F6A8B-A06D-4579-B1D3-F9948DA4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57450"/>
            <a:ext cx="3790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当前重点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88FD4B-9A53-41A9-ADC9-CC207ED2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62200"/>
            <a:ext cx="47434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E9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40928B-5C61-45BB-A49D-69A1CE95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57450"/>
            <a:ext cx="4533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作用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E79B33-BC0D-4CFC-B94C-EE37EA56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0375"/>
            <a:ext cx="22860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262E29-B97C-4272-B618-FB017702C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5625"/>
            <a:ext cx="207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ISO/IEC 11179-1/-2/-3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93F92-90D8-4896-8C31-8872BE91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00375"/>
            <a:ext cx="4000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5931C3-2BD0-4B3D-9032-C50AF409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095625"/>
            <a:ext cx="3790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框架、分类、注册公共设施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29D5E1-D60F-4F72-9814-7EE99E35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00375"/>
            <a:ext cx="47434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C6FC88-012F-46C6-BD28-37924DB4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95625"/>
            <a:ext cx="4533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定义元数据注册的共同语义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B77D33-A97C-4871-BC08-7AEED38B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22860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CE26A3-81EE-4BE4-AC50-4790C0F0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7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ISO/IEC 11179-30/-31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2A329D-F54B-488F-B746-A9A05F13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638550"/>
            <a:ext cx="4000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37491C-528A-4BDE-B6E5-0E846C3F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733800"/>
            <a:ext cx="3790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元数据 / 数据规格注册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ED290F-C082-48C5-B180-DB0745EE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38550"/>
            <a:ext cx="47434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C840B2-CD6B-4291-81E3-374791A6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33800"/>
            <a:ext cx="4533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让数据对象可发现、可描述、可复用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A946D6-954F-4985-9239-DD3EF869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76725"/>
            <a:ext cx="22860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3AF228-DE83-4131-8474-C9006963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71975"/>
            <a:ext cx="207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ISO/IEC 11179-32/-33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4D13BC-C498-4ECA-B2FC-3A8A171E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276725"/>
            <a:ext cx="4000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BE2C05-1333-472A-BCE6-F87B9749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371975"/>
            <a:ext cx="3790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概念系统 / 数据集注册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C6A5B1-2B06-4F9D-A42D-30061173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276725"/>
            <a:ext cx="47434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9D1547-E7D0-46F0-8ADD-100F4252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71975"/>
            <a:ext cx="4533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把词表、代码表与数据产品连接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07416D-7B62-4070-A822-5F9CE56E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14900"/>
            <a:ext cx="22860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6ADDEB-A319-41DB-B7AB-BBFBC6D2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10150"/>
            <a:ext cx="207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ISO/IEC 11179-34/-35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F65B6C-BBF9-4737-9834-885445BC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914900"/>
            <a:ext cx="4000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C88B79-9F13-450E-90A8-759A571A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010150"/>
            <a:ext cx="3790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可计算数据 / 模型注册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048C6C-6724-4439-948A-57A9508C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914900"/>
            <a:ext cx="47434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84D849-02BB-44AE-B7AA-C0D78AFD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010150"/>
            <a:ext cx="4533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支撑算法、模型与机器可读资产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BFED06-2E81-4B19-B273-381713CA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472"/>
                </a:solidFill>
                <a:latin typeface="Arial"/>
                <a:ea typeface="Arial"/>
                <a:cs typeface="Arial"/>
              </a:rPr>
              <a:t>配套：ISO/IEC 19763 MFI（互操作元模型）、ISO/IEC 20944 MDR-IB（API / 协议 / 绑定）、ISO/IEC 19583（元数据使用与映射）。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01538C-C36B-4795-A3FB-65FC4ED7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B6472"/>
                </a:solidFill>
                <a:latin typeface="Arial"/>
                <a:ea typeface="Arial"/>
                <a:cs typeface="Arial"/>
              </a:rPr>
              <a:t>数据国际标准分析  ·  05</a:t>
            </a:r>
          </a:p>
        </p:txBody>
      </p:sp>
    </p:spTree>
    <p:extLst>
      <p:ext uri="{BB962C8B-B14F-4D97-AF65-F5344CB8AC3E}">
        <p14:creationId xmlns:p14="http://schemas.microsoft.com/office/powerpoint/2010/main" val="174563209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F1A343-CD9C-4B26-BC9D-299932B9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7DFF"/>
                </a:solidFill>
                <a:latin typeface="Arial"/>
                <a:ea typeface="Arial"/>
                <a:cs typeface="Arial"/>
              </a:rPr>
              <a:t>国际标准分析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A1B5AF-E8E8-4656-85AA-B695C0BF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数据库语言仍是 SC32 的主干，但对象正在从关系表扩展到图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7B9EEF-85EC-4EA0-AF38-3DECA93A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6CD783-04E4-4DD0-AC16-5AC8FEA1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11827"/>
                </a:solidFill>
                <a:latin typeface="Arial"/>
                <a:ea typeface="Arial"/>
                <a:cs typeface="Arial"/>
              </a:rPr>
              <a:t>SQL 2023 系列继续提供关系数据库的标准语言基础；GQL 2024 则为属性图查询建立独立的国际标准入口。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2A9A95-BEFA-4502-BA79-4E770F96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3625"/>
            <a:ext cx="228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E9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31EACC-ABC8-4FED-AC47-E33A9FC2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28875"/>
            <a:ext cx="2076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技术族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3C83C1-434C-4892-88A9-2707437C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33625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E9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162ABD-7B0F-4BE6-9866-EA6B2481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28875"/>
            <a:ext cx="3505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现行代表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47114C-FE13-4F69-B5F8-910AAEFC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33625"/>
            <a:ext cx="5029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E9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896592-94DA-4C67-8F21-D1747F96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28875"/>
            <a:ext cx="48196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标准化关注点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E3C512-A1CA-4ED3-9817-1A8246F9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24175"/>
            <a:ext cx="228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41ABDF-875D-4651-8892-CBB493A1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19425"/>
            <a:ext cx="2076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SQL / ISO/IEC 9075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9D880D-D1CA-495A-A4DB-22EE444F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924175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953936-096E-4905-826F-F9CF33CE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019425"/>
            <a:ext cx="3505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Part 1, 2, 3, 4, 9, 14（2023）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EF783D-E136-467E-B298-A978EB64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24175"/>
            <a:ext cx="5029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82C0DB-7933-4A38-9C23-6AED4C45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19425"/>
            <a:ext cx="48196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框架、基础语法、CLI、存储模块、外部数据、SQL/XML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3F8902-784B-4539-96DA-ACF82B78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14725"/>
            <a:ext cx="228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CC8B86-1700-46F1-9A02-D3C2B953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09975"/>
            <a:ext cx="2076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GQL / ISO/IEC 39075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B67512-44B0-4166-A7CA-3E8EEC30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514725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151D39-208D-4E29-8B82-4B5A45F9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609975"/>
            <a:ext cx="3505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GQL（2024）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D1F9F3-A031-422D-8EE5-893E24C3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14725"/>
            <a:ext cx="5029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FD5CBD-B457-47BA-B929-FD1B28BD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09975"/>
            <a:ext cx="48196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图模式、图构造、图查询与图数据处理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917756-1A3D-409A-87D6-C745317A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05275"/>
            <a:ext cx="228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6732D2-9EB7-4363-AD7F-3FA4B099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00525"/>
            <a:ext cx="2076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SQL packages / 13249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96D9C1-F21C-442D-A052-D13DA0C0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105275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359EF7-4FCF-4208-94FB-C103BE32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200525"/>
            <a:ext cx="3505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空间、全文、图像、数据挖掘等历史包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A00DBB-1E2D-4267-A3B7-43736880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05275"/>
            <a:ext cx="5029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E79676-3F12-42EE-B4A0-8EFE539F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00525"/>
            <a:ext cx="48196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数据库内置能力的领域化扩展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795185-6AA5-4308-BDF6-955B0FC6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95825"/>
            <a:ext cx="228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F98219-D040-4253-893E-BEC40765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91075"/>
            <a:ext cx="2076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数据表示 / 11404、14957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4671D4-7DEC-440E-B207-5F9452DF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695825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BB19ED-16C4-4CFB-A15D-86C33B84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791075"/>
            <a:ext cx="3505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通用数据类型、数据值格式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9F7E94-291D-44AB-A7BA-D9C7D060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95825"/>
            <a:ext cx="5029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247BCD-D8CE-4AC2-8F6C-ADACB8C3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91075"/>
            <a:ext cx="48196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跨语言、跨系统的数据类型与格式一致性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01D8E0-9C3A-4F99-A757-408683EB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1029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D3B37F-AF94-4767-8919-B01A43E1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805DA7-8921-4DA6-BF6C-B15B469A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00700"/>
            <a:ext cx="1062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判断：关系 + 图并存，企业数据平台需要同时管理表语义、图语义与跨模型映射。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56A6FA-2BA8-4D61-877E-C9BA5752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B6472"/>
                </a:solidFill>
                <a:latin typeface="Arial"/>
                <a:ea typeface="Arial"/>
                <a:cs typeface="Arial"/>
              </a:rPr>
              <a:t>数据国际标准分析  ·  06</a:t>
            </a:r>
          </a:p>
        </p:txBody>
      </p:sp>
    </p:spTree>
    <p:extLst>
      <p:ext uri="{BB962C8B-B14F-4D97-AF65-F5344CB8AC3E}">
        <p14:creationId xmlns:p14="http://schemas.microsoft.com/office/powerpoint/2010/main" val="15659663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41525B-FFA4-4C79-9DE9-5788A559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7DFF"/>
                </a:solidFill>
                <a:latin typeface="Arial"/>
                <a:ea typeface="Arial"/>
                <a:cs typeface="Arial"/>
              </a:rPr>
              <a:t>国际标准分析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4615FB-4C6F-442C-BB3B-EA952268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SC32 的新方向从“如何存”转向“如何负责任地使用数据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7D8D41-74F1-4D75-8194-36FD8857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86FC71-BA21-4C0B-9527-8CB0E743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11827"/>
                </a:solidFill>
                <a:latin typeface="Arial"/>
                <a:ea typeface="Arial"/>
                <a:cs typeface="Arial"/>
              </a:rPr>
              <a:t>2024 年的数据使用系列与制定中的可信使用、组织评估和高级分析函数，显示标准重心正在上移到数据使用治理。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1B1C78-2AED-41BA-922D-AEB99DE5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Published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DFB0BE-C343-466A-9C9C-06CEAE27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5270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18EA98-5A47-4FAE-A943-AEC891AD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527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20DB56-3F44-48C8-B313-7DDC5BFE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95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D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2102BA-C11D-43D1-8F51-D710832F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765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Under dev.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9E1F55-C180-49C3-9308-EE62B1A0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2420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354CC3-B5AB-4B57-A6D5-3F1FE992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242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AABBAE-4339-481A-B70C-80E54CB1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670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9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9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67E2CC-7BDB-4C06-807C-D517D02B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数据使用主线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6023E0-A87C-4455-B7B4-ABA9D146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 ISO/IEC 5207: 术语与用例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D78D52-5DA1-4721-BFCE-4E08C358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62475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 ISO/IEC 5212: 数据使用指导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23C1B1-609B-480F-A428-29459430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86325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 ISO/IEC CD 24927: 组织中的数据使用评估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BE5330-4E58-4944-A813-4FDAF2B4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0175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 ISO/IEC CD 25985: 可信数据使用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499B73-CDC6-49AF-BD53-D87E413D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34025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 ISO/IEC CD 29075-1/-2: 高级分析函数库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7A0249-FB80-45CD-AAB7-B7210AEF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3429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24F1CC-8C53-456C-81A9-E1F50D57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4E9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4E93"/>
                </a:solidFill>
                <a:latin typeface="Arial"/>
                <a:ea typeface="Arial"/>
                <a:cs typeface="Arial"/>
              </a:rPr>
              <a:t>对企业的含义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AA910B-5826-4E61-A7EF-D603F958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266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042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827"/>
                </a:solidFill>
                <a:latin typeface="Arial"/>
                <a:ea typeface="Arial"/>
                <a:cs typeface="Arial"/>
              </a:rPr>
              <a:t>数据治理不应只停留在“有没有目录”。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827"/>
                </a:solidFill>
                <a:latin typeface="Arial"/>
                <a:ea typeface="Arial"/>
                <a:cs typeface="Arial"/>
              </a:rPr>
              <a:t>还要回答：</a:t>
            </a:r>
          </a:p>
          <a:p xmlns:a="http://schemas.openxmlformats.org/drawingml/2006/main">
            <a:pPr algn="l">
              <a:defRPr sz="135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谁可以用</a:t>
            </a:r>
          </a:p>
          <a:p xmlns:a="http://schemas.openxmlformats.org/drawingml/2006/main">
            <a:pPr algn="l">
              <a:defRPr sz="135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用于什么目的</a:t>
            </a:r>
          </a:p>
          <a:p xmlns:a="http://schemas.openxmlformats.org/drawingml/2006/main">
            <a:pPr algn="l">
              <a:defRPr sz="135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是否可审计</a:t>
            </a:r>
          </a:p>
          <a:p xmlns:a="http://schemas.openxmlformats.org/drawingml/2006/main">
            <a:pPr algn="l">
              <a:defRPr sz="135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结果如何被复现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B165C5-79B5-4B8B-BE3F-CD79655C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B6472"/>
                </a:solidFill>
                <a:latin typeface="Arial"/>
                <a:ea typeface="Arial"/>
                <a:cs typeface="Arial"/>
              </a:rPr>
              <a:t>数据国际标准分析  ·  07</a:t>
            </a:r>
          </a:p>
        </p:txBody>
      </p:sp>
    </p:spTree>
    <p:extLst>
      <p:ext uri="{BB962C8B-B14F-4D97-AF65-F5344CB8AC3E}">
        <p14:creationId xmlns:p14="http://schemas.microsoft.com/office/powerpoint/2010/main" val="42253464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F96EFB-2765-4242-B543-AFEEF22E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7DFF"/>
                </a:solidFill>
                <a:latin typeface="Arial"/>
                <a:ea typeface="Arial"/>
                <a:cs typeface="Arial"/>
              </a:rPr>
              <a:t>国际标准分析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82BDF7-06B0-47B3-8FAA-8C1CE337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SC38 先建立云与分布式平台的共同语言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BF1AF1-2453-424D-8AD5-615E5EFA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DBA4EE-188F-417B-B45A-AF599E08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11827"/>
                </a:solidFill>
                <a:latin typeface="Arial"/>
                <a:ea typeface="Arial"/>
                <a:cs typeface="Arial"/>
              </a:rPr>
              <a:t>SC38 的基础层已经从“云是什么”演进到多云、平台分类、平台能力与数字主权。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8031D1-B8E9-479D-ABEC-86EF6FE6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3625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E9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881DCE-5C41-41CC-A914-EE5A0941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28875"/>
            <a:ext cx="1981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层次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17A444-CBE6-46D7-81CE-C85DCAFC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333625"/>
            <a:ext cx="4000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E9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6F6ADF-4AD8-433D-82FF-8481923F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28875"/>
            <a:ext cx="3790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代表标准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6D39B0-E323-4118-BE91-35585840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33625"/>
            <a:ext cx="4838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E9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1ECEFA-348F-4315-8EAE-CA32267B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28875"/>
            <a:ext cx="4629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分析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98B227-3C43-4FA4-9AF8-CB171312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05125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EDC08D-334F-46AC-B47F-085BB11E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0375"/>
            <a:ext cx="1981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词汇 / 概念 / 架构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18A0AC-412D-4949-BE4A-79059773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905125"/>
            <a:ext cx="4000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88B5F3-08EB-499C-877F-E32C488A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000375"/>
            <a:ext cx="3790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ISO/IEC 22123-1/-2/-3:2023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F25291-B7EA-430F-B25B-33758900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05125"/>
            <a:ext cx="4838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11F497-2CB0-48A1-9110-CA695D6D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00375"/>
            <a:ext cx="4629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当前基础三件套；替代撤销的 17788 / 17789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66F8FB-8605-4E55-A4E8-AAEFBDEF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76625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66DAE1-F881-4EDC-8E06-CACFFAA9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71875"/>
            <a:ext cx="1981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数字平台分类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E66A41-8179-4074-8F87-3F9E8BAC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476625"/>
            <a:ext cx="4000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695F5C-966C-4B88-ADD3-90D1C919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571875"/>
            <a:ext cx="3790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ISO/IEC TS 5928:2023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E1C960-C634-41B1-85A5-AEEA3BAE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76625"/>
            <a:ext cx="4838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375D48-0B27-4F0A-A707-D4361EC8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71875"/>
            <a:ext cx="4629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统一平台一词在云与分布式系统中的含义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C8CFDD-130D-4C8F-B846-A45FE873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48125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F2603B-1280-421F-BD49-97DF5B7C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43375"/>
            <a:ext cx="1981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平台能力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705A08-4790-4033-AE87-8D229415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048125"/>
            <a:ext cx="4000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656B60-78DD-4149-B63A-1C41584E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143375"/>
            <a:ext cx="3790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ISO/IEC TS 7339:2024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00CA55-7C11-49EF-95DD-0C650D40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48125"/>
            <a:ext cx="4838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6B38AE-9F6C-41AF-B055-7C533490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43375"/>
            <a:ext cx="4629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描述平台能力类型与 PaaS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A2663C-3A11-4A15-8508-4FF8A80E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9625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5F1E48-9057-4C92-91C3-4DE68064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14875"/>
            <a:ext cx="1981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多云 / 主权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97DB8E-B9FF-40CF-854B-E89C4211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619625"/>
            <a:ext cx="4000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8781B8-8067-46DF-8CE2-1D2B4DBC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714875"/>
            <a:ext cx="3790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ISO/IEC 5140:2024、TS 10866:2024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2EB8F6-E5AF-439B-B9BF-034C2D5A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19625"/>
            <a:ext cx="4838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E8BE46-1A25-49EF-A00E-7AC7BE2E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14875"/>
            <a:ext cx="4629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把跨云使用与组织自主性纳入标准语言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991ECB-2366-4E8F-9F9D-A8145975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10299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42926A5-5763-46C4-AF73-DC3561BE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228C445-A2E7-4F40-B380-4AA2A77D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00700"/>
            <a:ext cx="1062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SC38 的变化：从基础设施标准，转向平台生态与组织控制权标准。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E309E5-521D-41FD-9D51-1818A5DA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B6472"/>
                </a:solidFill>
                <a:latin typeface="Arial"/>
                <a:ea typeface="Arial"/>
                <a:cs typeface="Arial"/>
              </a:rPr>
              <a:t>数据国际标准分析  ·  08</a:t>
            </a:r>
          </a:p>
        </p:txBody>
      </p:sp>
    </p:spTree>
    <p:extLst>
      <p:ext uri="{BB962C8B-B14F-4D97-AF65-F5344CB8AC3E}">
        <p14:creationId xmlns:p14="http://schemas.microsoft.com/office/powerpoint/2010/main" val="78745407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D9117F-F7C2-40DC-A295-B693FF07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7DFF"/>
                </a:solidFill>
                <a:latin typeface="Arial"/>
                <a:ea typeface="Arial"/>
                <a:cs typeface="Arial"/>
              </a:rPr>
              <a:t>国际标准分析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332AEA-AB5F-422C-9838-A0F138FD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SC38 的数据主线：从数据流与分类，到共享协议与处理策略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2A621E-D932-4B3F-B3CD-F3E0D35E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8C18CC-3FAB-40EB-B62F-4A0BDDDD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11827"/>
                </a:solidFill>
                <a:latin typeface="Arial"/>
                <a:ea typeface="Arial"/>
                <a:cs typeface="Arial"/>
              </a:rPr>
              <a:t>SC38 直接触及数据跨设备、云服务与分布式平台的流动；其标准更像“数据运行环境”的治理层。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6B61F0-D07A-4057-A498-F85F4697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3625"/>
            <a:ext cx="238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E9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6DBF23-1E3F-43DD-89D0-6CD8553F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28875"/>
            <a:ext cx="2171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标准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3A5487-524F-4026-BF03-DE6E8C11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33625"/>
            <a:ext cx="4095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E9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9E2F87-C60B-4D2B-B429-0387DD78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28875"/>
            <a:ext cx="3886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解决的问题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16E87A-6386-4753-A488-95FDCDFB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33625"/>
            <a:ext cx="45529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E9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E1114C-2F3E-4D59-AE11-5AD0EBA0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28875"/>
            <a:ext cx="4343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落地关注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492C2E-7BCF-4C7C-B6CE-897BEB67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05125"/>
            <a:ext cx="238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F3B209-7F2B-461E-93F3-74F27F14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0375"/>
            <a:ext cx="2171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ISO/IEC 19944-1/-2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760C07-EB2E-4C26-9768-F3DE9EDF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05125"/>
            <a:ext cx="4095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E4F734-08FA-486F-BB30-65334BD7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00375"/>
            <a:ext cx="3886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数据流、数据类别、数据使用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5A7054-2E03-40BA-B2EB-E9947B5C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05125"/>
            <a:ext cx="45529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034C2C-CF75-4066-BB18-97019F84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00375"/>
            <a:ext cx="4343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识别数据在设备—云—服务间如何移动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73ADA7-ED11-4F91-8158-B54E42C7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76625"/>
            <a:ext cx="238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BB1554-3CC6-4313-90D1-D9BA8077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71875"/>
            <a:ext cx="2171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ISO/IEC 22624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8D646E-B2F2-4270-83D9-885CE5B7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476625"/>
            <a:ext cx="4095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74F0B9-1EE8-42AD-89B4-E7E74B2A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571875"/>
            <a:ext cx="3886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基于分类的数据处理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D0540C-41F8-4845-8F0B-9AC686FE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76625"/>
            <a:ext cx="45529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BA45EE-0A0C-4D5A-A44D-86E041D3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571875"/>
            <a:ext cx="4343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按数据类别设计云服务处理规则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83B2B3-BB55-45A2-911D-3D9DBB1C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48125"/>
            <a:ext cx="238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D377C8-DEFB-4DE2-9555-A8ABF48B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43375"/>
            <a:ext cx="2171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ISO/IEC 23751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410834-FD23-44F6-9079-10BE6A92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048125"/>
            <a:ext cx="4095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A95CDD-8030-4107-A0BE-6DBB7024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143375"/>
            <a:ext cx="3886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数据共享协议（DSA）框架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2A5D1D-9C88-4234-AA6D-97A4781E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048125"/>
            <a:ext cx="45529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10F4DD-F9EC-41DC-BE78-E7EDB41E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143375"/>
            <a:ext cx="4343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把参与方、目的、责任、约束写进协议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D0EA0E-1B0A-41C3-8B12-755F168B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9625"/>
            <a:ext cx="238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54DC69-6AA9-482D-BCBA-2CA10F43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14875"/>
            <a:ext cx="2171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ISO/IEC 19941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3C5DA7-F1C1-4BEF-9AE3-8AA3BFBD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619625"/>
            <a:ext cx="4095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98BB96-CE6B-4270-86BC-816D3AB5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714875"/>
            <a:ext cx="3886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云互操作与可移植性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B728B0-A00B-45CB-8113-3950E9C2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619625"/>
            <a:ext cx="45529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C9D910-3CA3-4AA6-824B-C41E614E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714875"/>
            <a:ext cx="4343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降低跨云迁移与切换障碍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BB22E9-6953-4FC2-ABEA-9986A551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1029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86B44A-C5AD-426D-BEF9-3292BBED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4E9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4E93"/>
                </a:solidFill>
                <a:latin typeface="Arial"/>
                <a:ea typeface="Arial"/>
                <a:cs typeface="Arial"/>
              </a:rPr>
              <a:t>关键判断：SC32 负责“数据对象可理解”，SC38 负责“数据在平台中可被安全、可控地使用”。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CCA10B-969D-4C49-8144-127FCDE1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B6472"/>
                </a:solidFill>
                <a:latin typeface="Arial"/>
                <a:ea typeface="Arial"/>
                <a:cs typeface="Arial"/>
              </a:rPr>
              <a:t>数据国际标准分析  ·  09</a:t>
            </a:r>
          </a:p>
        </p:txBody>
      </p:sp>
    </p:spTree>
    <p:extLst>
      <p:ext uri="{BB962C8B-B14F-4D97-AF65-F5344CB8AC3E}">
        <p14:creationId xmlns:p14="http://schemas.microsoft.com/office/powerpoint/2010/main" val="43658018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71D9EA-6DCD-4EE7-B1A4-9FB1CAED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7DFF"/>
                </a:solidFill>
                <a:latin typeface="Arial"/>
                <a:ea typeface="Arial"/>
                <a:cs typeface="Arial"/>
              </a:rPr>
              <a:t>国际标准分析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794BE8-495D-4A71-897C-820DF4C1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SC38 的下一波重点是数据空间、多云管理、边缘与 AI 服务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8B9C5D-BD97-4EF8-8666-C4C7F218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CF980A-6EBA-4E75-816A-8DDBD3AFA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11827"/>
                </a:solidFill>
                <a:latin typeface="Arial"/>
                <a:ea typeface="Arial"/>
                <a:cs typeface="Arial"/>
              </a:rPr>
              <a:t>目录中的制定中项目，集中在跨组织数据空间与分布式运行的“协作控制面”。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17BFA2-59BD-4F99-BCFB-F4A5A3B4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114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A0522B-2661-4B6A-B1C5-FAF2B312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数据空间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1E4CC9-D050-498B-A55C-0875BAC3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1935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827"/>
                </a:solidFill>
                <a:latin typeface="Arial"/>
                <a:ea typeface="Arial"/>
                <a:cs typeface="Arial"/>
              </a:rPr>
              <a:t>20151-1 FDIS：概念与特征；20151-2 AWI：信任框架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AE8F89-7FDF-4A2A-A38F-6641E84C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86100"/>
            <a:ext cx="114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E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2C72F0-4A08-4249-B3A2-2888A933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多云管理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F311CD-4BE9-47E1-ADB3-B0AC6B13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242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827"/>
                </a:solidFill>
                <a:latin typeface="Arial"/>
                <a:ea typeface="Arial"/>
                <a:cs typeface="Arial"/>
              </a:rPr>
              <a:t>10822-1 已发布；-2 身份、-3 编排、-4 监控制定中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59DED6-34E7-4A81-A82E-40A104A1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90950"/>
            <a:ext cx="114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9B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26DD86-3C52-46F3-B86C-762D5B63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边缘网络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649BB7-AB30-40F9-A460-F2DA39D1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82905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827"/>
                </a:solidFill>
                <a:latin typeface="Arial"/>
                <a:ea typeface="Arial"/>
                <a:cs typeface="Arial"/>
              </a:rPr>
              <a:t>19274 DIS：云、边缘、多云与联邦云的网络基础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130559-54A8-4F9C-B686-383532F2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114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37E329-AB12-4F97-AD0E-CC5349E4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339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数字主权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D0DB1D-8F85-4828-9977-0ECD9205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339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827"/>
                </a:solidFill>
                <a:latin typeface="Arial"/>
                <a:ea typeface="Arial"/>
                <a:cs typeface="Arial"/>
              </a:rPr>
              <a:t>10866：组织自主性与数字主权框架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0D657E-CBDA-4894-9CAD-B32ACDDF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00650"/>
            <a:ext cx="114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06C4FC-AB4A-4176-B852-B209639D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AI 服务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12C814-9C72-49CF-B3BA-B5769E40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3875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827"/>
                </a:solidFill>
                <a:latin typeface="Arial"/>
                <a:ea typeface="Arial"/>
                <a:cs typeface="Arial"/>
              </a:rPr>
              <a:t>26191 AWI：云计算对 AI 服务的支持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2FE91E-72DC-406E-A4A0-28182C24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11029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1F05DA-4D47-4C16-9EFB-47CA6491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6687CB-7A7A-40A1-ABEA-FA26866D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24575"/>
            <a:ext cx="10629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趋势：标准化对象从单一云服务，升级为跨组织、跨平台的数据协作网络。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128CC0-B00B-4814-ABBF-0C16BA9D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B6472"/>
                </a:solidFill>
                <a:latin typeface="Arial"/>
                <a:ea typeface="Arial"/>
                <a:cs typeface="Arial"/>
              </a:rPr>
              <a:t>数据国际标准分析  ·  10</a:t>
            </a:r>
          </a:p>
        </p:txBody>
      </p:sp>
    </p:spTree>
    <p:extLst>
      <p:ext uri="{BB962C8B-B14F-4D97-AF65-F5344CB8AC3E}">
        <p14:creationId xmlns:p14="http://schemas.microsoft.com/office/powerpoint/2010/main" val="113357028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9ACF9F-33D9-46C7-B03B-F4A86E10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7DFF"/>
                </a:solidFill>
                <a:latin typeface="Arial"/>
                <a:ea typeface="Arial"/>
                <a:cs typeface="Arial"/>
              </a:rPr>
              <a:t>国际标准分析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729BCE-347E-4960-87FC-65EAEDE8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把 SC32 与 SC38 放进一条企业数据架构链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34DCB1-E7C1-4181-8896-825958BE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ED1DA-34A1-4562-ADE2-7A2BE687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11827"/>
                </a:solidFill>
                <a:latin typeface="Arial"/>
                <a:ea typeface="Arial"/>
                <a:cs typeface="Arial"/>
              </a:rPr>
              <a:t>企业不应按委员会采购标准，而应按数据生命周期与控制点组合标准。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3C19E4-08A5-4AB0-9FE8-6288E410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1905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846E3B-441C-4963-9463-5F8B82D3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7655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4E9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4E93"/>
                </a:solidFill>
                <a:latin typeface="Arial"/>
                <a:ea typeface="Arial"/>
                <a:cs typeface="Arial"/>
              </a:rPr>
              <a:t>SC32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912DCE-820C-434B-8C5F-DB7E3356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定义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056F11-CEBF-4F54-A2E4-ADC81DCE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152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472"/>
                </a:solidFill>
                <a:latin typeface="Arial"/>
                <a:ea typeface="Arial"/>
                <a:cs typeface="Arial"/>
              </a:rPr>
              <a:t>概念、数据元素、类型、标识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FE5183-9EC6-4DF4-9DE4-8FBC37AA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5242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E7D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E7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091762-F056-4DEA-86E8-0ACDECEB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67000"/>
            <a:ext cx="1905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F86B53-D101-4DBE-A827-973B43B1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7655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7DFF"/>
                </a:solidFill>
                <a:latin typeface="Arial"/>
                <a:ea typeface="Arial"/>
                <a:cs typeface="Arial"/>
              </a:rPr>
              <a:t>SC32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CF9720-0DE8-4298-9CFC-52E17F5E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337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注册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55F5F0-B7F2-48B1-87A8-23021983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00500"/>
            <a:ext cx="152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472"/>
                </a:solidFill>
                <a:latin typeface="Arial"/>
                <a:ea typeface="Arial"/>
                <a:cs typeface="Arial"/>
              </a:rPr>
              <a:t>元数据、数据集、模型、词表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E204E6-831F-4CB8-B753-2834C2D7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242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E7D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E7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97CD96-0384-4175-B059-0B7B8AAD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67000"/>
            <a:ext cx="1905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DEF05F-B380-4825-B7D3-329E4FBA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7655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7DFF"/>
                </a:solidFill>
                <a:latin typeface="Arial"/>
                <a:ea typeface="Arial"/>
                <a:cs typeface="Arial"/>
              </a:rPr>
              <a:t>SC32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844AA3-AEF3-4F22-93F4-82273540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337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交换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3B3208-818F-41F2-99E4-29CCD080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00500"/>
            <a:ext cx="152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472"/>
                </a:solidFill>
                <a:latin typeface="Arial"/>
                <a:ea typeface="Arial"/>
                <a:cs typeface="Arial"/>
              </a:rPr>
              <a:t>SQL、GQL、绑定、格式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935ED7-BB0F-485D-B449-196C43A4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242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E7D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E7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59788E-3C7C-410D-9A44-E3EA1C5C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67000"/>
            <a:ext cx="1905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3BBF48-D8F7-44F7-9EC0-BE9A9778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7655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C9B7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C9B75"/>
                </a:solidFill>
                <a:latin typeface="Arial"/>
                <a:ea typeface="Arial"/>
                <a:cs typeface="Arial"/>
              </a:rPr>
              <a:t>SC38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F5F2FC-CE66-4C2A-A476-18CFA41F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运行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EB7C97-23A1-440C-9F7C-2786182E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00500"/>
            <a:ext cx="152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472"/>
                </a:solidFill>
                <a:latin typeface="Arial"/>
                <a:ea typeface="Arial"/>
                <a:cs typeface="Arial"/>
              </a:rPr>
              <a:t>云、边缘、多云、可移植性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59B36F-054E-471C-BF77-4BA0B4AF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5242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E7D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E7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68F8AC-D169-4756-BC37-E777D796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0"/>
            <a:ext cx="1905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7A7381-2D66-4C7D-B329-52CDFD6D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7655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9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9000"/>
                </a:solidFill>
                <a:latin typeface="Arial"/>
                <a:ea typeface="Arial"/>
                <a:cs typeface="Arial"/>
              </a:rPr>
              <a:t>SC38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3CECC1-8276-49AC-AE10-76BD37FC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337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共享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DC76DC-05AE-4435-834E-42BBBB14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00500"/>
            <a:ext cx="152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472"/>
                </a:solidFill>
                <a:latin typeface="Arial"/>
                <a:ea typeface="Arial"/>
                <a:cs typeface="Arial"/>
              </a:rPr>
              <a:t>数据流、DSA、数据空间、主权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96D2DE-027D-4800-A873-CEC3F16C2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110299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449541-5277-427D-9242-2AD53CF1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8B8A9A-B3A8-40D2-88D6-3C941F75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48325"/>
            <a:ext cx="1062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管理层看的是“可控数据流”，技术团队落的是“可复用标准对象”。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457E61-F796-454E-8A01-5177B0DC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B6472"/>
                </a:solidFill>
                <a:latin typeface="Arial"/>
                <a:ea typeface="Arial"/>
                <a:cs typeface="Arial"/>
              </a:rPr>
              <a:t>数据国际标准分析  ·  11</a:t>
            </a:r>
          </a:p>
        </p:txBody>
      </p:sp>
    </p:spTree>
    <p:extLst>
      <p:ext uri="{BB962C8B-B14F-4D97-AF65-F5344CB8AC3E}">
        <p14:creationId xmlns:p14="http://schemas.microsoft.com/office/powerpoint/2010/main" val="117628755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EAA7D7-C3C6-456C-ADA6-D330690D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7DFF"/>
                </a:solidFill>
                <a:latin typeface="Arial"/>
                <a:ea typeface="Arial"/>
                <a:cs typeface="Arial"/>
              </a:rPr>
              <a:t>国际标准分析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063506-BCCE-45F6-8DEB-58A341772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对企业数据平台的四个直接影响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4657C9-61DA-4FBD-8712-42EB8074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4D6BFC-FD57-42E0-A64E-B7B87247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2476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E9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84C142-CE42-4273-8F20-124DF270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09800"/>
            <a:ext cx="226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影响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D7A9D2-5DCE-4FB9-8288-A1D0B56B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14550"/>
            <a:ext cx="41910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E9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39BFC5-1086-4953-97A3-F256B334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09800"/>
            <a:ext cx="3981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标准抓手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4D5BAC-34D4-4AD3-B969-4579535F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14550"/>
            <a:ext cx="43624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E9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B0F37A-B817-40A4-9B65-B5C76BC9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09800"/>
            <a:ext cx="4152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优先动作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709985-77FA-41DF-BC4D-047CAD0A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52725"/>
            <a:ext cx="2476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83E028-E1E6-4F73-B7FA-BDF8A736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47975"/>
            <a:ext cx="226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数据产品可发现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C79BCF-879F-4879-A8C5-0E8476CC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52725"/>
            <a:ext cx="41910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1C953D-CEF3-4BA1-BD2E-323B4613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47975"/>
            <a:ext cx="3981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11179-30/-31/-33/-34/-35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DDA6B6-96B9-410F-9555-83B4B61A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52725"/>
            <a:ext cx="43624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B5BEC5-3E90-4F43-972A-0F921CBE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47975"/>
            <a:ext cx="4152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建立数据集、模型与可计算数据注册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F0FD48-CD4B-460A-AFA1-433EAF90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2476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58168F-8E79-4FA5-AF1C-FECD9196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86150"/>
            <a:ext cx="226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跨系统语义一致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28C88A-B750-4A32-A203-C4C7E631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90900"/>
            <a:ext cx="41910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0480E7-3ABA-4E8C-9634-AC3CFDC4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86150"/>
            <a:ext cx="3981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5394、11179、19763、21838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3B48BE-E458-422F-AF9D-2FAE064E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90900"/>
            <a:ext cx="43624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F160AD-3F55-404D-B392-BDDB7BD2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86150"/>
            <a:ext cx="4152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统一概念系统、命名、代码表与映射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279DBD-2920-4335-9406-3F1650E6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29075"/>
            <a:ext cx="2476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F1D76A-90FD-4DEB-9475-08F40AD9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24325"/>
            <a:ext cx="226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多云数据可控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C4920A-1943-45E9-B25B-F9177C42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029075"/>
            <a:ext cx="41910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4AD564-13FB-42B3-ACA0-3390BF02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124325"/>
            <a:ext cx="3981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19944、22624、23751、19941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42E5E3-ACD0-4BE1-88AD-66751EE4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29075"/>
            <a:ext cx="43624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DE52CA-9D61-4716-922F-5B69A125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124325"/>
            <a:ext cx="4152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把数据类别、用途、共享责任写入协议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68336B-CFB0-4B5A-8055-819CDC30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2476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97E213-975C-45B3-91BF-94285155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0"/>
            <a:ext cx="226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分析与 AI 可复现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474EAB-F95F-486F-B6DA-095CD7D4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67250"/>
            <a:ext cx="41910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5C53B8-8D7E-4C96-B048-C76F7D60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762500"/>
            <a:ext cx="3981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5207、5212、24927、25985、29075、39075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EF22D8-3E87-4A59-AEFE-90A6B4BB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67250"/>
            <a:ext cx="43624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6251DA-7B2C-4795-B1F0-8DF0DEF5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762500"/>
            <a:ext cx="4152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记录使用目的、函数、图 / 表查询与审计轨迹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09D828-62F9-4B28-899F-22D0EB37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0299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58025B-D687-40DB-904E-709E43E4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2452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优先级原则：先把“对象”和“责任”标准化，再扩展平台和算法能力。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8FEE39-FA60-4A1D-9585-8E95D3F3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B6472"/>
                </a:solidFill>
                <a:latin typeface="Arial"/>
                <a:ea typeface="Arial"/>
                <a:cs typeface="Arial"/>
              </a:rPr>
              <a:t>数据国际标准分析  ·  12</a:t>
            </a:r>
          </a:p>
        </p:txBody>
      </p:sp>
    </p:spTree>
    <p:extLst>
      <p:ext uri="{BB962C8B-B14F-4D97-AF65-F5344CB8AC3E}">
        <p14:creationId xmlns:p14="http://schemas.microsoft.com/office/powerpoint/2010/main" val="69980629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6C3200-86A7-48BA-914C-335589B2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7DFF"/>
                </a:solidFill>
                <a:latin typeface="Arial"/>
                <a:ea typeface="Arial"/>
                <a:cs typeface="Arial"/>
              </a:rPr>
              <a:t>国际标准分析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916C9D-4CDA-4CE8-9C11-3B2A2AAC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建议的落地路线：先建语义底座，再接云上数据流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4FF1E4-9622-471F-BDA5-6ACB5E64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F60804-34BE-4643-AF34-B67D53A1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52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63B9D7-5DA9-48C5-8D77-F0DDB9B7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0–3个月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DAA595-23C0-40ED-B033-8DD67307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1336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盘点与版本基线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5A2D9F-B965-4036-8989-668CC66B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447925"/>
            <a:ext cx="828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472"/>
                </a:solidFill>
                <a:latin typeface="Arial"/>
                <a:ea typeface="Arial"/>
                <a:cs typeface="Arial"/>
              </a:rPr>
              <a:t>按 Published / Under development / Withdrawn 清理标准清单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CED1F3-2041-4845-8BC0-077B812A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0510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37C30B-615E-458C-BC1F-ED4FE5FB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90850"/>
            <a:ext cx="152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1BEBCC-FC00-41BA-87DA-B26FB791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623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3–6个月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855D47-FDA3-4F0D-A7B6-4FD36E92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289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元数据与概念系统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968FC2-2009-42AA-85E9-6AB13434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343275"/>
            <a:ext cx="828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472"/>
                </a:solidFill>
                <a:latin typeface="Arial"/>
                <a:ea typeface="Arial"/>
                <a:cs typeface="Arial"/>
              </a:rPr>
              <a:t>落地 11179、概念系统、数据集与模型注册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D8CC41-420C-4DCE-B8E1-B0A21154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0045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65AD2D-F2D0-4ED6-B5AE-D53239C3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152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4F2541-1C2F-4D3E-86C4-1E844977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5765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6–12个月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806D08-52B3-47D1-80AB-9CAF3483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243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数据交换与平台接入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EB2E60-920B-4E79-A2EF-5EBEF779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238625"/>
            <a:ext cx="828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472"/>
                </a:solidFill>
                <a:latin typeface="Arial"/>
                <a:ea typeface="Arial"/>
                <a:cs typeface="Arial"/>
              </a:rPr>
              <a:t>用 SQL / GQL / API 绑定与云数据流标准建立接口契约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7A6A7F-9138-4A0B-BACF-413963A1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9580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12084E-7E84-45E1-A1C3-E6F04832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152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E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2B0EB9-36F9-4878-B8C7-6FCDEBEE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12个月以后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BB7D12-50E0-4152-8821-545842CF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8196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跨组织协作与可信使用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2E360E-9739-4F70-81CD-F1382A82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133975"/>
            <a:ext cx="828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472"/>
                </a:solidFill>
                <a:latin typeface="Arial"/>
                <a:ea typeface="Arial"/>
                <a:cs typeface="Arial"/>
              </a:rPr>
              <a:t>试点 DSA、数据空间、多云切换与数据使用审计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95BBB0-CC95-475F-B130-BC18571F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029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870E68-B2E3-4191-AC56-7C499D54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C1FE88-F00F-490D-B168-916264AC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629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不要把“标准采用”理解为一次性认证；它更像数据平台的持续版本治理。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8FD1DE-9A43-4061-BB86-2378D63E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B6472"/>
                </a:solidFill>
                <a:latin typeface="Arial"/>
                <a:ea typeface="Arial"/>
                <a:cs typeface="Arial"/>
              </a:rPr>
              <a:t>数据国际标准分析  ·  13</a:t>
            </a:r>
          </a:p>
        </p:txBody>
      </p:sp>
    </p:spTree>
    <p:extLst>
      <p:ext uri="{BB962C8B-B14F-4D97-AF65-F5344CB8AC3E}">
        <p14:creationId xmlns:p14="http://schemas.microsoft.com/office/powerpoint/2010/main" val="46254692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2570E84-8B15-4B39-9783-B0AA713E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7DFF"/>
                </a:solidFill>
                <a:latin typeface="Arial"/>
                <a:ea typeface="Arial"/>
                <a:cs typeface="Arial"/>
              </a:rPr>
              <a:t>国际标准分析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1B1362-2082-43F6-8ACC-F6A822CF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附录：SC32 数据相关标准按系列归并的当前清单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F46EDD-731B-4DF8-92BF-B79983A3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2DC333-7E37-483B-AAFF-FC5DDA22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472"/>
                </a:solidFill>
                <a:latin typeface="Arial"/>
                <a:ea typeface="Arial"/>
                <a:cs typeface="Arial"/>
              </a:rPr>
              <a:t>口径：覆盖 ISO 官方 SC32 目录中仍有现行版本或制定中项目的主要数据主线；同系列的撤销历史版本不重复展开。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339B6E-47F9-4A9E-B18C-C8E64329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E9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BC05E6-15B8-482B-A3A0-DCA16FC2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171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主题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6CC6D7-9792-498F-8B06-1B5F1A7D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266950"/>
            <a:ext cx="581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E9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6FC019-4EA1-4910-BB14-CFBDB150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62200"/>
            <a:ext cx="5600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系列 / 代表编号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B0DF58-051D-4A38-BDD1-7576FD01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66950"/>
            <a:ext cx="2838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E9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3C1792-B63B-4051-9344-351A2C5A3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62200"/>
            <a:ext cx="2628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状态特征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FDD400-0482-425D-A6DB-1AF3BA0F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599955-6CBF-427B-90A0-8FE3EBFE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76550"/>
            <a:ext cx="2171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语义 / 标识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277525-095D-473C-9393-24C5557C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81300"/>
            <a:ext cx="581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48559B-3251-4EC7-BC6C-3767EA4E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76550"/>
            <a:ext cx="5600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2382-4；5207；5212；5218；5394；6523-1/-2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6B39B3-8063-4591-A15A-284FF056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81300"/>
            <a:ext cx="2838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D64EDD-6346-4B08-9FB5-A4592BF4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76550"/>
            <a:ext cx="2628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现行 + 2024/2025 更新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32AB30-E9EB-42F4-A40D-CA69F325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E85F75-C4F5-46A8-9670-1B3C3E7B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90900"/>
            <a:ext cx="2171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元数据注册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223B32-0DA8-41C3-A42F-C07CD8F9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95650"/>
            <a:ext cx="581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CF4275-2782-4674-8C37-1109DB9D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390900"/>
            <a:ext cx="5600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11179-1/-2/-3/-4/-5/-6；11179-30/-31/-32/-33/-34/-35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5DE7F3-D258-4C5F-93F7-BCF7767B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95650"/>
            <a:ext cx="2838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857519-2108-40DF-AA3B-D862AF5B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90900"/>
            <a:ext cx="2628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2023–2024 主线；部分制定中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D2039F-B442-4FC1-B37F-19888E1B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905435-A087-44C2-B3E3-08D372B3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2171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互操作 / 元模型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00B2A5-2C64-4E0F-A982-5C597243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810000"/>
            <a:ext cx="581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8FBCDB-97DE-43B8-9011-A3058F43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05250"/>
            <a:ext cx="5600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19763；19583；20944；21838；24707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1C62D5-DE59-4934-A886-ED6BF6B7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10000"/>
            <a:ext cx="2838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375108-96F8-47A7-A1C5-18581AFA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905250"/>
            <a:ext cx="2628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现行 + 持续扩展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A1F70A-0D79-430A-B86C-FE4FF584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43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7344E6-48ED-4B73-9E1F-E70FCD2F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171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数据库 / 查询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3BEFFF-CBF9-4D85-A0E0-159B556C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324350"/>
            <a:ext cx="581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652DD6-0098-4C16-A6F4-3A110218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419600"/>
            <a:ext cx="5600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9075；13249；11404；39075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8CA01C-B79D-4D74-B11B-F75975D3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24350"/>
            <a:ext cx="2838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1653A0-5B11-457D-8940-ADB03940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19600"/>
            <a:ext cx="2628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SQL 2023、GQL 2024；持续修订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1946E8-C759-47CD-B3D9-2C39374B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387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74660F-1946-4006-8AFC-D43DA96A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33950"/>
            <a:ext cx="2171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数据交换 / 业务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0FDE89-288B-45C2-9FAE-12BE09F5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838700"/>
            <a:ext cx="581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6AC758-0AEA-43D7-984D-F953C163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933950"/>
            <a:ext cx="5600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13238-3；14957；14662；15944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32047D-530C-43B8-85C0-0182C235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38700"/>
            <a:ext cx="2838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4132AAE-F0DD-4A47-9FC7-F6375A01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933950"/>
            <a:ext cx="2628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现行与历史兼容并存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8071E7E-1207-49B2-B1EE-59BD8AC1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530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468F79E-47B8-45C2-95A0-A929583B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2171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数据使用 / 分析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D814E2D-E1A0-4F12-8891-00A6BEC1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353050"/>
            <a:ext cx="581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7B54837-1A16-408C-A743-EE85F93A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48300"/>
            <a:ext cx="5600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24927；25985；29075-1/-2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F882DB3-C547-465D-B374-7AE23AF0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353050"/>
            <a:ext cx="2838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83AD9B1-72B5-43DF-8EF8-16F80159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448300"/>
            <a:ext cx="2628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制定中为主；5207/5212 已发布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508BE40-46C3-46A1-A0FE-DF6F8400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5790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B54747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B54747"/>
                </a:solidFill>
                <a:latin typeface="Arial"/>
                <a:ea typeface="Arial"/>
                <a:cs typeface="Arial"/>
              </a:rPr>
              <a:t>完整目录仍应以 ISO 页面实时查询为准；编号、阶段与撤销状态可能变化。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A087952-E7C4-4069-B013-8FE643EA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B6472"/>
                </a:solidFill>
                <a:latin typeface="Arial"/>
                <a:ea typeface="Arial"/>
                <a:cs typeface="Arial"/>
              </a:rPr>
              <a:t>数据国际标准分析  ·  14</a:t>
            </a:r>
          </a:p>
        </p:txBody>
      </p:sp>
    </p:spTree>
    <p:extLst>
      <p:ext uri="{BB962C8B-B14F-4D97-AF65-F5344CB8AC3E}">
        <p14:creationId xmlns:p14="http://schemas.microsoft.com/office/powerpoint/2010/main" val="95867778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4F7732A-862A-4300-8B95-B9564265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7DFF"/>
                </a:solidFill>
                <a:latin typeface="Arial"/>
                <a:ea typeface="Arial"/>
                <a:cs typeface="Arial"/>
              </a:rPr>
              <a:t>国际标准分析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414A03-41A9-447E-A09A-E7F13BE2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附录：SC38 数据相关标准与主要来源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1E48B6-BCC2-4A73-9FE6-5C04726E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BAD30-7378-4E9F-A995-82D9E4CD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E9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C654E9-7315-4156-B0DF-BC8CAF44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2171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主题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51C058-0A6B-4B23-AF5A-2AF5730D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09550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E9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943200-E4CC-4322-98E9-622AD7B3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90750"/>
            <a:ext cx="4552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代表编号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311BF4-AD6A-415A-962C-2DA85A2E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95500"/>
            <a:ext cx="388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E9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D186A1-4018-4B12-A2C9-E6B52726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90750"/>
            <a:ext cx="3676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状态 / 作用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B3D7B5-CB31-4A6C-949E-9D827F11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479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C334F7-89AE-42B9-91C9-8A0D4F55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43200"/>
            <a:ext cx="2171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基础架构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6F989C-1F1F-4B2A-B3A2-951CECB9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4795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1ADA7E-09FF-4792-AEA7-02FF89EF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43200"/>
            <a:ext cx="4552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22123-1/-2/-3；5928；7339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8E9832-65AD-4342-B2EF-BF16E798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47950"/>
            <a:ext cx="388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0B63B3-C976-4534-94E6-3FC01A71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743200"/>
            <a:ext cx="3676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现行基础词汇、概念、架构与平台分类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B4B3F2-3A5D-4681-8DEE-0D450930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04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DD2B68-038B-47FD-A15C-A6968DA0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95650"/>
            <a:ext cx="2171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数据流与处理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0B3284-BE59-47AC-A5A8-342235AC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0040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DD2F3F-6184-40F1-AA3A-81EFF88A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295650"/>
            <a:ext cx="4552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19944-1/-2；22624；23751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5B45A4-F6B0-4978-9D1B-DF412C3B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00400"/>
            <a:ext cx="388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E05C42-FFE7-4698-ACB1-31556585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95650"/>
            <a:ext cx="3676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现行数据流、分类、处理与共享协议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ACA325-B2F0-47BC-99B3-764C517D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528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E7ADFB-352B-479A-A669-6498EEA1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48100"/>
            <a:ext cx="2171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互操作 / 多云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9B3982-887F-4F49-B1AD-46E20723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75285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266A4B-F71B-431E-8649-0570DC1C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848100"/>
            <a:ext cx="4552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19941；5140；10822 系列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C6C608-8CCB-4A7F-8640-7D099A31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52850"/>
            <a:ext cx="388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7F812F-8658-4F18-927C-0A14432C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848100"/>
            <a:ext cx="3676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现行 + 制定中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17ADEF-FC9D-4D20-B874-582D1CFC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FD7FED-2D39-40C2-A51C-497C33C3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00550"/>
            <a:ext cx="2171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数据空间 / 主权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AEAFB6-A738-48B0-8862-387EBD27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30530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63245C-3541-45DA-80FD-F8CB49B7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400550"/>
            <a:ext cx="4552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20151 系列；10866；19274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63564C-8D9C-4797-A036-04306C4E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05300"/>
            <a:ext cx="388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7BA45D-0786-46AB-8521-CC68FFA3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400550"/>
            <a:ext cx="3676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FDIS / AWI / DIS 等制定中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7C4318-1E29-4223-B031-0474DB1B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969220-2148-47A2-BA85-A930E8D8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0"/>
            <a:ext cx="2171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生态与服务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EE5D6B-3606-451A-B193-8A688A53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85775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A0BDB6-2541-4E9C-ABE1-EDF97E1C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953000"/>
            <a:ext cx="4552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19086；23187；23613；26191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3D6BA6-C44C-4886-A582-F117A081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857750"/>
            <a:ext cx="388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5CCC7F8-C664-4F6A-8053-8D5B89A1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953000"/>
            <a:ext cx="3676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SLA、云服务伙伴、计量与 AI 支持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9090622-3581-494E-B83B-99417B9E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DFF"/>
                </a:solidFill>
                <a:latin typeface="Arial"/>
                <a:ea typeface="Arial"/>
                <a:cs typeface="Arial"/>
              </a:rPr>
              <a:t>主要来源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E2FB02B-71F0-4EC2-95F5-7F473E7C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472"/>
                </a:solidFill>
                <a:latin typeface="Arial"/>
                <a:ea typeface="Arial"/>
                <a:cs typeface="Arial"/>
              </a:rPr>
              <a:t>ISO SC32 委员会范围与目录 · ISO SC38 委员会范围与目录 · ISO/IEC 19944-1 标准页 · ISO/IEC TS 5928 标准页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2394DA7-D3CE-4D0D-8878-7F3C5903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B6472"/>
                </a:solidFill>
                <a:latin typeface="Arial"/>
                <a:ea typeface="Arial"/>
                <a:cs typeface="Arial"/>
              </a:rPr>
              <a:t>数据国际标准分析  ·  15</a:t>
            </a:r>
          </a:p>
        </p:txBody>
      </p:sp>
    </p:spTree>
    <p:extLst>
      <p:ext uri="{BB962C8B-B14F-4D97-AF65-F5344CB8AC3E}">
        <p14:creationId xmlns:p14="http://schemas.microsoft.com/office/powerpoint/2010/main" val="18032731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2026-08-07T02:47:02.4820000Z</dcterms:created>
  <dcterms:modified xsi:type="dcterms:W3CDTF">2026-08-07T02:47:02.4820000Z</dcterms:modified>
</coreProperties>
</file>