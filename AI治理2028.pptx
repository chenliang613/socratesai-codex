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47b3cfbce14df0" /><Relationship Type="http://schemas.openxmlformats.org/officeDocument/2006/relationships/extended-properties" Target="/docProps/app.xml" Id="R76eef4fbf23b4498" /><Relationship Type="http://schemas.openxmlformats.org/officeDocument/2006/relationships/officeDocument" Target="/ppt/presentation.xml" Id="Rbd7ac3802c05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d19e9b1faa4cd8"/>
  </p:sldMasterIdLst>
  <p:notesMasterIdLst>
    <p:notesMasterId xmlns:r="http://schemas.openxmlformats.org/officeDocument/2006/relationships" r:id="Rcb8f8d2cbe764d15"/>
  </p:notesMasterIdLst>
  <p:sldIdLst>
    <p:sldId xmlns:r="http://schemas.openxmlformats.org/officeDocument/2006/relationships" id="256" r:id="R370fb6bdcafd49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5930daccd4bf1" /><Relationship Type="http://schemas.openxmlformats.org/officeDocument/2006/relationships/slideMaster" Target="/ppt/slideMasters/slideMaster1.xml" Id="Rddd19e9b1faa4cd8" /><Relationship Type="http://schemas.openxmlformats.org/officeDocument/2006/relationships/notesMaster" Target="/ppt/notesMasters/notesMaster1.xml" Id="Rcb8f8d2cbe764d15" /><Relationship Type="http://schemas.openxmlformats.org/officeDocument/2006/relationships/presProps" Target="/ppt/presProps.xml" Id="Rb463c3c63b4f4074" /><Relationship Type="http://schemas.openxmlformats.org/officeDocument/2006/relationships/tableStyles" Target="/ppt/tableStyles.xml" Id="Rf3f96037c0264d59" /><Relationship Type="http://schemas.openxmlformats.org/officeDocument/2006/relationships/slide" Target="/ppt/slides/slide1.xml" Id="R370fb6bdcafd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d14a0026c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4c51815c7b4a23" /><Relationship Type="http://schemas.openxmlformats.org/officeDocument/2006/relationships/notesMaster" Target="/ppt/notesMasters/notesMaster1.xml" Id="Rdc7d35bba07143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— AI Act regulatory framework: https://digital-strategy.ec.europa.eu/en/policies/regulatory-framework-ai</a:t>
            </a:r>
          </a:p>
          <a:p xmlns:a="http://schemas.openxmlformats.org/drawingml/2006/main">
            <a:r>
              <a:t>- Microsoft — 2025 Responsible AI Transparency Report: https://www.microsoft.com/en-us/corporate-responsibility/responsible-ai-transparency-report/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024374f7e42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218f474381420f" /><Relationship Type="http://schemas.openxmlformats.org/officeDocument/2006/relationships/slideLayout" Target="/ppt/slideLayouts/slideLayout1.xml" Id="Rcd56b2b69bdf45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56b2b69bdf45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82928ad884e1e" /><Relationship Type="http://schemas.openxmlformats.org/officeDocument/2006/relationships/notesSlide" Target="/ppt/notesSlides/notesSlide1.xml" Id="R0d680789feba4e8c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4"/>
          <p:cNvSpPr/>
          <p:nvPr/>
        </p:nvSpPr>
        <p:spPr>
          <a:xfrm>
            <a:off x="685800" y="533400"/>
            <a:ext cx="114300" cy="5334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5"/>
          <p:cNvSpPr txBox="1"/>
          <p:nvPr/>
        </p:nvSpPr>
        <p:spPr>
          <a:xfrm>
            <a:off x="990600" y="514350"/>
            <a:ext cx="4286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400" b="1" kern="0" spc="120">
                <a:solidFill>
                  <a:srgbClr val="3D8DFF"/>
                </a:solidFill>
                <a:latin typeface="Microsoft YaHei"/>
                <a:ea typeface="Microsoft YaHei"/>
              </a:rPr>
              <a:t>AI GOVERNANCE  /  2028</a:t>
            </a:r>
            <a:endParaRPr lang="zh-CN" sz="1400"/>
          </a:p>
        </p:txBody>
      </p:sp>
      <p:sp>
        <p:nvSpPr>
          <p:cNvPr id="5" name="Text 6"/>
          <p:cNvSpPr txBox="1"/>
          <p:nvPr/>
        </p:nvSpPr>
        <p:spPr>
          <a:xfrm>
            <a:off x="685800" y="885825"/>
            <a:ext cx="108204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30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AI治理2028：从“安全护栏”走向AI规模化的操作系统</a:t>
            </a:r>
            <a:endParaRPr lang="zh-CN" sz="3000"/>
          </a:p>
        </p:txBody>
      </p:sp>
      <p:sp>
        <p:nvSpPr>
          <p:cNvPr id="6" name="Text 7"/>
          <p:cNvSpPr txBox="1"/>
          <p:nvPr/>
        </p:nvSpPr>
        <p:spPr>
          <a:xfrm>
            <a:off x="685800" y="1504950"/>
            <a:ext cx="106203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0" kern="0" spc="0">
                <a:solidFill>
                  <a:srgbClr val="475569"/>
                </a:solidFill>
                <a:latin typeface="Microsoft YaHei"/>
                <a:ea typeface="Microsoft YaHei"/>
              </a:rPr>
              <a:t>未来2–3年，治理将同时成为产品信任的竞争力、产业扩张的基础设施，以及贯穿数据—模型—智能体—应用的运营闭环。</a:t>
            </a:r>
            <a:endParaRPr lang="zh-CN" sz="1500"/>
          </a:p>
        </p:txBody>
      </p:sp>
      <p:sp>
        <p:nvSpPr>
          <p:cNvPr id="7" name="Rule 8"/>
          <p:cNvSpPr/>
          <p:nvPr/>
        </p:nvSpPr>
        <p:spPr>
          <a:xfrm>
            <a:off x="685800" y="1952625"/>
            <a:ext cx="10820400" cy="190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9"/>
          <p:cNvSpPr/>
          <p:nvPr/>
        </p:nvSpPr>
        <p:spPr>
          <a:xfrm>
            <a:off x="685800" y="2247900"/>
            <a:ext cx="3162300" cy="762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10"/>
          <p:cNvSpPr txBox="1"/>
          <p:nvPr/>
        </p:nvSpPr>
        <p:spPr>
          <a:xfrm>
            <a:off x="685800" y="2476500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1" kern="0" spc="0">
                <a:solidFill>
                  <a:srgbClr val="3D8DFF"/>
                </a:solidFill>
                <a:latin typeface="Microsoft YaHei"/>
                <a:ea typeface="Microsoft YaHei"/>
              </a:rPr>
              <a:t>01  竞争力：从“合规项”到“产品能力”</a:t>
            </a:r>
            <a:endParaRPr lang="zh-CN" sz="1500"/>
          </a:p>
        </p:txBody>
      </p:sp>
      <p:sp>
        <p:nvSpPr>
          <p:cNvPr id="10" name="Text 11"/>
          <p:cNvSpPr txBox="1"/>
          <p:nvPr/>
        </p:nvSpPr>
        <p:spPr>
          <a:xfrm>
            <a:off x="685800" y="2990850"/>
            <a:ext cx="316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23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可信能力将成为厂商</a:t>
            </a:r>
            <a:endParaRPr lang="zh-CN" sz="2300"/>
          </a:p>
          <a:p>
            <a:pPr algn="l" marL="0" marR="0" lvl="0"/>
            <a:r>
              <a:rPr lang="zh-CN" sz="23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规模化交付的门槛</a:t>
            </a:r>
            <a:endParaRPr lang="zh-CN" sz="2300"/>
          </a:p>
        </p:txBody>
      </p:sp>
      <p:sp>
        <p:nvSpPr>
          <p:cNvPr id="11" name="Rule 12"/>
          <p:cNvSpPr/>
          <p:nvPr/>
        </p:nvSpPr>
        <p:spPr>
          <a:xfrm>
            <a:off x="685800" y="3790950"/>
            <a:ext cx="3162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3"/>
          <p:cNvSpPr txBox="1"/>
          <p:nvPr/>
        </p:nvSpPr>
        <p:spPr>
          <a:xfrm>
            <a:off x="685800" y="3962400"/>
            <a:ext cx="31623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0" kern="0" spc="0">
                <a:solidFill>
                  <a:srgbClr val="475569"/>
                </a:solidFill>
                <a:latin typeface="Microsoft YaHei"/>
                <a:ea typeface="Microsoft YaHei"/>
              </a:rPr>
              <a:t>安全、评测、红队、内容溯源与权限控制</a:t>
            </a:r>
            <a:endParaRPr lang="zh-CN" sz="1500"/>
          </a:p>
          <a:p>
            <a:pPr algn="l" marL="0" marR="0" lvl="0"/>
            <a:r>
              <a:rPr lang="zh-CN" sz="1500" b="0" kern="0" spc="0">
                <a:solidFill>
                  <a:srgbClr val="475569"/>
                </a:solidFill>
                <a:latin typeface="Microsoft YaHei"/>
                <a:ea typeface="Microsoft YaHei"/>
              </a:rPr>
              <a:t>被打包为可销售、可验证、可运营的能力。</a:t>
            </a:r>
            <a:endParaRPr lang="zh-CN" sz="1500"/>
          </a:p>
        </p:txBody>
      </p:sp>
      <p:sp>
        <p:nvSpPr>
          <p:cNvPr id="13" name="Shape 14"/>
          <p:cNvSpPr/>
          <p:nvPr/>
        </p:nvSpPr>
        <p:spPr>
          <a:xfrm>
            <a:off x="4305300" y="2247900"/>
            <a:ext cx="3162300" cy="762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5"/>
          <p:cNvSpPr txBox="1"/>
          <p:nvPr/>
        </p:nvSpPr>
        <p:spPr>
          <a:xfrm>
            <a:off x="4305300" y="2476500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1" kern="0" spc="0">
                <a:solidFill>
                  <a:srgbClr val="3D8DFF"/>
                </a:solidFill>
                <a:latin typeface="Microsoft YaHei"/>
                <a:ea typeface="Microsoft YaHei"/>
              </a:rPr>
              <a:t>02  发展力：从“约束”到“产业基础设施”</a:t>
            </a:r>
            <a:endParaRPr lang="zh-CN" sz="1500"/>
          </a:p>
        </p:txBody>
      </p:sp>
      <p:sp>
        <p:nvSpPr>
          <p:cNvPr id="15" name="Text 16"/>
          <p:cNvSpPr txBox="1"/>
          <p:nvPr/>
        </p:nvSpPr>
        <p:spPr>
          <a:xfrm>
            <a:off x="4305300" y="2990850"/>
            <a:ext cx="316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23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治理机制将释放</a:t>
            </a:r>
            <a:endParaRPr lang="zh-CN" sz="2300"/>
          </a:p>
          <a:p>
            <a:pPr algn="l" marL="0" marR="0" lvl="0"/>
            <a:r>
              <a:rPr lang="zh-CN" sz="23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可复制、可推广的应用</a:t>
            </a:r>
            <a:endParaRPr lang="zh-CN" sz="2300"/>
          </a:p>
        </p:txBody>
      </p:sp>
      <p:sp>
        <p:nvSpPr>
          <p:cNvPr id="16" name="Rule 17"/>
          <p:cNvSpPr/>
          <p:nvPr/>
        </p:nvSpPr>
        <p:spPr>
          <a:xfrm>
            <a:off x="4305300" y="3790950"/>
            <a:ext cx="3162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8"/>
          <p:cNvSpPr txBox="1"/>
          <p:nvPr/>
        </p:nvSpPr>
        <p:spPr>
          <a:xfrm>
            <a:off x="4305300" y="3962400"/>
            <a:ext cx="31623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0" kern="0" spc="0">
                <a:solidFill>
                  <a:srgbClr val="475569"/>
                </a:solidFill>
                <a:latin typeface="Microsoft YaHei"/>
                <a:ea typeface="Microsoft YaHei"/>
              </a:rPr>
              <a:t>标准、工具链、行业规则与监管沙盒协同演进；</a:t>
            </a:r>
            <a:endParaRPr lang="zh-CN" sz="1500"/>
          </a:p>
          <a:p>
            <a:pPr algn="l" marL="0" marR="0" lvl="0"/>
            <a:r>
              <a:rPr lang="zh-CN" sz="1500" b="0" kern="0" spc="0">
                <a:solidFill>
                  <a:srgbClr val="475569"/>
                </a:solidFill>
                <a:latin typeface="Microsoft YaHei"/>
                <a:ea typeface="Microsoft YaHei"/>
              </a:rPr>
              <a:t>在发展中治理，在治理中发展。</a:t>
            </a:r>
            <a:endParaRPr lang="zh-CN" sz="1500"/>
          </a:p>
        </p:txBody>
      </p:sp>
      <p:sp>
        <p:nvSpPr>
          <p:cNvPr id="18" name="Shape 19"/>
          <p:cNvSpPr/>
          <p:nvPr/>
        </p:nvSpPr>
        <p:spPr>
          <a:xfrm>
            <a:off x="7924800" y="2247900"/>
            <a:ext cx="3162300" cy="762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20"/>
          <p:cNvSpPr txBox="1"/>
          <p:nvPr/>
        </p:nvSpPr>
        <p:spPr>
          <a:xfrm>
            <a:off x="7924800" y="2476500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1" kern="0" spc="0">
                <a:solidFill>
                  <a:srgbClr val="3D8DFF"/>
                </a:solidFill>
                <a:latin typeface="Microsoft YaHei"/>
                <a:ea typeface="Microsoft YaHei"/>
              </a:rPr>
              <a:t>03  生命力：从“单点审查”到“全生命周期”</a:t>
            </a:r>
            <a:endParaRPr lang="zh-CN" sz="1500"/>
          </a:p>
        </p:txBody>
      </p:sp>
      <p:sp>
        <p:nvSpPr>
          <p:cNvPr id="20" name="Text 21"/>
          <p:cNvSpPr txBox="1"/>
          <p:nvPr/>
        </p:nvSpPr>
        <p:spPr>
          <a:xfrm>
            <a:off x="7924800" y="2990850"/>
            <a:ext cx="316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23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风险控制将嵌入</a:t>
            </a:r>
            <a:endParaRPr lang="zh-CN" sz="2300"/>
          </a:p>
          <a:p>
            <a:pPr algn="l" marL="0" marR="0" lvl="0"/>
            <a:r>
              <a:rPr lang="zh-CN" sz="23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每一次训练、调用与迭代</a:t>
            </a:r>
            <a:endParaRPr lang="zh-CN" sz="2300"/>
          </a:p>
        </p:txBody>
      </p:sp>
      <p:sp>
        <p:nvSpPr>
          <p:cNvPr id="21" name="Rule 22"/>
          <p:cNvSpPr/>
          <p:nvPr/>
        </p:nvSpPr>
        <p:spPr>
          <a:xfrm>
            <a:off x="7924800" y="3790950"/>
            <a:ext cx="3162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3"/>
          <p:cNvSpPr txBox="1"/>
          <p:nvPr/>
        </p:nvSpPr>
        <p:spPr>
          <a:xfrm>
            <a:off x="7924800" y="3962400"/>
            <a:ext cx="31623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0" kern="0" spc="0">
                <a:solidFill>
                  <a:srgbClr val="475569"/>
                </a:solidFill>
                <a:latin typeface="Microsoft YaHei"/>
                <a:ea typeface="Microsoft YaHei"/>
              </a:rPr>
              <a:t>覆盖数据、模型、智能体、应用、运行监测与</a:t>
            </a:r>
            <a:endParaRPr lang="zh-CN" sz="1500"/>
          </a:p>
          <a:p>
            <a:pPr algn="l" marL="0" marR="0" lvl="0"/>
            <a:r>
              <a:rPr lang="zh-CN" sz="1500" b="0" kern="0" spc="0">
                <a:solidFill>
                  <a:srgbClr val="475569"/>
                </a:solidFill>
                <a:latin typeface="Microsoft YaHei"/>
                <a:ea typeface="Microsoft YaHei"/>
              </a:rPr>
              <a:t>责任追溯；由“上线前”延伸至“运行中”。</a:t>
            </a:r>
            <a:endParaRPr lang="zh-CN" sz="1500"/>
          </a:p>
        </p:txBody>
      </p:sp>
      <p:sp>
        <p:nvSpPr>
          <p:cNvPr id="23" name="Shape 24"/>
          <p:cNvSpPr/>
          <p:nvPr/>
        </p:nvSpPr>
        <p:spPr>
          <a:xfrm>
            <a:off x="685800" y="4905375"/>
            <a:ext cx="10820400" cy="990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5"/>
          <p:cNvSpPr txBox="1"/>
          <p:nvPr/>
        </p:nvSpPr>
        <p:spPr>
          <a:xfrm>
            <a:off x="895350" y="50863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400" b="1" kern="0" spc="0">
                <a:solidFill>
                  <a:srgbClr val="475569"/>
                </a:solidFill>
                <a:latin typeface="Microsoft YaHei"/>
                <a:ea typeface="Microsoft YaHei"/>
              </a:rPr>
              <a:t>治理能力的演进路径</a:t>
            </a:r>
            <a:endParaRPr lang="zh-CN" sz="1400"/>
          </a:p>
        </p:txBody>
      </p:sp>
      <p:sp>
        <p:nvSpPr>
          <p:cNvPr id="25" name="Rule 26"/>
          <p:cNvSpPr/>
          <p:nvPr/>
        </p:nvSpPr>
        <p:spPr>
          <a:xfrm>
            <a:off x="2990850" y="5381625"/>
            <a:ext cx="756285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Circle 27"/>
          <p:cNvSpPr/>
          <p:nvPr/>
        </p:nvSpPr>
        <p:spPr>
          <a:xfrm>
            <a:off x="3143250" y="5238750"/>
            <a:ext cx="285750" cy="28575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8"/>
          <p:cNvSpPr txBox="1"/>
          <p:nvPr/>
        </p:nvSpPr>
        <p:spPr>
          <a:xfrm>
            <a:off x="3086100" y="527685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" marL="0" marR="0" lvl="0"/>
            <a:r>
              <a:rPr lang="zh-CN" sz="1100" b="1" kern="0" spc="0">
                <a:solidFill>
                  <a:srgbClr val="FFFFFF"/>
                </a:solidFill>
                <a:latin typeface="Microsoft YaHei"/>
                <a:ea typeface="Microsoft YaHei"/>
              </a:rPr>
              <a:t>2026</a:t>
            </a:r>
            <a:endParaRPr lang="zh-CN" sz="1100"/>
          </a:p>
        </p:txBody>
      </p:sp>
      <p:sp>
        <p:nvSpPr>
          <p:cNvPr id="28" name="Text 29"/>
          <p:cNvSpPr txBox="1"/>
          <p:nvPr/>
        </p:nvSpPr>
        <p:spPr>
          <a:xfrm>
            <a:off x="3048000" y="55911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建立治理基线</a:t>
            </a:r>
            <a:endParaRPr lang="zh-CN" sz="1500"/>
          </a:p>
        </p:txBody>
      </p:sp>
      <p:sp>
        <p:nvSpPr>
          <p:cNvPr id="29" name="Text 30"/>
          <p:cNvSpPr txBox="1"/>
          <p:nvPr/>
        </p:nvSpPr>
        <p:spPr>
          <a:xfrm>
            <a:off x="3048000" y="5800725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200" b="0" kern="0" spc="0">
                <a:solidFill>
                  <a:srgbClr val="64748B"/>
                </a:solidFill>
                <a:latin typeface="Microsoft YaHei"/>
                <a:ea typeface="Microsoft YaHei"/>
              </a:rPr>
              <a:t>规则、评测、责任可审计</a:t>
            </a:r>
            <a:endParaRPr lang="zh-CN" sz="1200"/>
          </a:p>
        </p:txBody>
      </p:sp>
      <p:sp>
        <p:nvSpPr>
          <p:cNvPr id="30" name="Circle 31"/>
          <p:cNvSpPr/>
          <p:nvPr/>
        </p:nvSpPr>
        <p:spPr>
          <a:xfrm>
            <a:off x="5753100" y="5238750"/>
            <a:ext cx="285750" cy="28575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2"/>
          <p:cNvSpPr txBox="1"/>
          <p:nvPr/>
        </p:nvSpPr>
        <p:spPr>
          <a:xfrm>
            <a:off x="5695950" y="527685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" marL="0" marR="0" lvl="0"/>
            <a:r>
              <a:rPr lang="zh-CN" sz="1100" b="1" kern="0" spc="0">
                <a:solidFill>
                  <a:srgbClr val="FFFFFF"/>
                </a:solidFill>
                <a:latin typeface="Microsoft YaHei"/>
                <a:ea typeface="Microsoft YaHei"/>
              </a:rPr>
              <a:t>2027</a:t>
            </a:r>
            <a:endParaRPr lang="zh-CN" sz="1100"/>
          </a:p>
        </p:txBody>
      </p:sp>
      <p:sp>
        <p:nvSpPr>
          <p:cNvPr id="32" name="Text 33"/>
          <p:cNvSpPr txBox="1"/>
          <p:nvPr/>
        </p:nvSpPr>
        <p:spPr>
          <a:xfrm>
            <a:off x="5657850" y="55911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嵌入生产体系</a:t>
            </a:r>
            <a:endParaRPr lang="zh-CN" sz="1500"/>
          </a:p>
        </p:txBody>
      </p:sp>
      <p:sp>
        <p:nvSpPr>
          <p:cNvPr id="33" name="Text 34"/>
          <p:cNvSpPr txBox="1"/>
          <p:nvPr/>
        </p:nvSpPr>
        <p:spPr>
          <a:xfrm>
            <a:off x="5657850" y="5800725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200" b="0" kern="0" spc="0">
                <a:solidFill>
                  <a:srgbClr val="64748B"/>
                </a:solidFill>
                <a:latin typeface="Microsoft YaHei"/>
                <a:ea typeface="Microsoft YaHei"/>
              </a:rPr>
              <a:t>治理进入开发、交付与运行</a:t>
            </a:r>
            <a:endParaRPr lang="zh-CN" sz="1200"/>
          </a:p>
        </p:txBody>
      </p:sp>
      <p:sp>
        <p:nvSpPr>
          <p:cNvPr id="34" name="Circle 35"/>
          <p:cNvSpPr/>
          <p:nvPr/>
        </p:nvSpPr>
        <p:spPr>
          <a:xfrm>
            <a:off x="8362950" y="5238750"/>
            <a:ext cx="285750" cy="28575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 36"/>
          <p:cNvSpPr txBox="1"/>
          <p:nvPr/>
        </p:nvSpPr>
        <p:spPr>
          <a:xfrm>
            <a:off x="8305800" y="5276850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" marL="0" marR="0" lvl="0"/>
            <a:r>
              <a:rPr lang="zh-CN" sz="1100" b="1" kern="0" spc="0">
                <a:solidFill>
                  <a:srgbClr val="FFFFFF"/>
                </a:solidFill>
                <a:latin typeface="Microsoft YaHei"/>
                <a:ea typeface="Microsoft YaHei"/>
              </a:rPr>
              <a:t>2028</a:t>
            </a:r>
            <a:endParaRPr lang="zh-CN" sz="1100"/>
          </a:p>
        </p:txBody>
      </p:sp>
      <p:sp>
        <p:nvSpPr>
          <p:cNvPr id="36" name="Text 37"/>
          <p:cNvSpPr txBox="1"/>
          <p:nvPr/>
        </p:nvSpPr>
        <p:spPr>
          <a:xfrm>
            <a:off x="8267700" y="55911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5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形成价值闭环</a:t>
            </a:r>
            <a:endParaRPr lang="zh-CN" sz="1500"/>
          </a:p>
        </p:txBody>
      </p:sp>
      <p:sp>
        <p:nvSpPr>
          <p:cNvPr id="37" name="Text 38"/>
          <p:cNvSpPr txBox="1"/>
          <p:nvPr/>
        </p:nvSpPr>
        <p:spPr>
          <a:xfrm>
            <a:off x="8267700" y="5800725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200" b="0" kern="0" spc="0">
                <a:solidFill>
                  <a:srgbClr val="64748B"/>
                </a:solidFill>
                <a:latin typeface="Microsoft YaHei"/>
                <a:ea typeface="Microsoft YaHei"/>
              </a:rPr>
              <a:t>以可信驱动规模化与生态协同</a:t>
            </a:r>
            <a:endParaRPr lang="zh-CN" sz="1200"/>
          </a:p>
        </p:txBody>
      </p:sp>
      <p:sp>
        <p:nvSpPr>
          <p:cNvPr id="38" name="Text 39"/>
          <p:cNvSpPr txBox="1"/>
          <p:nvPr/>
        </p:nvSpPr>
        <p:spPr>
          <a:xfrm>
            <a:off x="685800" y="6172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700" b="1" kern="0" spc="0">
                <a:solidFill>
                  <a:srgbClr val="111827"/>
                </a:solidFill>
                <a:latin typeface="Microsoft YaHei"/>
                <a:ea typeface="Microsoft YaHei"/>
              </a:rPr>
              <a:t>企业行动：将治理能力产品化、工程化、运营化，并以业务价值和可信指标共同衡量。</a:t>
            </a:r>
            <a:endParaRPr lang="zh-CN" sz="1700"/>
          </a:p>
        </p:txBody>
      </p:sp>
      <p:sp>
        <p:nvSpPr>
          <p:cNvPr id="39" name="Text 40"/>
          <p:cNvSpPr txBox="1"/>
          <p:nvPr/>
        </p:nvSpPr>
        <p:spPr>
          <a:xfrm>
            <a:off x="685800" y="6553200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marR="0" lvl="0"/>
            <a:r>
              <a:rPr lang="zh-CN" sz="1000" b="0" kern="0" spc="0">
                <a:solidFill>
                  <a:srgbClr val="94A3B8"/>
                </a:solidFill>
                <a:latin typeface="Microsoft YaHei"/>
                <a:ea typeface="Microsoft YaHei"/>
              </a:rPr>
              <a:t>资料依据：用户提供的AI治理三项定义；本页为2026–2028前瞻性判断。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AI治理2028</dc:title>
  <dcterms:created xsi:type="dcterms:W3CDTF">2026-08-04T01:49:34.4340000Z</dcterms:created>
  <dcterms:modified xsi:type="dcterms:W3CDTF">2026-08-04T01:49:34.4350000Z</dcterms:modified>
</coreProperties>
</file>